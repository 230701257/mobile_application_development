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2"/>
  </p:notesMasterIdLst>
  <p:sldIdLst>
    <p:sldId id="256" r:id="rId2"/>
    <p:sldId id="257" r:id="rId3"/>
    <p:sldId id="259" r:id="rId4"/>
    <p:sldId id="258" r:id="rId5"/>
    <p:sldId id="294" r:id="rId6"/>
    <p:sldId id="264" r:id="rId7"/>
    <p:sldId id="260" r:id="rId8"/>
    <p:sldId id="261" r:id="rId9"/>
    <p:sldId id="262" r:id="rId10"/>
    <p:sldId id="263" r:id="rId11"/>
    <p:sldId id="276" r:id="rId12"/>
    <p:sldId id="277" r:id="rId13"/>
    <p:sldId id="278" r:id="rId14"/>
    <p:sldId id="279" r:id="rId15"/>
    <p:sldId id="265" r:id="rId16"/>
    <p:sldId id="280" r:id="rId17"/>
    <p:sldId id="281" r:id="rId18"/>
    <p:sldId id="283" r:id="rId19"/>
    <p:sldId id="291" r:id="rId20"/>
    <p:sldId id="293" r:id="rId21"/>
  </p:sldIdLst>
  <p:sldSz cx="9144000" cy="5143500" type="screen16x9"/>
  <p:notesSz cx="5143500" cy="9144000"/>
  <p:embeddedFontLst>
    <p:embeddedFont>
      <p:font typeface="Consolas" panose="020B0609020204030204" pitchFamily="49" charset="0"/>
      <p:regular r:id="rId23"/>
      <p:bold r:id="rId24"/>
      <p:italic r:id="rId25"/>
      <p:boldItalic r:id="rId26"/>
    </p:embeddedFont>
    <p:embeddedFont>
      <p:font typeface="Calibri" panose="020F0502020204030204" pitchFamily="34" charset="0"/>
      <p:regular r:id="rId27"/>
      <p:bold r:id="rId28"/>
      <p:italic r:id="rId29"/>
      <p:boldItalic r:id="rId30"/>
    </p:embeddedFont>
    <p:embeddedFont>
      <p:font typeface="Inter" panose="020B0604020202020204" charset="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00" d="100"/>
          <a:sy n="100" d="100"/>
        </p:scale>
        <p:origin x="94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7776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2311963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2304517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2425034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269832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6389516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2877089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7961238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2301136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005000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C0C0C"/>
          </a:solidFill>
          <a:ln/>
        </p:spPr>
      </p:sp>
      <p:sp>
        <p:nvSpPr>
          <p:cNvPr id="3" name="Shape 1"/>
          <p:cNvSpPr/>
          <p:nvPr/>
        </p:nvSpPr>
        <p:spPr>
          <a:xfrm>
            <a:off x="0" y="0"/>
            <a:ext cx="9144000" cy="5143500"/>
          </a:xfrm>
          <a:prstGeom prst="rect">
            <a:avLst/>
          </a:prstGeom>
          <a:solidFill>
            <a:srgbClr val="272525"/>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2.svg"/></Relationships>
</file>

<file path=ppt/slides/_rels/slide3.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4-2.svg"/></Relationships>
</file>

<file path=ppt/slides/_rels/slide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image" Target="../media/image4.png"/><Relationship Id="rId12" Type="http://schemas.openxmlformats.org/officeDocument/2006/relationships/image" Target="../media/image-3-12.sv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3-6.svg"/><Relationship Id="rId5" Type="http://schemas.openxmlformats.org/officeDocument/2006/relationships/image" Target="../media/image-3-4.svg"/><Relationship Id="rId15" Type="http://schemas.openxmlformats.org/officeDocument/2006/relationships/image" Target="../media/image3.png"/><Relationship Id="rId10" Type="http://schemas.openxmlformats.org/officeDocument/2006/relationships/image" Target="../media/image-3-10.svg"/><Relationship Id="rId4" Type="http://schemas.openxmlformats.org/officeDocument/2006/relationships/image" Target="../media/image-3-2.svg"/><Relationship Id="rId14" Type="http://schemas.openxmlformats.org/officeDocument/2006/relationships/image" Target="../media/image-3-14.sv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12.png"/><Relationship Id="rId4" Type="http://schemas.openxmlformats.org/officeDocument/2006/relationships/image" Target="../media/image-9-2.sv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5-2.sv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6-2.sv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7-2.svg"/></Relationships>
</file>

<file path=ppt/slides/_rels/slide10.xml.rels><?xml version="1.0" encoding="UTF-8" standalone="yes"?>
<Relationships xmlns="http://schemas.openxmlformats.org/package/2006/relationships"><Relationship Id="rId8" Type="http://schemas.openxmlformats.org/officeDocument/2006/relationships/image" Target="../media/image-8-8.svg"/><Relationship Id="rId3" Type="http://schemas.openxmlformats.org/officeDocument/2006/relationships/image" Target="../media/image4.png"/><Relationship Id="rId12" Type="http://schemas.openxmlformats.org/officeDocument/2006/relationships/image" Target="../media/image-8-12.sv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8-6.svg"/><Relationship Id="rId5" Type="http://schemas.openxmlformats.org/officeDocument/2006/relationships/image" Target="../media/image-8-4.svg"/><Relationship Id="rId15" Type="http://schemas.openxmlformats.org/officeDocument/2006/relationships/image" Target="../media/image3.png"/><Relationship Id="rId10" Type="http://schemas.openxmlformats.org/officeDocument/2006/relationships/image" Target="../media/image-8-10.svg"/><Relationship Id="rId4" Type="http://schemas.openxmlformats.org/officeDocument/2006/relationships/image" Target="../media/image-8-2.svg"/><Relationship Id="rId14" Type="http://schemas.openxmlformats.org/officeDocument/2006/relationships/image" Target="../media/image-8-14.sv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3" Type="http://schemas.openxmlformats.org/officeDocument/2006/relationships/image" Target="../media/image-4-13.svg"/><Relationship Id="rId3" Type="http://schemas.openxmlformats.org/officeDocument/2006/relationships/image" Target="../media/image21.png"/><Relationship Id="rId7" Type="http://schemas.openxmlformats.org/officeDocument/2006/relationships/image" Target="../media/image-4-7.svg"/><Relationship Id="rId17" Type="http://schemas.openxmlformats.org/officeDocument/2006/relationships/image" Target="../media/image-4-17.svg"/><Relationship Id="rId2" Type="http://schemas.openxmlformats.org/officeDocument/2006/relationships/notesSlide" Target="../notesSlides/notesSlide12.xml"/><Relationship Id="rId20" Type="http://schemas.openxmlformats.org/officeDocument/2006/relationships/image" Target="../media/image3.png"/><Relationship Id="rId1" Type="http://schemas.openxmlformats.org/officeDocument/2006/relationships/slideLayout" Target="../slideLayouts/slideLayout5.xml"/><Relationship Id="rId11" Type="http://schemas.openxmlformats.org/officeDocument/2006/relationships/image" Target="../media/image-4-11.svg"/><Relationship Id="rId5" Type="http://schemas.openxmlformats.org/officeDocument/2006/relationships/image" Target="../media/image-4-5.svg"/><Relationship Id="rId15" Type="http://schemas.openxmlformats.org/officeDocument/2006/relationships/image" Target="../media/image-4-15.svg"/><Relationship Id="rId19" Type="http://schemas.openxmlformats.org/officeDocument/2006/relationships/image" Target="../media/image-4-19.svg"/><Relationship Id="rId4" Type="http://schemas.openxmlformats.org/officeDocument/2006/relationships/image" Target="../media/image4.png"/><Relationship Id="rId9" Type="http://schemas.openxmlformats.org/officeDocument/2006/relationships/image" Target="../media/image-4-9.sv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3.png"/><Relationship Id="rId5" Type="http://schemas.openxmlformats.org/officeDocument/2006/relationships/image" Target="../media/image23.png"/><Relationship Id="rId4" Type="http://schemas.openxmlformats.org/officeDocument/2006/relationships/image" Target="../media/image-10-2.sv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13" Type="http://schemas.openxmlformats.org/officeDocument/2006/relationships/image" Target="../media/image-8-13.svg"/><Relationship Id="rId3" Type="http://schemas.openxmlformats.org/officeDocument/2006/relationships/image" Target="../media/image25.png"/><Relationship Id="rId7" Type="http://schemas.openxmlformats.org/officeDocument/2006/relationships/image" Target="../media/image-8-7.svg"/><Relationship Id="rId17" Type="http://schemas.openxmlformats.org/officeDocument/2006/relationships/image" Target="../media/image-8-17.svg"/><Relationship Id="rId2" Type="http://schemas.openxmlformats.org/officeDocument/2006/relationships/notesSlide" Target="../notesSlides/notesSlide16.xml"/><Relationship Id="rId20" Type="http://schemas.openxmlformats.org/officeDocument/2006/relationships/image" Target="../media/image3.png"/><Relationship Id="rId1" Type="http://schemas.openxmlformats.org/officeDocument/2006/relationships/slideLayout" Target="../slideLayouts/slideLayout9.xml"/><Relationship Id="rId11" Type="http://schemas.openxmlformats.org/officeDocument/2006/relationships/image" Target="../media/image-8-11.svg"/><Relationship Id="rId5" Type="http://schemas.openxmlformats.org/officeDocument/2006/relationships/image" Target="../media/image-8-5.svg"/><Relationship Id="rId15" Type="http://schemas.openxmlformats.org/officeDocument/2006/relationships/image" Target="../media/image-8-15.svg"/><Relationship Id="rId19" Type="http://schemas.openxmlformats.org/officeDocument/2006/relationships/image" Target="../media/image-8-19.svg"/><Relationship Id="rId4" Type="http://schemas.openxmlformats.org/officeDocument/2006/relationships/image" Target="../media/image4.png"/><Relationship Id="rId9" Type="http://schemas.openxmlformats.org/officeDocument/2006/relationships/image" Target="../media/image-8-9.sv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8" Type="http://schemas.openxmlformats.org/officeDocument/2006/relationships/image" Target="../media/image-8-80.svg"/><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8-60.svg"/><Relationship Id="rId11" Type="http://schemas.openxmlformats.org/officeDocument/2006/relationships/image" Target="../media/image3.png"/><Relationship Id="rId5" Type="http://schemas.openxmlformats.org/officeDocument/2006/relationships/image" Target="../media/image-8-40.svg"/><Relationship Id="rId10" Type="http://schemas.openxmlformats.org/officeDocument/2006/relationships/image" Target="../media/image-8-100.svg"/><Relationship Id="rId4" Type="http://schemas.openxmlformats.org/officeDocument/2006/relationships/image" Target="../media/image-8-20.sv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27.png"/><Relationship Id="rId5" Type="http://schemas.openxmlformats.org/officeDocument/2006/relationships/image" Target="../media/image-10-4.svg"/><Relationship Id="rId4" Type="http://schemas.openxmlformats.org/officeDocument/2006/relationships/image" Target="../media/image-10-20.sv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666299" y="927105"/>
            <a:ext cx="4142705" cy="442987"/>
          </a:xfrm>
          <a:prstGeom prst="rect">
            <a:avLst/>
          </a:prstGeom>
          <a:noFill/>
          <a:ln/>
        </p:spPr>
        <p:txBody>
          <a:bodyPr wrap="none" lIns="0" tIns="0" rIns="0" bIns="0" rtlCol="0" anchor="t"/>
          <a:lstStyle/>
          <a:p>
            <a:pPr algn="ctr">
              <a:lnSpc>
                <a:spcPct val="104000"/>
              </a:lnSpc>
            </a:pPr>
            <a:r>
              <a:rPr lang="en-IN" sz="2800" dirty="0" smtClean="0">
                <a:solidFill>
                  <a:srgbClr val="92D050"/>
                </a:solidFill>
              </a:rPr>
              <a:t>LEARN</a:t>
            </a:r>
            <a:r>
              <a:rPr lang="en-IN" sz="2800" dirty="0" smtClean="0">
                <a:solidFill>
                  <a:schemeClr val="bg1"/>
                </a:solidFill>
              </a:rPr>
              <a:t> </a:t>
            </a:r>
            <a:r>
              <a:rPr lang="en-IN" sz="2800" dirty="0" smtClean="0">
                <a:solidFill>
                  <a:srgbClr val="FFC000"/>
                </a:solidFill>
              </a:rPr>
              <a:t>DEEP</a:t>
            </a:r>
            <a:r>
              <a:rPr lang="en-IN" sz="2800" dirty="0" smtClean="0">
                <a:solidFill>
                  <a:schemeClr val="bg1"/>
                </a:solidFill>
              </a:rPr>
              <a:t>: </a:t>
            </a:r>
            <a:r>
              <a:rPr lang="en-IN" sz="2800" dirty="0" smtClean="0">
                <a:solidFill>
                  <a:schemeClr val="accent5">
                    <a:lumMod val="60000"/>
                    <a:lumOff val="40000"/>
                  </a:schemeClr>
                </a:solidFill>
              </a:rPr>
              <a:t>PLACEMENT PREPARATION </a:t>
            </a:r>
            <a:endParaRPr lang="en-US" sz="2750" dirty="0">
              <a:solidFill>
                <a:schemeClr val="accent5">
                  <a:lumMod val="60000"/>
                  <a:lumOff val="40000"/>
                </a:schemeClr>
              </a:solidFill>
            </a:endParaRPr>
          </a:p>
        </p:txBody>
      </p:sp>
      <p:sp>
        <p:nvSpPr>
          <p:cNvPr id="3" name="Text 1"/>
          <p:cNvSpPr/>
          <p:nvPr/>
        </p:nvSpPr>
        <p:spPr>
          <a:xfrm>
            <a:off x="345168" y="1445284"/>
            <a:ext cx="8380363" cy="226814"/>
          </a:xfrm>
          <a:prstGeom prst="rect">
            <a:avLst/>
          </a:prstGeom>
          <a:noFill/>
          <a:ln/>
        </p:spPr>
        <p:txBody>
          <a:bodyPr wrap="none" lIns="0" tIns="0" rIns="0" bIns="0" rtlCol="0" anchor="t"/>
          <a:lstStyle/>
          <a:p>
            <a:pPr marL="0" indent="0" algn="ctr">
              <a:lnSpc>
                <a:spcPct val="133000"/>
              </a:lnSpc>
              <a:buNone/>
            </a:pPr>
            <a:r>
              <a:rPr lang="en-US" sz="1100" b="1" dirty="0">
                <a:solidFill>
                  <a:schemeClr val="accent6">
                    <a:lumMod val="60000"/>
                    <a:lumOff val="40000"/>
                  </a:schemeClr>
                </a:solidFill>
                <a:latin typeface="Inter" pitchFamily="34" charset="0"/>
                <a:ea typeface="Inter" pitchFamily="34" charset="-122"/>
                <a:cs typeface="Inter" pitchFamily="34" charset="-120"/>
              </a:rPr>
              <a:t>AI-Inspired Android Application for Structured Interview Mastery</a:t>
            </a:r>
            <a:endParaRPr lang="en-US" sz="1100" dirty="0">
              <a:solidFill>
                <a:schemeClr val="accent6">
                  <a:lumMod val="60000"/>
                  <a:lumOff val="40000"/>
                </a:schemeClr>
              </a:solidFill>
            </a:endParaRPr>
          </a:p>
        </p:txBody>
      </p:sp>
      <p:sp>
        <p:nvSpPr>
          <p:cNvPr id="4" name="Text 2"/>
          <p:cNvSpPr/>
          <p:nvPr/>
        </p:nvSpPr>
        <p:spPr>
          <a:xfrm>
            <a:off x="161502" y="1811139"/>
            <a:ext cx="8380363" cy="226814"/>
          </a:xfrm>
          <a:prstGeom prst="rect">
            <a:avLst/>
          </a:prstGeom>
          <a:noFill/>
          <a:ln/>
        </p:spPr>
        <p:txBody>
          <a:bodyPr wrap="none" lIns="0" tIns="0" rIns="0" bIns="0" rtlCol="0" anchor="t"/>
          <a:lstStyle/>
          <a:p>
            <a:pPr marL="0" indent="0" algn="ctr">
              <a:lnSpc>
                <a:spcPct val="133000"/>
              </a:lnSpc>
              <a:buNone/>
            </a:pPr>
            <a:r>
              <a:rPr lang="en-US" sz="1100" dirty="0" smtClean="0">
                <a:solidFill>
                  <a:srgbClr val="E5E0DF"/>
                </a:solidFill>
                <a:latin typeface="Inter" pitchFamily="34" charset="0"/>
                <a:ea typeface="Inter" pitchFamily="34" charset="-122"/>
                <a:cs typeface="Inter" pitchFamily="34" charset="-120"/>
              </a:rPr>
              <a:t>· </a:t>
            </a:r>
            <a:r>
              <a:rPr lang="en-US" sz="1100" dirty="0">
                <a:solidFill>
                  <a:srgbClr val="E5E0DF"/>
                </a:solidFill>
                <a:latin typeface="Inter" pitchFamily="34" charset="0"/>
                <a:ea typeface="Inter" pitchFamily="34" charset="-122"/>
                <a:cs typeface="Inter" pitchFamily="34" charset="-120"/>
              </a:rPr>
              <a:t>Android · Firebase · </a:t>
            </a:r>
            <a:r>
              <a:rPr lang="en-US" sz="1100" dirty="0" err="1" smtClean="0">
                <a:solidFill>
                  <a:srgbClr val="E5E0DF"/>
                </a:solidFill>
                <a:latin typeface="Inter" pitchFamily="34" charset="0"/>
                <a:ea typeface="Inter" pitchFamily="34" charset="-122"/>
                <a:cs typeface="Inter" pitchFamily="34" charset="-120"/>
              </a:rPr>
              <a:t>Kotlin</a:t>
            </a:r>
            <a:endParaRPr lang="en-US" sz="1100" dirty="0"/>
          </a:p>
        </p:txBody>
      </p:sp>
      <p:sp>
        <p:nvSpPr>
          <p:cNvPr id="5" name="Shape 3"/>
          <p:cNvSpPr/>
          <p:nvPr/>
        </p:nvSpPr>
        <p:spPr>
          <a:xfrm>
            <a:off x="496119" y="2466380"/>
            <a:ext cx="8151763" cy="10567"/>
          </a:xfrm>
          <a:prstGeom prst="rect">
            <a:avLst/>
          </a:prstGeom>
          <a:solidFill>
            <a:srgbClr val="E5E0DF">
              <a:alpha val="50000"/>
            </a:srgbClr>
          </a:solidFill>
          <a:ln/>
        </p:spPr>
      </p:sp>
      <p:sp>
        <p:nvSpPr>
          <p:cNvPr id="7" name="Text 5"/>
          <p:cNvSpPr/>
          <p:nvPr/>
        </p:nvSpPr>
        <p:spPr>
          <a:xfrm>
            <a:off x="853833" y="2808614"/>
            <a:ext cx="2229222" cy="221456"/>
          </a:xfrm>
          <a:prstGeom prst="rect">
            <a:avLst/>
          </a:prstGeom>
          <a:noFill/>
          <a:ln/>
        </p:spPr>
        <p:txBody>
          <a:bodyPr wrap="none" lIns="0" tIns="0" rIns="0" bIns="0" rtlCol="0" anchor="t"/>
          <a:lstStyle/>
          <a:p>
            <a:pPr>
              <a:lnSpc>
                <a:spcPct val="104000"/>
              </a:lnSpc>
            </a:pPr>
            <a:r>
              <a:rPr lang="en-IN" sz="1400" dirty="0" smtClean="0">
                <a:solidFill>
                  <a:schemeClr val="bg1"/>
                </a:solidFill>
              </a:rPr>
              <a:t>Presented By</a:t>
            </a:r>
            <a:endParaRPr lang="en-US" sz="1350" dirty="0">
              <a:solidFill>
                <a:schemeClr val="bg1"/>
              </a:solidFill>
            </a:endParaRPr>
          </a:p>
        </p:txBody>
      </p:sp>
      <p:sp>
        <p:nvSpPr>
          <p:cNvPr id="8" name="Text 6"/>
          <p:cNvSpPr/>
          <p:nvPr/>
        </p:nvSpPr>
        <p:spPr>
          <a:xfrm>
            <a:off x="933346" y="3073709"/>
            <a:ext cx="762932" cy="453628"/>
          </a:xfrm>
          <a:prstGeom prst="rect">
            <a:avLst/>
          </a:prstGeom>
          <a:noFill/>
          <a:ln/>
        </p:spPr>
        <p:txBody>
          <a:bodyPr wrap="square" lIns="0" tIns="0" rIns="0" bIns="0" rtlCol="0" anchor="t">
            <a:normAutofit/>
          </a:bodyPr>
          <a:lstStyle/>
          <a:p>
            <a:pPr marL="0" indent="0" algn="l">
              <a:lnSpc>
                <a:spcPct val="133000"/>
              </a:lnSpc>
              <a:buNone/>
            </a:pPr>
            <a:r>
              <a:rPr lang="en-US" sz="1100" dirty="0" smtClean="0">
                <a:solidFill>
                  <a:srgbClr val="E5E0DF"/>
                </a:solidFill>
                <a:latin typeface="Inter" pitchFamily="34" charset="0"/>
                <a:ea typeface="Inter" pitchFamily="34" charset="-122"/>
                <a:cs typeface="Inter" pitchFamily="34" charset="-120"/>
              </a:rPr>
              <a:t>RAKESH R</a:t>
            </a:r>
            <a:endParaRPr lang="en-US" sz="1100" dirty="0"/>
          </a:p>
        </p:txBody>
      </p:sp>
      <p:sp>
        <p:nvSpPr>
          <p:cNvPr id="10" name="Text 8"/>
          <p:cNvSpPr/>
          <p:nvPr/>
        </p:nvSpPr>
        <p:spPr>
          <a:xfrm>
            <a:off x="1451113" y="3779785"/>
            <a:ext cx="6380922" cy="494041"/>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A production-grade Android application combining AI-inspired recommendations, real-time analytics, structured quizzes, and personalized learning roadmaps — engineered for scale.</a:t>
            </a:r>
            <a:endParaRPr lang="en-US" sz="1100" dirty="0"/>
          </a:p>
        </p:txBody>
      </p:sp>
      <p:sp>
        <p:nvSpPr>
          <p:cNvPr id="11" name="Text 5"/>
          <p:cNvSpPr/>
          <p:nvPr/>
        </p:nvSpPr>
        <p:spPr>
          <a:xfrm>
            <a:off x="3649545" y="2803379"/>
            <a:ext cx="1088107" cy="221456"/>
          </a:xfrm>
          <a:prstGeom prst="rect">
            <a:avLst/>
          </a:prstGeom>
          <a:noFill/>
          <a:ln/>
        </p:spPr>
        <p:txBody>
          <a:bodyPr wrap="none" lIns="0" tIns="0" rIns="0" bIns="0" rtlCol="0" anchor="t"/>
          <a:lstStyle/>
          <a:p>
            <a:pPr>
              <a:lnSpc>
                <a:spcPct val="104000"/>
              </a:lnSpc>
            </a:pPr>
            <a:r>
              <a:rPr lang="en-IN" sz="1400" dirty="0" smtClean="0">
                <a:solidFill>
                  <a:schemeClr val="bg1"/>
                </a:solidFill>
              </a:rPr>
              <a:t>Department</a:t>
            </a:r>
            <a:endParaRPr lang="en-US" sz="1350" dirty="0">
              <a:solidFill>
                <a:schemeClr val="bg1"/>
              </a:solidFill>
            </a:endParaRPr>
          </a:p>
        </p:txBody>
      </p:sp>
      <p:sp>
        <p:nvSpPr>
          <p:cNvPr id="12" name="Text 5"/>
          <p:cNvSpPr/>
          <p:nvPr/>
        </p:nvSpPr>
        <p:spPr>
          <a:xfrm>
            <a:off x="2886831" y="3080293"/>
            <a:ext cx="2229222" cy="221456"/>
          </a:xfrm>
          <a:prstGeom prst="rect">
            <a:avLst/>
          </a:prstGeom>
          <a:noFill/>
          <a:ln/>
        </p:spPr>
        <p:txBody>
          <a:bodyPr wrap="none" lIns="0" tIns="0" rIns="0" bIns="0" rtlCol="0" anchor="t"/>
          <a:lstStyle/>
          <a:p>
            <a:pPr>
              <a:lnSpc>
                <a:spcPct val="104000"/>
              </a:lnSpc>
            </a:pPr>
            <a:r>
              <a:rPr lang="en-IN" sz="1400" dirty="0" smtClean="0">
                <a:solidFill>
                  <a:schemeClr val="bg1"/>
                </a:solidFill>
              </a:rPr>
              <a:t>Computer Science and Engineering</a:t>
            </a:r>
            <a:endParaRPr lang="en-US" sz="1350" dirty="0">
              <a:solidFill>
                <a:schemeClr val="bg1"/>
              </a:solidFill>
            </a:endParaRPr>
          </a:p>
        </p:txBody>
      </p:sp>
      <p:sp>
        <p:nvSpPr>
          <p:cNvPr id="13" name="Text 5"/>
          <p:cNvSpPr/>
          <p:nvPr/>
        </p:nvSpPr>
        <p:spPr>
          <a:xfrm>
            <a:off x="7232342" y="2799472"/>
            <a:ext cx="822567" cy="221456"/>
          </a:xfrm>
          <a:prstGeom prst="rect">
            <a:avLst/>
          </a:prstGeom>
          <a:noFill/>
          <a:ln/>
        </p:spPr>
        <p:txBody>
          <a:bodyPr wrap="none" lIns="0" tIns="0" rIns="0" bIns="0" rtlCol="0" anchor="t"/>
          <a:lstStyle/>
          <a:p>
            <a:pPr>
              <a:lnSpc>
                <a:spcPct val="104000"/>
              </a:lnSpc>
            </a:pPr>
            <a:r>
              <a:rPr lang="en-IN" sz="1400" dirty="0" smtClean="0">
                <a:solidFill>
                  <a:schemeClr val="bg1"/>
                </a:solidFill>
              </a:rPr>
              <a:t>Institution</a:t>
            </a:r>
            <a:endParaRPr lang="en-US" sz="1350" dirty="0">
              <a:solidFill>
                <a:schemeClr val="bg1"/>
              </a:solidFill>
            </a:endParaRPr>
          </a:p>
        </p:txBody>
      </p:sp>
      <p:sp>
        <p:nvSpPr>
          <p:cNvPr id="15" name="Text 5"/>
          <p:cNvSpPr/>
          <p:nvPr/>
        </p:nvSpPr>
        <p:spPr>
          <a:xfrm>
            <a:off x="6496309" y="3080293"/>
            <a:ext cx="2229222" cy="221456"/>
          </a:xfrm>
          <a:prstGeom prst="rect">
            <a:avLst/>
          </a:prstGeom>
          <a:noFill/>
          <a:ln/>
        </p:spPr>
        <p:txBody>
          <a:bodyPr wrap="none" lIns="0" tIns="0" rIns="0" bIns="0" rtlCol="0" anchor="t"/>
          <a:lstStyle/>
          <a:p>
            <a:pPr>
              <a:lnSpc>
                <a:spcPct val="104000"/>
              </a:lnSpc>
            </a:pPr>
            <a:r>
              <a:rPr lang="en-IN" sz="1400" dirty="0" err="1" smtClean="0">
                <a:solidFill>
                  <a:schemeClr val="bg1"/>
                </a:solidFill>
              </a:rPr>
              <a:t>Rajalakshmi</a:t>
            </a:r>
            <a:r>
              <a:rPr lang="en-IN" sz="1400" dirty="0" smtClean="0">
                <a:solidFill>
                  <a:schemeClr val="bg1"/>
                </a:solidFill>
              </a:rPr>
              <a:t> Engineering College</a:t>
            </a:r>
            <a:endParaRPr lang="en-US" sz="1350" dirty="0">
              <a:solidFill>
                <a:schemeClr val="bg1"/>
              </a:solidFill>
            </a:endParaRPr>
          </a:p>
        </p:txBody>
      </p:sp>
      <p:pic>
        <p:nvPicPr>
          <p:cNvPr id="1028" name="Picture 4" descr="7 Major Learning Styles and the 1 Big Mistake Everyone Makes | LearnDa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7621" y="212278"/>
            <a:ext cx="893953" cy="500614"/>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p:cNvPicPr>
            <a:picLocks noChangeAspect="1"/>
          </p:cNvPicPr>
          <p:nvPr/>
        </p:nvPicPr>
        <p:blipFill>
          <a:blip r:embed="rId4"/>
          <a:stretch>
            <a:fillRect/>
          </a:stretch>
        </p:blipFill>
        <p:spPr>
          <a:xfrm>
            <a:off x="7527234" y="4704522"/>
            <a:ext cx="1616766" cy="37219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056605" y="297359"/>
            <a:ext cx="916335" cy="173013"/>
          </a:xfrm>
          <a:prstGeom prst="roundRect">
            <a:avLst>
              <a:gd name="adj" fmla="val 19789"/>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117699" y="343123"/>
            <a:ext cx="81483" cy="81483"/>
          </a:xfrm>
          <a:prstGeom prst="rect">
            <a:avLst/>
          </a:prstGeom>
        </p:spPr>
      </p:pic>
      <p:sp>
        <p:nvSpPr>
          <p:cNvPr id="4" name="Text 1"/>
          <p:cNvSpPr/>
          <p:nvPr/>
        </p:nvSpPr>
        <p:spPr>
          <a:xfrm>
            <a:off x="1239887" y="327868"/>
            <a:ext cx="1129159" cy="111993"/>
          </a:xfrm>
          <a:prstGeom prst="rect">
            <a:avLst/>
          </a:prstGeom>
          <a:noFill/>
          <a:ln/>
        </p:spPr>
        <p:txBody>
          <a:bodyPr wrap="none" lIns="0" tIns="0" rIns="0" bIns="0" rtlCol="0" anchor="t"/>
          <a:lstStyle/>
          <a:p>
            <a:pPr marL="0" indent="0" algn="l">
              <a:lnSpc>
                <a:spcPct val="115000"/>
              </a:lnSpc>
              <a:buNone/>
            </a:pPr>
            <a:r>
              <a:rPr lang="en-US" sz="600" dirty="0">
                <a:solidFill>
                  <a:srgbClr val="E5E0DF"/>
                </a:solidFill>
                <a:latin typeface="Inter" pitchFamily="34" charset="0"/>
                <a:ea typeface="Inter" pitchFamily="34" charset="-122"/>
                <a:cs typeface="Inter" pitchFamily="34" charset="-120"/>
              </a:rPr>
              <a:t>PROBLEM SPACE</a:t>
            </a:r>
            <a:endParaRPr lang="en-US" sz="600" dirty="0"/>
          </a:p>
        </p:txBody>
      </p:sp>
      <p:sp>
        <p:nvSpPr>
          <p:cNvPr id="5" name="Text 2"/>
          <p:cNvSpPr/>
          <p:nvPr/>
        </p:nvSpPr>
        <p:spPr>
          <a:xfrm>
            <a:off x="1056605" y="499616"/>
            <a:ext cx="4343177" cy="318343"/>
          </a:xfrm>
          <a:prstGeom prst="rect">
            <a:avLst/>
          </a:prstGeom>
          <a:noFill/>
          <a:ln/>
        </p:spPr>
        <p:txBody>
          <a:bodyPr wrap="none" lIns="0" tIns="0" rIns="0" bIns="0" rtlCol="0" anchor="t"/>
          <a:lstStyle/>
          <a:p>
            <a:pPr marL="0" indent="0" algn="l">
              <a:lnSpc>
                <a:spcPct val="104000"/>
              </a:lnSpc>
              <a:buNone/>
            </a:pPr>
            <a:r>
              <a:rPr lang="en-US" sz="2000" b="1" dirty="0">
                <a:solidFill>
                  <a:srgbClr val="FFFFFF"/>
                </a:solidFill>
                <a:latin typeface="Inter Bold" pitchFamily="34" charset="0"/>
                <a:ea typeface="Inter Bold" pitchFamily="34" charset="-122"/>
                <a:cs typeface="Inter Bold" pitchFamily="34" charset="-120"/>
              </a:rPr>
              <a:t>Interview Preparation Is Broken</a:t>
            </a:r>
            <a:endParaRPr lang="en-US" sz="2000" dirty="0"/>
          </a:p>
        </p:txBody>
      </p:sp>
      <p:sp>
        <p:nvSpPr>
          <p:cNvPr id="6" name="Text 3"/>
          <p:cNvSpPr/>
          <p:nvPr/>
        </p:nvSpPr>
        <p:spPr>
          <a:xfrm>
            <a:off x="1056605" y="927795"/>
            <a:ext cx="7030715" cy="280095"/>
          </a:xfrm>
          <a:prstGeom prst="rect">
            <a:avLst/>
          </a:prstGeom>
          <a:noFill/>
          <a:ln/>
        </p:spPr>
        <p:txBody>
          <a:bodyPr wrap="square" lIns="0" tIns="0" rIns="0" bIns="0" rtlCol="0" anchor="t">
            <a:normAutofit lnSpcReduction="10000"/>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Candidates face fragmented tools, zero personalization, and no measurable progress — leading to unstructured preparation and preventable failures.</a:t>
            </a:r>
            <a:endParaRPr lang="en-US" sz="800" dirty="0"/>
          </a:p>
        </p:txBody>
      </p:sp>
      <p:pic>
        <p:nvPicPr>
          <p:cNvPr id="7" name="Image 1" descr="preencoded.png"/>
          <p:cNvPicPr>
            <a:picLocks noChangeAspect="1"/>
          </p:cNvPicPr>
          <p:nvPr/>
        </p:nvPicPr>
        <p:blipFill>
          <a:blip r:embed="rId5"/>
          <a:stretch>
            <a:fillRect/>
          </a:stretch>
        </p:blipFill>
        <p:spPr>
          <a:xfrm>
            <a:off x="1056605" y="1372642"/>
            <a:ext cx="3391049" cy="3391049"/>
          </a:xfrm>
          <a:prstGeom prst="rect">
            <a:avLst/>
          </a:prstGeom>
        </p:spPr>
      </p:pic>
      <p:pic>
        <p:nvPicPr>
          <p:cNvPr id="8" name="Image 2" descr="preencoded.png"/>
          <p:cNvPicPr>
            <a:picLocks noChangeAspect="1"/>
          </p:cNvPicPr>
          <p:nvPr/>
        </p:nvPicPr>
        <p:blipFill>
          <a:blip r:embed="rId6"/>
          <a:stretch>
            <a:fillRect/>
          </a:stretch>
        </p:blipFill>
        <p:spPr>
          <a:xfrm>
            <a:off x="1056605" y="1372642"/>
            <a:ext cx="3391049" cy="3391049"/>
          </a:xfrm>
          <a:prstGeom prst="rect">
            <a:avLst/>
          </a:prstGeom>
        </p:spPr>
      </p:pic>
      <p:sp>
        <p:nvSpPr>
          <p:cNvPr id="9" name="Shape 4"/>
          <p:cNvSpPr/>
          <p:nvPr/>
        </p:nvSpPr>
        <p:spPr>
          <a:xfrm>
            <a:off x="4700960" y="1789398"/>
            <a:ext cx="3391049" cy="635571"/>
          </a:xfrm>
          <a:prstGeom prst="roundRect">
            <a:avLst>
              <a:gd name="adj" fmla="val 6733"/>
            </a:avLst>
          </a:prstGeom>
          <a:solidFill>
            <a:srgbClr val="4B3F02"/>
          </a:solidFill>
          <a:ln/>
        </p:spPr>
      </p:sp>
      <p:pic>
        <p:nvPicPr>
          <p:cNvPr id="10" name="Image 3" descr="preencoded.png"/>
          <p:cNvPicPr>
            <a:picLocks noChangeAspect="1"/>
          </p:cNvPicPr>
          <p:nvPr/>
        </p:nvPicPr>
        <p:blipFill>
          <a:blip r:embed="rId7"/>
          <a:stretch>
            <a:fillRect/>
          </a:stretch>
        </p:blipFill>
        <p:spPr>
          <a:xfrm>
            <a:off x="4753273" y="1935009"/>
            <a:ext cx="127322" cy="101873"/>
          </a:xfrm>
          <a:prstGeom prst="rect">
            <a:avLst/>
          </a:prstGeom>
        </p:spPr>
      </p:pic>
      <p:sp>
        <p:nvSpPr>
          <p:cNvPr id="11" name="Text 5"/>
          <p:cNvSpPr/>
          <p:nvPr/>
        </p:nvSpPr>
        <p:spPr>
          <a:xfrm>
            <a:off x="4932908" y="1921756"/>
            <a:ext cx="2958108" cy="420142"/>
          </a:xfrm>
          <a:prstGeom prst="rect">
            <a:avLst/>
          </a:prstGeom>
          <a:noFill/>
          <a:ln/>
        </p:spPr>
        <p:txBody>
          <a:bodyPr wrap="square" lIns="0" tIns="0" rIns="0" bIns="0" rtlCol="0" anchor="t">
            <a:normAutofit lnSpcReduction="10000"/>
          </a:bodyPr>
          <a:lstStyle/>
          <a:p>
            <a:pPr marL="0" indent="0" algn="l">
              <a:lnSpc>
                <a:spcPct val="115000"/>
              </a:lnSpc>
              <a:buNone/>
            </a:pPr>
            <a:r>
              <a:rPr lang="en-US" sz="800" b="1" dirty="0">
                <a:solidFill>
                  <a:srgbClr val="FFFFFF"/>
                </a:solidFill>
                <a:latin typeface="Inter" pitchFamily="34" charset="0"/>
                <a:ea typeface="Inter" pitchFamily="34" charset="-122"/>
                <a:cs typeface="Inter" pitchFamily="34" charset="-120"/>
              </a:rPr>
              <a:t>The Result:</a:t>
            </a:r>
            <a:r>
              <a:rPr lang="en-US" sz="800" dirty="0">
                <a:solidFill>
                  <a:srgbClr val="FFFFFF"/>
                </a:solidFill>
                <a:latin typeface="Inter" pitchFamily="34" charset="0"/>
                <a:ea typeface="Inter" pitchFamily="34" charset="-122"/>
                <a:cs typeface="Inter" pitchFamily="34" charset="-120"/>
              </a:rPr>
              <a:t> Most candidates walk into interviews underprepared — not from lack of effort, but from lack of direction. </a:t>
            </a:r>
            <a:endParaRPr lang="en-US" sz="800" dirty="0"/>
          </a:p>
        </p:txBody>
      </p:sp>
      <p:sp>
        <p:nvSpPr>
          <p:cNvPr id="12" name="Text 6"/>
          <p:cNvSpPr/>
          <p:nvPr/>
        </p:nvSpPr>
        <p:spPr>
          <a:xfrm>
            <a:off x="4700960" y="3155305"/>
            <a:ext cx="3391049" cy="560189"/>
          </a:xfrm>
          <a:prstGeom prst="rect">
            <a:avLst/>
          </a:prstGeom>
          <a:noFill/>
          <a:ln/>
        </p:spPr>
        <p:txBody>
          <a:bodyPr wrap="square" lIns="0" tIns="0" rIns="0" bIns="0" rtlCol="0" anchor="t">
            <a:normAutofit lnSpcReduction="10000"/>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Existing tools like LeetCode, Glassdoor, and YouTube are powerful in isolation but operate in silos. There is no unified platform that tracks skill growth, recommends personalized content, and measures readiness in real time.</a:t>
            </a:r>
            <a:endParaRPr lang="en-US" sz="800" dirty="0"/>
          </a:p>
        </p:txBody>
      </p:sp>
      <p:pic>
        <p:nvPicPr>
          <p:cNvPr id="13" name="Picture 12"/>
          <p:cNvPicPr>
            <a:picLocks noChangeAspect="1"/>
          </p:cNvPicPr>
          <p:nvPr/>
        </p:nvPicPr>
        <p:blipFill>
          <a:blip r:embed="rId8"/>
          <a:stretch>
            <a:fillRect/>
          </a:stretch>
        </p:blipFill>
        <p:spPr>
          <a:xfrm>
            <a:off x="7527234" y="4704522"/>
            <a:ext cx="1616766" cy="372191"/>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27336" y="329803"/>
            <a:ext cx="1096119" cy="187672"/>
          </a:xfrm>
          <a:prstGeom prst="roundRect">
            <a:avLst>
              <a:gd name="adj" fmla="val 19433"/>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92448" y="380256"/>
            <a:ext cx="86767" cy="86767"/>
          </a:xfrm>
          <a:prstGeom prst="rect">
            <a:avLst/>
          </a:prstGeom>
        </p:spPr>
      </p:pic>
      <p:sp>
        <p:nvSpPr>
          <p:cNvPr id="4" name="Text 1"/>
          <p:cNvSpPr/>
          <p:nvPr/>
        </p:nvSpPr>
        <p:spPr>
          <a:xfrm>
            <a:off x="1022598" y="362322"/>
            <a:ext cx="1292944" cy="122634"/>
          </a:xfrm>
          <a:prstGeom prst="rect">
            <a:avLst/>
          </a:prstGeom>
          <a:noFill/>
          <a:ln/>
        </p:spPr>
        <p:txBody>
          <a:bodyPr wrap="none" lIns="0" tIns="0" rIns="0" bIns="0" rtlCol="0" anchor="t"/>
          <a:lstStyle/>
          <a:p>
            <a:pPr marL="0" indent="0" algn="l">
              <a:lnSpc>
                <a:spcPct val="118000"/>
              </a:lnSpc>
              <a:buNone/>
            </a:pPr>
            <a:r>
              <a:rPr lang="en-US" sz="650" dirty="0">
                <a:solidFill>
                  <a:srgbClr val="E5E0DF"/>
                </a:solidFill>
                <a:latin typeface="Inter" pitchFamily="34" charset="0"/>
                <a:ea typeface="Inter" pitchFamily="34" charset="-122"/>
                <a:cs typeface="Inter" pitchFamily="34" charset="-120"/>
              </a:rPr>
              <a:t>EXISTING SYSTEMS</a:t>
            </a:r>
            <a:endParaRPr lang="en-US" sz="650" dirty="0"/>
          </a:p>
        </p:txBody>
      </p:sp>
      <p:sp>
        <p:nvSpPr>
          <p:cNvPr id="5" name="Text 2"/>
          <p:cNvSpPr/>
          <p:nvPr/>
        </p:nvSpPr>
        <p:spPr>
          <a:xfrm>
            <a:off x="827336" y="550664"/>
            <a:ext cx="4513138" cy="339179"/>
          </a:xfrm>
          <a:prstGeom prst="rect">
            <a:avLst/>
          </a:prstGeom>
          <a:noFill/>
          <a:ln/>
        </p:spPr>
        <p:txBody>
          <a:bodyPr wrap="none" lIns="0" tIns="0" rIns="0" bIns="0" rtlCol="0" anchor="t"/>
          <a:lstStyle/>
          <a:p>
            <a:pPr marL="0" indent="0" algn="l">
              <a:lnSpc>
                <a:spcPct val="104000"/>
              </a:lnSpc>
              <a:buNone/>
            </a:pPr>
            <a:r>
              <a:rPr lang="en-US" sz="2100" b="1" dirty="0">
                <a:solidFill>
                  <a:srgbClr val="FFFFFF"/>
                </a:solidFill>
                <a:latin typeface="Inter Bold" pitchFamily="34" charset="0"/>
                <a:ea typeface="Inter Bold" pitchFamily="34" charset="-122"/>
                <a:cs typeface="Inter Bold" pitchFamily="34" charset="-120"/>
              </a:rPr>
              <a:t>Where Current Tools Fall Short</a:t>
            </a:r>
            <a:endParaRPr lang="en-US" sz="2100" dirty="0"/>
          </a:p>
        </p:txBody>
      </p:sp>
      <p:pic>
        <p:nvPicPr>
          <p:cNvPr id="6" name="Image 1" descr="preencoded.png"/>
          <p:cNvPicPr>
            <a:picLocks noChangeAspect="1"/>
          </p:cNvPicPr>
          <p:nvPr/>
        </p:nvPicPr>
        <p:blipFill>
          <a:blip r:embed="rId5"/>
          <a:stretch>
            <a:fillRect/>
          </a:stretch>
        </p:blipFill>
        <p:spPr>
          <a:xfrm>
            <a:off x="827336" y="1107951"/>
            <a:ext cx="3612207" cy="3612207"/>
          </a:xfrm>
          <a:prstGeom prst="rect">
            <a:avLst/>
          </a:prstGeom>
        </p:spPr>
      </p:pic>
      <p:pic>
        <p:nvPicPr>
          <p:cNvPr id="7" name="Image 2" descr="preencoded.png"/>
          <p:cNvPicPr>
            <a:picLocks noChangeAspect="1"/>
          </p:cNvPicPr>
          <p:nvPr/>
        </p:nvPicPr>
        <p:blipFill>
          <a:blip r:embed="rId6"/>
          <a:stretch>
            <a:fillRect/>
          </a:stretch>
        </p:blipFill>
        <p:spPr>
          <a:xfrm>
            <a:off x="827336" y="1107951"/>
            <a:ext cx="3612207" cy="3612207"/>
          </a:xfrm>
          <a:prstGeom prst="rect">
            <a:avLst/>
          </a:prstGeom>
        </p:spPr>
      </p:pic>
      <p:sp>
        <p:nvSpPr>
          <p:cNvPr id="8" name="Text 3"/>
          <p:cNvSpPr/>
          <p:nvPr/>
        </p:nvSpPr>
        <p:spPr>
          <a:xfrm>
            <a:off x="4709071" y="2233017"/>
            <a:ext cx="1848520" cy="169515"/>
          </a:xfrm>
          <a:prstGeom prst="rect">
            <a:avLst/>
          </a:prstGeom>
          <a:noFill/>
          <a:ln/>
        </p:spPr>
        <p:txBody>
          <a:bodyPr wrap="none" lIns="0" tIns="0" rIns="0" bIns="0" rtlCol="0" anchor="t"/>
          <a:lstStyle/>
          <a:p>
            <a:pPr marL="0" indent="0" algn="l">
              <a:lnSpc>
                <a:spcPct val="104000"/>
              </a:lnSpc>
              <a:buNone/>
            </a:pPr>
            <a:r>
              <a:rPr lang="en-US" sz="1050" b="1" dirty="0">
                <a:solidFill>
                  <a:srgbClr val="FFFFFF"/>
                </a:solidFill>
                <a:latin typeface="Inter Bold" pitchFamily="34" charset="0"/>
                <a:ea typeface="Inter Bold" pitchFamily="34" charset="-122"/>
                <a:cs typeface="Inter Bold" pitchFamily="34" charset="-120"/>
              </a:rPr>
              <a:t>The Gap is Structural</a:t>
            </a:r>
            <a:endParaRPr lang="en-US" sz="1050" dirty="0"/>
          </a:p>
        </p:txBody>
      </p:sp>
      <p:sp>
        <p:nvSpPr>
          <p:cNvPr id="9" name="Text 4"/>
          <p:cNvSpPr/>
          <p:nvPr/>
        </p:nvSpPr>
        <p:spPr>
          <a:xfrm>
            <a:off x="4709071" y="2485579"/>
            <a:ext cx="3612207" cy="459879"/>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E0DF"/>
                </a:solidFill>
                <a:latin typeface="Inter" pitchFamily="34" charset="0"/>
                <a:ea typeface="Inter" pitchFamily="34" charset="-122"/>
                <a:cs typeface="Inter" pitchFamily="34" charset="-120"/>
              </a:rPr>
              <a:t>Platforms like LeetCode focus on coding practice. LinkedIn Learning focuses on courses. Neither connects performance data to personalized next steps.</a:t>
            </a:r>
            <a:endParaRPr lang="en-US" sz="850" dirty="0"/>
          </a:p>
        </p:txBody>
      </p:sp>
      <p:sp>
        <p:nvSpPr>
          <p:cNvPr id="10" name="Shape 5"/>
          <p:cNvSpPr/>
          <p:nvPr/>
        </p:nvSpPr>
        <p:spPr>
          <a:xfrm>
            <a:off x="4709071" y="3038921"/>
            <a:ext cx="3612207" cy="545753"/>
          </a:xfrm>
          <a:prstGeom prst="roundRect">
            <a:avLst>
              <a:gd name="adj" fmla="val 8353"/>
            </a:avLst>
          </a:prstGeom>
          <a:solidFill>
            <a:srgbClr val="022349"/>
          </a:solidFill>
          <a:ln/>
        </p:spPr>
      </p:sp>
      <p:pic>
        <p:nvPicPr>
          <p:cNvPr id="11" name="Image 3" descr="preencoded.png"/>
          <p:cNvPicPr>
            <a:picLocks noChangeAspect="1"/>
          </p:cNvPicPr>
          <p:nvPr/>
        </p:nvPicPr>
        <p:blipFill>
          <a:blip r:embed="rId7"/>
          <a:stretch>
            <a:fillRect/>
          </a:stretch>
        </p:blipFill>
        <p:spPr>
          <a:xfrm>
            <a:off x="4817566" y="3193852"/>
            <a:ext cx="135657" cy="108496"/>
          </a:xfrm>
          <a:prstGeom prst="rect">
            <a:avLst/>
          </a:prstGeom>
        </p:spPr>
      </p:pic>
      <p:sp>
        <p:nvSpPr>
          <p:cNvPr id="12" name="Text 6"/>
          <p:cNvSpPr/>
          <p:nvPr/>
        </p:nvSpPr>
        <p:spPr>
          <a:xfrm>
            <a:off x="5061719" y="3149054"/>
            <a:ext cx="3151063"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FFFFFF"/>
                </a:solidFill>
                <a:latin typeface="Inter" pitchFamily="34" charset="0"/>
                <a:ea typeface="Inter" pitchFamily="34" charset="-122"/>
                <a:cs typeface="Inter" pitchFamily="34" charset="-120"/>
              </a:rPr>
              <a:t>Interview Prep Tracker closes this loop — turning raw practice into measurable, role-aligned readiness.</a:t>
            </a:r>
            <a:endParaRPr lang="en-US" sz="850" dirty="0"/>
          </a:p>
        </p:txBody>
      </p:sp>
      <p:pic>
        <p:nvPicPr>
          <p:cNvPr id="13" name="Picture 12"/>
          <p:cNvPicPr>
            <a:picLocks noChangeAspect="1"/>
          </p:cNvPicPr>
          <p:nvPr/>
        </p:nvPicPr>
        <p:blipFill>
          <a:blip r:embed="rId8"/>
          <a:stretch>
            <a:fillRect/>
          </a:stretch>
        </p:blipFill>
        <p:spPr>
          <a:xfrm>
            <a:off x="7527234" y="4704522"/>
            <a:ext cx="1616766" cy="372191"/>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653876"/>
            <a:ext cx="1048792" cy="275927"/>
          </a:xfrm>
          <a:prstGeom prst="roundRect">
            <a:avLst>
              <a:gd name="adj" fmla="val 17263"/>
            </a:avLst>
          </a:prstGeom>
          <a:noFill/>
          <a:ln w="4763">
            <a:solidFill>
              <a:srgbClr val="2B0AFF"/>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85936" y="735137"/>
            <a:ext cx="113407" cy="113407"/>
          </a:xfrm>
          <a:prstGeom prst="rect">
            <a:avLst/>
          </a:prstGeom>
        </p:spPr>
      </p:pic>
      <p:sp>
        <p:nvSpPr>
          <p:cNvPr id="4" name="Text 1"/>
          <p:cNvSpPr/>
          <p:nvPr/>
        </p:nvSpPr>
        <p:spPr>
          <a:xfrm>
            <a:off x="756047" y="701129"/>
            <a:ext cx="1156246" cy="181421"/>
          </a:xfrm>
          <a:prstGeom prst="rect">
            <a:avLst/>
          </a:prstGeom>
          <a:noFill/>
          <a:ln/>
        </p:spPr>
        <p:txBody>
          <a:bodyPr wrap="none" lIns="0" tIns="0" rIns="0" bIns="0" rtlCol="0" anchor="t"/>
          <a:lstStyle/>
          <a:p>
            <a:pPr marL="0" indent="0" algn="l">
              <a:lnSpc>
                <a:spcPct val="133000"/>
              </a:lnSpc>
              <a:buNone/>
            </a:pPr>
            <a:r>
              <a:rPr lang="en-US" sz="850" dirty="0">
                <a:solidFill>
                  <a:srgbClr val="2B0AFF"/>
                </a:solidFill>
                <a:latin typeface="Inter" pitchFamily="34" charset="0"/>
                <a:ea typeface="Inter" pitchFamily="34" charset="-122"/>
                <a:cs typeface="Inter" pitchFamily="34" charset="-120"/>
              </a:rPr>
              <a:t>OBJECTIVES</a:t>
            </a:r>
            <a:endParaRPr lang="en-US" sz="850" dirty="0"/>
          </a:p>
        </p:txBody>
      </p:sp>
      <p:sp>
        <p:nvSpPr>
          <p:cNvPr id="5" name="Text 2"/>
          <p:cNvSpPr/>
          <p:nvPr/>
        </p:nvSpPr>
        <p:spPr>
          <a:xfrm>
            <a:off x="496119" y="986507"/>
            <a:ext cx="8416677" cy="442987"/>
          </a:xfrm>
          <a:prstGeom prst="rect">
            <a:avLst/>
          </a:prstGeom>
          <a:noFill/>
          <a:ln/>
        </p:spPr>
        <p:txBody>
          <a:bodyPr wrap="none" lIns="0" tIns="0" rIns="0" bIns="0" rtlCol="0" anchor="t"/>
          <a:lstStyle/>
          <a:p>
            <a:pPr marL="0" indent="0" algn="l">
              <a:lnSpc>
                <a:spcPct val="104000"/>
              </a:lnSpc>
              <a:buNone/>
            </a:pPr>
            <a:r>
              <a:rPr lang="en-US" sz="2750" b="1" dirty="0">
                <a:solidFill>
                  <a:srgbClr val="FFFFFF"/>
                </a:solidFill>
                <a:latin typeface="Inter Bold" pitchFamily="34" charset="0"/>
                <a:ea typeface="Inter Bold" pitchFamily="34" charset="-122"/>
                <a:cs typeface="Inter Bold" pitchFamily="34" charset="-120"/>
              </a:rPr>
              <a:t>What Interview Prep Tracker Sets Out to Solve</a:t>
            </a:r>
            <a:endParaRPr lang="en-US" sz="275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496119" y="1642095"/>
            <a:ext cx="354360" cy="354360"/>
          </a:xfrm>
          <a:prstGeom prst="rect">
            <a:avLst/>
          </a:prstGeom>
        </p:spPr>
      </p:pic>
      <p:sp>
        <p:nvSpPr>
          <p:cNvPr id="7" name="Text 3"/>
          <p:cNvSpPr/>
          <p:nvPr/>
        </p:nvSpPr>
        <p:spPr>
          <a:xfrm>
            <a:off x="1027658" y="1642095"/>
            <a:ext cx="2395538"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Secure Authentication</a:t>
            </a:r>
            <a:endParaRPr lang="en-US" sz="1350" dirty="0"/>
          </a:p>
        </p:txBody>
      </p:sp>
      <p:sp>
        <p:nvSpPr>
          <p:cNvPr id="8" name="Text 4"/>
          <p:cNvSpPr/>
          <p:nvPr/>
        </p:nvSpPr>
        <p:spPr>
          <a:xfrm>
            <a:off x="1027658" y="1948607"/>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Firebase-backed login and session management with role-aware onboarding.</a:t>
            </a:r>
            <a:endParaRPr lang="en-US" sz="11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4660553" y="1642095"/>
            <a:ext cx="354360" cy="354360"/>
          </a:xfrm>
          <a:prstGeom prst="rect">
            <a:avLst/>
          </a:prstGeom>
        </p:spPr>
      </p:pic>
      <p:sp>
        <p:nvSpPr>
          <p:cNvPr id="10" name="Text 5"/>
          <p:cNvSpPr/>
          <p:nvPr/>
        </p:nvSpPr>
        <p:spPr>
          <a:xfrm>
            <a:off x="5192092" y="1642095"/>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Skill Analytics</a:t>
            </a:r>
            <a:endParaRPr lang="en-US" sz="1350" dirty="0"/>
          </a:p>
        </p:txBody>
      </p:sp>
      <p:sp>
        <p:nvSpPr>
          <p:cNvPr id="11" name="Text 6"/>
          <p:cNvSpPr/>
          <p:nvPr/>
        </p:nvSpPr>
        <p:spPr>
          <a:xfrm>
            <a:off x="5192092" y="1948607"/>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Real-time dashboards tracking topic mastery, quiz performance, and growth trends.</a:t>
            </a:r>
            <a:endParaRPr lang="en-US" sz="1100" dirty="0"/>
          </a:p>
        </p:txBody>
      </p:sp>
      <p:pic>
        <p:nvPicPr>
          <p:cNvPr id="12"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496119" y="2685752"/>
            <a:ext cx="354360" cy="354360"/>
          </a:xfrm>
          <a:prstGeom prst="rect">
            <a:avLst/>
          </a:prstGeom>
        </p:spPr>
      </p:pic>
      <p:sp>
        <p:nvSpPr>
          <p:cNvPr id="13" name="Text 7"/>
          <p:cNvSpPr/>
          <p:nvPr/>
        </p:nvSpPr>
        <p:spPr>
          <a:xfrm>
            <a:off x="1027658" y="2685752"/>
            <a:ext cx="2297981"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AI Recommendations</a:t>
            </a:r>
            <a:endParaRPr lang="en-US" sz="1350" dirty="0"/>
          </a:p>
        </p:txBody>
      </p:sp>
      <p:sp>
        <p:nvSpPr>
          <p:cNvPr id="14" name="Text 8"/>
          <p:cNvSpPr/>
          <p:nvPr/>
        </p:nvSpPr>
        <p:spPr>
          <a:xfrm>
            <a:off x="1027658" y="2992264"/>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Intelligent role-based suggestions powered by user performance data and Firestore.</a:t>
            </a:r>
            <a:endParaRPr lang="en-US" sz="1100" dirty="0"/>
          </a:p>
        </p:txBody>
      </p:sp>
      <p:pic>
        <p:nvPicPr>
          <p:cNvPr id="15" name="Image 4" descr="preencoded.png"/>
          <p:cNvPicPr>
            <a:picLocks noChangeAspect="1"/>
          </p:cNvPicPr>
          <p:nvPr/>
        </p:nvPicPr>
        <p:blipFill>
          <a:blip r:embed="rId3">
            <a:extLst>
              <a:ext uri="{96DAC541-7B7A-43D3-8B79-37D633B846F1}">
                <asvg:svgBlip xmlns:asvg="http://schemas.microsoft.com/office/drawing/2016/SVG/main" xmlns="" r:embed="rId10"/>
              </a:ext>
            </a:extLst>
          </a:blip>
          <a:stretch>
            <a:fillRect/>
          </a:stretch>
        </p:blipFill>
        <p:spPr>
          <a:xfrm>
            <a:off x="4660553" y="2685752"/>
            <a:ext cx="354360" cy="354360"/>
          </a:xfrm>
          <a:prstGeom prst="rect">
            <a:avLst/>
          </a:prstGeom>
        </p:spPr>
      </p:pic>
      <p:sp>
        <p:nvSpPr>
          <p:cNvPr id="16" name="Text 9"/>
          <p:cNvSpPr/>
          <p:nvPr/>
        </p:nvSpPr>
        <p:spPr>
          <a:xfrm>
            <a:off x="5192092" y="2685752"/>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Learning Roadmaps</a:t>
            </a:r>
            <a:endParaRPr lang="en-US" sz="1350" dirty="0"/>
          </a:p>
        </p:txBody>
      </p:sp>
      <p:sp>
        <p:nvSpPr>
          <p:cNvPr id="17" name="Text 10"/>
          <p:cNvSpPr/>
          <p:nvPr/>
        </p:nvSpPr>
        <p:spPr>
          <a:xfrm>
            <a:off x="5192092" y="2992264"/>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Structured, curated paths aligned to target roles — frontend, backend, mobile, and more.</a:t>
            </a:r>
            <a:endParaRPr lang="en-US" sz="1100" dirty="0"/>
          </a:p>
        </p:txBody>
      </p:sp>
      <p:pic>
        <p:nvPicPr>
          <p:cNvPr id="18" name="Image 5" descr="preencoded.png"/>
          <p:cNvPicPr>
            <a:picLocks noChangeAspect="1"/>
          </p:cNvPicPr>
          <p:nvPr/>
        </p:nvPicPr>
        <p:blipFill>
          <a:blip r:embed="rId3">
            <a:extLst>
              <a:ext uri="{96DAC541-7B7A-43D3-8B79-37D633B846F1}">
                <asvg:svgBlip xmlns:asvg="http://schemas.microsoft.com/office/drawing/2016/SVG/main" xmlns="" r:embed="rId12"/>
              </a:ext>
            </a:extLst>
          </a:blip>
          <a:stretch>
            <a:fillRect/>
          </a:stretch>
        </p:blipFill>
        <p:spPr>
          <a:xfrm>
            <a:off x="496119" y="3729410"/>
            <a:ext cx="354360" cy="354360"/>
          </a:xfrm>
          <a:prstGeom prst="rect">
            <a:avLst/>
          </a:prstGeom>
        </p:spPr>
      </p:pic>
      <p:sp>
        <p:nvSpPr>
          <p:cNvPr id="19" name="Text 11"/>
          <p:cNvSpPr/>
          <p:nvPr/>
        </p:nvSpPr>
        <p:spPr>
          <a:xfrm>
            <a:off x="1027658" y="3729410"/>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Adaptive Quizzes</a:t>
            </a:r>
            <a:endParaRPr lang="en-US" sz="1350" dirty="0"/>
          </a:p>
        </p:txBody>
      </p:sp>
      <p:sp>
        <p:nvSpPr>
          <p:cNvPr id="20" name="Text 12"/>
          <p:cNvSpPr/>
          <p:nvPr/>
        </p:nvSpPr>
        <p:spPr>
          <a:xfrm>
            <a:off x="1027658" y="4035921"/>
            <a:ext cx="345571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Topic-focused assessments with instant feedback and performance history.</a:t>
            </a:r>
            <a:endParaRPr lang="en-US" sz="1100" dirty="0"/>
          </a:p>
        </p:txBody>
      </p:sp>
      <p:pic>
        <p:nvPicPr>
          <p:cNvPr id="21" name="Image 6" descr="preencoded.png"/>
          <p:cNvPicPr>
            <a:picLocks noChangeAspect="1"/>
          </p:cNvPicPr>
          <p:nvPr/>
        </p:nvPicPr>
        <p:blipFill>
          <a:blip r:embed="rId3">
            <a:extLst>
              <a:ext uri="{96DAC541-7B7A-43D3-8B79-37D633B846F1}">
                <asvg:svgBlip xmlns:asvg="http://schemas.microsoft.com/office/drawing/2016/SVG/main" xmlns="" r:embed="rId14"/>
              </a:ext>
            </a:extLst>
          </a:blip>
          <a:stretch>
            <a:fillRect/>
          </a:stretch>
        </p:blipFill>
        <p:spPr>
          <a:xfrm>
            <a:off x="4660553" y="3729410"/>
            <a:ext cx="354360" cy="354360"/>
          </a:xfrm>
          <a:prstGeom prst="rect">
            <a:avLst/>
          </a:prstGeom>
        </p:spPr>
      </p:pic>
      <p:sp>
        <p:nvSpPr>
          <p:cNvPr id="22" name="Text 13"/>
          <p:cNvSpPr/>
          <p:nvPr/>
        </p:nvSpPr>
        <p:spPr>
          <a:xfrm>
            <a:off x="5192092" y="3729410"/>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Unified Dashboard</a:t>
            </a:r>
            <a:endParaRPr lang="en-US" sz="1350" dirty="0"/>
          </a:p>
        </p:txBody>
      </p:sp>
      <p:sp>
        <p:nvSpPr>
          <p:cNvPr id="23" name="Text 14"/>
          <p:cNvSpPr/>
          <p:nvPr/>
        </p:nvSpPr>
        <p:spPr>
          <a:xfrm>
            <a:off x="5192092" y="4035921"/>
            <a:ext cx="3455789"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E5E0DF"/>
                </a:solidFill>
                <a:latin typeface="Inter" pitchFamily="34" charset="0"/>
                <a:ea typeface="Inter" pitchFamily="34" charset="-122"/>
                <a:cs typeface="Inter" pitchFamily="34" charset="-120"/>
              </a:rPr>
              <a:t>A single command center aggregating all metrics, tasks, and progress at a glance.</a:t>
            </a:r>
            <a:endParaRPr lang="en-US" sz="1100" dirty="0"/>
          </a:p>
        </p:txBody>
      </p:sp>
      <p:pic>
        <p:nvPicPr>
          <p:cNvPr id="24" name="Picture 23"/>
          <p:cNvPicPr>
            <a:picLocks noChangeAspect="1"/>
          </p:cNvPicPr>
          <p:nvPr/>
        </p:nvPicPr>
        <p:blipFill>
          <a:blip r:embed="rId15"/>
          <a:stretch>
            <a:fillRect/>
          </a:stretch>
        </p:blipFill>
        <p:spPr>
          <a:xfrm>
            <a:off x="7527234" y="4704522"/>
            <a:ext cx="1616766" cy="372191"/>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805588" y="4704522"/>
            <a:ext cx="1338411" cy="372191"/>
          </a:xfrm>
          <a:prstGeom prst="rect">
            <a:avLst/>
          </a:prstGeom>
        </p:spPr>
      </p:pic>
      <p:sp>
        <p:nvSpPr>
          <p:cNvPr id="4" name="Text 2"/>
          <p:cNvSpPr/>
          <p:nvPr/>
        </p:nvSpPr>
        <p:spPr>
          <a:xfrm>
            <a:off x="197858" y="123481"/>
            <a:ext cx="3371478" cy="339179"/>
          </a:xfrm>
          <a:prstGeom prst="rect">
            <a:avLst/>
          </a:prstGeom>
          <a:noFill/>
          <a:ln/>
        </p:spPr>
        <p:txBody>
          <a:bodyPr wrap="none" lIns="0" tIns="0" rIns="0" bIns="0" rtlCol="0" anchor="t"/>
          <a:lstStyle/>
          <a:p>
            <a:pPr marL="0" indent="0" algn="l">
              <a:lnSpc>
                <a:spcPct val="104000"/>
              </a:lnSpc>
              <a:buNone/>
            </a:pPr>
            <a:r>
              <a:rPr lang="en-US" sz="2100" b="1" dirty="0" smtClean="0">
                <a:solidFill>
                  <a:srgbClr val="FFFFFF"/>
                </a:solidFill>
                <a:latin typeface="Inter Bold" pitchFamily="34" charset="0"/>
                <a:ea typeface="Inter Bold" pitchFamily="34" charset="-122"/>
                <a:cs typeface="Inter Bold" pitchFamily="34" charset="-120"/>
              </a:rPr>
              <a:t>Architecture Diagram</a:t>
            </a:r>
            <a:endParaRPr lang="en-US" sz="2100"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68040" y="17942"/>
            <a:ext cx="4785360" cy="5125558"/>
          </a:xfrm>
          <a:prstGeom prst="rect">
            <a:avLst/>
          </a:prstGeom>
        </p:spPr>
      </p:pic>
      <p:sp>
        <p:nvSpPr>
          <p:cNvPr id="18" name="Curved Right Arrow 17"/>
          <p:cNvSpPr/>
          <p:nvPr/>
        </p:nvSpPr>
        <p:spPr>
          <a:xfrm rot="19699276">
            <a:off x="502920" y="1011001"/>
            <a:ext cx="1737360" cy="3139440"/>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76355385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27336" y="325041"/>
            <a:ext cx="1129457" cy="197197"/>
          </a:xfrm>
          <a:prstGeom prst="roundRect">
            <a:avLst>
              <a:gd name="adj" fmla="val 18494"/>
            </a:avLst>
          </a:prstGeom>
          <a:noFill/>
          <a:ln w="4763">
            <a:solidFill>
              <a:srgbClr val="2B0AFF"/>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97210" y="380256"/>
            <a:ext cx="86767" cy="86767"/>
          </a:xfrm>
          <a:prstGeom prst="rect">
            <a:avLst/>
          </a:prstGeom>
        </p:spPr>
      </p:pic>
      <p:sp>
        <p:nvSpPr>
          <p:cNvPr id="4" name="Text 1"/>
          <p:cNvSpPr/>
          <p:nvPr/>
        </p:nvSpPr>
        <p:spPr>
          <a:xfrm>
            <a:off x="1027361" y="362322"/>
            <a:ext cx="1316757" cy="122634"/>
          </a:xfrm>
          <a:prstGeom prst="rect">
            <a:avLst/>
          </a:prstGeom>
          <a:noFill/>
          <a:ln/>
        </p:spPr>
        <p:txBody>
          <a:bodyPr wrap="none" lIns="0" tIns="0" rIns="0" bIns="0" rtlCol="0" anchor="t"/>
          <a:lstStyle/>
          <a:p>
            <a:pPr marL="0" indent="0" algn="l">
              <a:lnSpc>
                <a:spcPct val="118000"/>
              </a:lnSpc>
              <a:buNone/>
            </a:pPr>
            <a:r>
              <a:rPr lang="en-US" sz="650" dirty="0">
                <a:solidFill>
                  <a:srgbClr val="2B0AFF"/>
                </a:solidFill>
                <a:latin typeface="Inter" pitchFamily="34" charset="0"/>
                <a:ea typeface="Inter" pitchFamily="34" charset="-122"/>
                <a:cs typeface="Inter" pitchFamily="34" charset="-120"/>
              </a:rPr>
              <a:t>FEATURE OVERVIEW</a:t>
            </a:r>
            <a:endParaRPr lang="en-US" sz="650" dirty="0"/>
          </a:p>
        </p:txBody>
      </p:sp>
      <p:sp>
        <p:nvSpPr>
          <p:cNvPr id="5" name="Text 2"/>
          <p:cNvSpPr/>
          <p:nvPr/>
        </p:nvSpPr>
        <p:spPr>
          <a:xfrm>
            <a:off x="827336" y="555427"/>
            <a:ext cx="3371478" cy="339179"/>
          </a:xfrm>
          <a:prstGeom prst="rect">
            <a:avLst/>
          </a:prstGeom>
          <a:noFill/>
          <a:ln/>
        </p:spPr>
        <p:txBody>
          <a:bodyPr wrap="none" lIns="0" tIns="0" rIns="0" bIns="0" rtlCol="0" anchor="t"/>
          <a:lstStyle/>
          <a:p>
            <a:pPr marL="0" indent="0" algn="l">
              <a:lnSpc>
                <a:spcPct val="104000"/>
              </a:lnSpc>
              <a:buNone/>
            </a:pPr>
            <a:r>
              <a:rPr lang="en-US" sz="2100" b="1" dirty="0">
                <a:solidFill>
                  <a:srgbClr val="FFFFFF"/>
                </a:solidFill>
                <a:latin typeface="Inter Bold" pitchFamily="34" charset="0"/>
                <a:ea typeface="Inter Bold" pitchFamily="34" charset="-122"/>
                <a:cs typeface="Inter Bold" pitchFamily="34" charset="-120"/>
              </a:rPr>
              <a:t>Core Feature Modules</a:t>
            </a:r>
            <a:endParaRPr lang="en-US" sz="2100" dirty="0"/>
          </a:p>
        </p:txBody>
      </p:sp>
      <p:pic>
        <p:nvPicPr>
          <p:cNvPr id="6" name="Image 1" descr="preencoded.png"/>
          <p:cNvPicPr>
            <a:picLocks noChangeAspect="1"/>
          </p:cNvPicPr>
          <p:nvPr/>
        </p:nvPicPr>
        <p:blipFill>
          <a:blip r:embed="rId5"/>
          <a:stretch>
            <a:fillRect/>
          </a:stretch>
        </p:blipFill>
        <p:spPr>
          <a:xfrm>
            <a:off x="827336" y="1112713"/>
            <a:ext cx="3612207" cy="3612207"/>
          </a:xfrm>
          <a:prstGeom prst="rect">
            <a:avLst/>
          </a:prstGeom>
        </p:spPr>
      </p:pic>
      <p:pic>
        <p:nvPicPr>
          <p:cNvPr id="7" name="Image 2" descr="preencoded.png"/>
          <p:cNvPicPr>
            <a:picLocks noChangeAspect="1"/>
          </p:cNvPicPr>
          <p:nvPr/>
        </p:nvPicPr>
        <p:blipFill>
          <a:blip r:embed="rId6"/>
          <a:stretch>
            <a:fillRect/>
          </a:stretch>
        </p:blipFill>
        <p:spPr>
          <a:xfrm>
            <a:off x="827336" y="1112713"/>
            <a:ext cx="3612207" cy="3612207"/>
          </a:xfrm>
          <a:prstGeom prst="rect">
            <a:avLst/>
          </a:prstGeom>
        </p:spPr>
      </p:pic>
      <p:sp>
        <p:nvSpPr>
          <p:cNvPr id="8" name="Text 3"/>
          <p:cNvSpPr/>
          <p:nvPr/>
        </p:nvSpPr>
        <p:spPr>
          <a:xfrm>
            <a:off x="4709071" y="2237780"/>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FFFFFF"/>
                </a:solidFill>
                <a:latin typeface="Inter Bold" pitchFamily="34" charset="0"/>
                <a:ea typeface="Inter Bold" pitchFamily="34" charset="-122"/>
                <a:cs typeface="Inter Bold" pitchFamily="34" charset="-120"/>
              </a:rPr>
              <a:t>Modular by Design</a:t>
            </a:r>
            <a:endParaRPr lang="en-US" sz="1050" dirty="0"/>
          </a:p>
        </p:txBody>
      </p:sp>
      <p:sp>
        <p:nvSpPr>
          <p:cNvPr id="9" name="Text 4"/>
          <p:cNvSpPr/>
          <p:nvPr/>
        </p:nvSpPr>
        <p:spPr>
          <a:xfrm>
            <a:off x="4709071" y="2490341"/>
            <a:ext cx="3612207"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E0DF"/>
                </a:solidFill>
                <a:latin typeface="Inter" pitchFamily="34" charset="0"/>
                <a:ea typeface="Inter" pitchFamily="34" charset="-122"/>
                <a:cs typeface="Inter" pitchFamily="34" charset="-120"/>
              </a:rPr>
              <a:t>Each feature module is independently scoped, Hilt-injected, and Compose-navigated — enabling clean separation and isolated testing.</a:t>
            </a:r>
            <a:endParaRPr lang="en-US" sz="850" dirty="0"/>
          </a:p>
        </p:txBody>
      </p:sp>
      <p:sp>
        <p:nvSpPr>
          <p:cNvPr id="10" name="Shape 5"/>
          <p:cNvSpPr/>
          <p:nvPr/>
        </p:nvSpPr>
        <p:spPr>
          <a:xfrm>
            <a:off x="4709071" y="2890391"/>
            <a:ext cx="3612207" cy="699046"/>
          </a:xfrm>
          <a:prstGeom prst="roundRect">
            <a:avLst>
              <a:gd name="adj" fmla="val 6521"/>
            </a:avLst>
          </a:prstGeom>
          <a:solidFill>
            <a:srgbClr val="0A004D"/>
          </a:solidFill>
          <a:ln/>
        </p:spPr>
      </p:sp>
      <p:pic>
        <p:nvPicPr>
          <p:cNvPr id="11" name="Image 3" descr="preencoded.png"/>
          <p:cNvPicPr>
            <a:picLocks noChangeAspect="1"/>
          </p:cNvPicPr>
          <p:nvPr/>
        </p:nvPicPr>
        <p:blipFill>
          <a:blip r:embed="rId7"/>
          <a:stretch>
            <a:fillRect/>
          </a:stretch>
        </p:blipFill>
        <p:spPr>
          <a:xfrm>
            <a:off x="4817566" y="3045321"/>
            <a:ext cx="135657" cy="108496"/>
          </a:xfrm>
          <a:prstGeom prst="rect">
            <a:avLst/>
          </a:prstGeom>
        </p:spPr>
      </p:pic>
      <p:sp>
        <p:nvSpPr>
          <p:cNvPr id="12" name="Text 6"/>
          <p:cNvSpPr/>
          <p:nvPr/>
        </p:nvSpPr>
        <p:spPr>
          <a:xfrm>
            <a:off x="5061719" y="3000524"/>
            <a:ext cx="3151063" cy="459879"/>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FFFFFF"/>
                </a:solidFill>
                <a:latin typeface="Inter" pitchFamily="34" charset="0"/>
                <a:ea typeface="Inter" pitchFamily="34" charset="-122"/>
                <a:cs typeface="Inter" pitchFamily="34" charset="-120"/>
              </a:rPr>
              <a:t>Navigation Compose manages the full backstack across all modules with type-safe argument passing and deep link support.</a:t>
            </a:r>
            <a:endParaRPr lang="en-US" sz="850" dirty="0"/>
          </a:p>
        </p:txBody>
      </p:sp>
      <p:pic>
        <p:nvPicPr>
          <p:cNvPr id="13" name="Picture 12"/>
          <p:cNvPicPr>
            <a:picLocks noChangeAspect="1"/>
          </p:cNvPicPr>
          <p:nvPr/>
        </p:nvPicPr>
        <p:blipFill>
          <a:blip r:embed="rId8"/>
          <a:stretch>
            <a:fillRect/>
          </a:stretch>
        </p:blipFill>
        <p:spPr>
          <a:xfrm>
            <a:off x="7805588" y="4704522"/>
            <a:ext cx="1338411" cy="372191"/>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80182" y="296391"/>
            <a:ext cx="1161455" cy="187375"/>
          </a:xfrm>
          <a:prstGeom prst="roundRect">
            <a:avLst>
              <a:gd name="adj" fmla="val 18669"/>
            </a:avLst>
          </a:prstGeom>
          <a:noFill/>
          <a:ln w="4763">
            <a:solidFill>
              <a:srgbClr val="2B0AFF"/>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047378" y="348407"/>
            <a:ext cx="83269" cy="83269"/>
          </a:xfrm>
          <a:prstGeom prst="rect">
            <a:avLst/>
          </a:prstGeom>
        </p:spPr>
      </p:pic>
      <p:sp>
        <p:nvSpPr>
          <p:cNvPr id="4" name="Text 1"/>
          <p:cNvSpPr/>
          <p:nvPr/>
        </p:nvSpPr>
        <p:spPr>
          <a:xfrm>
            <a:off x="1172245" y="332333"/>
            <a:ext cx="1359396" cy="115491"/>
          </a:xfrm>
          <a:prstGeom prst="rect">
            <a:avLst/>
          </a:prstGeom>
          <a:noFill/>
          <a:ln/>
        </p:spPr>
        <p:txBody>
          <a:bodyPr wrap="none" lIns="0" tIns="0" rIns="0" bIns="0" rtlCol="0" anchor="t"/>
          <a:lstStyle/>
          <a:p>
            <a:pPr marL="0" indent="0" algn="l">
              <a:lnSpc>
                <a:spcPct val="116000"/>
              </a:lnSpc>
              <a:buNone/>
            </a:pPr>
            <a:r>
              <a:rPr lang="en-US" sz="650" dirty="0">
                <a:solidFill>
                  <a:srgbClr val="2B0AFF"/>
                </a:solidFill>
                <a:latin typeface="Inter" pitchFamily="34" charset="0"/>
                <a:ea typeface="Inter" pitchFamily="34" charset="-122"/>
                <a:cs typeface="Inter" pitchFamily="34" charset="-120"/>
              </a:rPr>
              <a:t>PROPOSED SOLUTION</a:t>
            </a:r>
            <a:endParaRPr lang="en-US" sz="650" dirty="0"/>
          </a:p>
        </p:txBody>
      </p:sp>
      <p:sp>
        <p:nvSpPr>
          <p:cNvPr id="5" name="Text 2"/>
          <p:cNvSpPr/>
          <p:nvPr/>
        </p:nvSpPr>
        <p:spPr>
          <a:xfrm>
            <a:off x="980182" y="514276"/>
            <a:ext cx="4468118" cy="325338"/>
          </a:xfrm>
          <a:prstGeom prst="rect">
            <a:avLst/>
          </a:prstGeom>
          <a:noFill/>
          <a:ln/>
        </p:spPr>
        <p:txBody>
          <a:bodyPr wrap="none" lIns="0" tIns="0" rIns="0" bIns="0" rtlCol="0" anchor="t"/>
          <a:lstStyle/>
          <a:p>
            <a:pPr marL="0" indent="0" algn="l">
              <a:lnSpc>
                <a:spcPct val="104000"/>
              </a:lnSpc>
              <a:buNone/>
            </a:pPr>
            <a:r>
              <a:rPr lang="en-US" sz="2000" b="1" dirty="0">
                <a:solidFill>
                  <a:srgbClr val="FFFFFF"/>
                </a:solidFill>
                <a:latin typeface="Inter Bold" pitchFamily="34" charset="0"/>
                <a:ea typeface="Inter Bold" pitchFamily="34" charset="-122"/>
                <a:cs typeface="Inter Bold" pitchFamily="34" charset="-120"/>
              </a:rPr>
              <a:t>A Centralized Smart Ecosystem</a:t>
            </a:r>
            <a:endParaRPr lang="en-US" sz="2000" dirty="0"/>
          </a:p>
        </p:txBody>
      </p:sp>
      <p:sp>
        <p:nvSpPr>
          <p:cNvPr id="6" name="Text 3"/>
          <p:cNvSpPr/>
          <p:nvPr/>
        </p:nvSpPr>
        <p:spPr>
          <a:xfrm>
            <a:off x="980182" y="954286"/>
            <a:ext cx="7640762" cy="144438"/>
          </a:xfrm>
          <a:prstGeom prst="rect">
            <a:avLst/>
          </a:prstGeom>
          <a:noFill/>
          <a:ln/>
        </p:spPr>
        <p:txBody>
          <a:bodyPr wrap="none" lIns="0" tIns="0" rIns="0" bIns="0" rtlCol="0" anchor="t"/>
          <a:lstStyle/>
          <a:p>
            <a:pPr marL="0" indent="0" algn="l">
              <a:lnSpc>
                <a:spcPct val="116000"/>
              </a:lnSpc>
              <a:buNone/>
            </a:pPr>
            <a:r>
              <a:rPr lang="en-US" sz="800" dirty="0">
                <a:solidFill>
                  <a:srgbClr val="E5E0DF"/>
                </a:solidFill>
                <a:latin typeface="Inter" pitchFamily="34" charset="0"/>
                <a:ea typeface="Inter" pitchFamily="34" charset="-122"/>
                <a:cs typeface="Inter" pitchFamily="34" charset="-120"/>
              </a:rPr>
              <a:t>Interview Prep Tracker unifies every preparation touchpoint into one intelligent, cloud-connected Android application.</a:t>
            </a:r>
            <a:endParaRPr lang="en-US" sz="800" dirty="0"/>
          </a:p>
        </p:txBody>
      </p:sp>
      <p:pic>
        <p:nvPicPr>
          <p:cNvPr id="7" name="Image 1" descr="preencoded.png"/>
          <p:cNvPicPr>
            <a:picLocks noChangeAspect="1"/>
          </p:cNvPicPr>
          <p:nvPr/>
        </p:nvPicPr>
        <p:blipFill>
          <a:blip r:embed="rId5"/>
          <a:stretch>
            <a:fillRect/>
          </a:stretch>
        </p:blipFill>
        <p:spPr>
          <a:xfrm>
            <a:off x="980182" y="1184672"/>
            <a:ext cx="7183562" cy="3287539"/>
          </a:xfrm>
          <a:prstGeom prst="rect">
            <a:avLst/>
          </a:prstGeom>
        </p:spPr>
      </p:pic>
      <p:sp>
        <p:nvSpPr>
          <p:cNvPr id="8" name="Text 4"/>
          <p:cNvSpPr/>
          <p:nvPr/>
        </p:nvSpPr>
        <p:spPr>
          <a:xfrm>
            <a:off x="6242178" y="1553675"/>
            <a:ext cx="2046286" cy="198636"/>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Intelligence Layer</a:t>
            </a:r>
            <a:endParaRPr lang="en-US" sz="1250" dirty="0"/>
          </a:p>
        </p:txBody>
      </p:sp>
      <p:sp>
        <p:nvSpPr>
          <p:cNvPr id="9" name="Text 5"/>
          <p:cNvSpPr/>
          <p:nvPr/>
        </p:nvSpPr>
        <p:spPr>
          <a:xfrm>
            <a:off x="6242178" y="1808812"/>
            <a:ext cx="1751526" cy="413162"/>
          </a:xfrm>
          <a:prstGeom prst="rect">
            <a:avLst/>
          </a:prstGeom>
          <a:noFill/>
          <a:ln/>
        </p:spPr>
        <p:txBody>
          <a:bodyPr wrap="square" lIns="0" tIns="0" rIns="0" bIns="0" rtlCol="0" anchor="t">
            <a:normAutofit/>
          </a:bodyPr>
          <a:lstStyle/>
          <a:p>
            <a:pPr marL="0" indent="0" algn="l">
              <a:lnSpc>
                <a:spcPct val="90000"/>
              </a:lnSpc>
              <a:buNone/>
            </a:pPr>
            <a:r>
              <a:rPr lang="en-US" sz="1000" dirty="0">
                <a:solidFill>
                  <a:srgbClr val="E5E0DF"/>
                </a:solidFill>
                <a:latin typeface="Inter" pitchFamily="34" charset="0"/>
                <a:ea typeface="Inter" pitchFamily="34" charset="-122"/>
                <a:cs typeface="Inter" pitchFamily="34" charset="-120"/>
              </a:rPr>
              <a:t>Recommendations, Analytics, Roadmap generation</a:t>
            </a:r>
            <a:endParaRPr lang="en-US" sz="1000" dirty="0"/>
          </a:p>
        </p:txBody>
      </p:sp>
      <p:sp>
        <p:nvSpPr>
          <p:cNvPr id="10" name="Text 6"/>
          <p:cNvSpPr/>
          <p:nvPr/>
        </p:nvSpPr>
        <p:spPr>
          <a:xfrm>
            <a:off x="714030" y="2703113"/>
            <a:ext cx="1589086" cy="198636"/>
          </a:xfrm>
          <a:prstGeom prst="rect">
            <a:avLst/>
          </a:prstGeom>
          <a:noFill/>
          <a:ln/>
        </p:spPr>
        <p:txBody>
          <a:bodyPr wrap="none" lIns="0" tIns="0" rIns="0" bIns="0" rtlCol="0" anchor="t"/>
          <a:lstStyle/>
          <a:p>
            <a:pPr marL="0" indent="0" algn="r">
              <a:lnSpc>
                <a:spcPct val="104000"/>
              </a:lnSpc>
              <a:buNone/>
            </a:pPr>
            <a:r>
              <a:rPr lang="en-US" sz="1250" b="1" dirty="0">
                <a:solidFill>
                  <a:srgbClr val="E5E0DF"/>
                </a:solidFill>
                <a:latin typeface="Inter Bold" pitchFamily="34" charset="0"/>
                <a:ea typeface="Inter Bold" pitchFamily="34" charset="-122"/>
                <a:cs typeface="Inter Bold" pitchFamily="34" charset="-120"/>
              </a:rPr>
              <a:t>Firebase Cloud</a:t>
            </a:r>
            <a:endParaRPr lang="en-US" sz="1250" dirty="0"/>
          </a:p>
        </p:txBody>
      </p:sp>
      <p:sp>
        <p:nvSpPr>
          <p:cNvPr id="11" name="Text 7"/>
          <p:cNvSpPr/>
          <p:nvPr/>
        </p:nvSpPr>
        <p:spPr>
          <a:xfrm>
            <a:off x="1150042" y="2958250"/>
            <a:ext cx="1610273" cy="275441"/>
          </a:xfrm>
          <a:prstGeom prst="rect">
            <a:avLst/>
          </a:prstGeom>
          <a:noFill/>
          <a:ln/>
        </p:spPr>
        <p:txBody>
          <a:bodyPr wrap="square" lIns="0" tIns="0" rIns="0" bIns="0" rtlCol="0" anchor="t">
            <a:normAutofit/>
          </a:bodyPr>
          <a:lstStyle/>
          <a:p>
            <a:pPr marL="0" indent="0" algn="r">
              <a:lnSpc>
                <a:spcPct val="90000"/>
              </a:lnSpc>
              <a:buNone/>
            </a:pPr>
            <a:r>
              <a:rPr lang="en-US" sz="1000" dirty="0">
                <a:solidFill>
                  <a:srgbClr val="E5E0DF"/>
                </a:solidFill>
                <a:latin typeface="Inter" pitchFamily="34" charset="0"/>
                <a:ea typeface="Inter" pitchFamily="34" charset="-122"/>
                <a:cs typeface="Inter" pitchFamily="34" charset="-120"/>
              </a:rPr>
              <a:t>Authentication, Firestore, Real-time Sync</a:t>
            </a:r>
            <a:endParaRPr lang="en-US" sz="1000" dirty="0"/>
          </a:p>
        </p:txBody>
      </p:sp>
      <p:sp>
        <p:nvSpPr>
          <p:cNvPr id="12" name="Text 8"/>
          <p:cNvSpPr/>
          <p:nvPr/>
        </p:nvSpPr>
        <p:spPr>
          <a:xfrm>
            <a:off x="6242178" y="3261059"/>
            <a:ext cx="2046286" cy="198636"/>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Android App</a:t>
            </a:r>
            <a:endParaRPr lang="en-US" sz="1250" dirty="0"/>
          </a:p>
        </p:txBody>
      </p:sp>
      <p:sp>
        <p:nvSpPr>
          <p:cNvPr id="13" name="Text 9"/>
          <p:cNvSpPr/>
          <p:nvPr/>
        </p:nvSpPr>
        <p:spPr>
          <a:xfrm>
            <a:off x="6242178" y="3516196"/>
            <a:ext cx="1751526" cy="275441"/>
          </a:xfrm>
          <a:prstGeom prst="rect">
            <a:avLst/>
          </a:prstGeom>
          <a:noFill/>
          <a:ln/>
        </p:spPr>
        <p:txBody>
          <a:bodyPr wrap="square" lIns="0" tIns="0" rIns="0" bIns="0" rtlCol="0" anchor="t">
            <a:normAutofit/>
          </a:bodyPr>
          <a:lstStyle/>
          <a:p>
            <a:pPr marL="0" indent="0" algn="l">
              <a:lnSpc>
                <a:spcPct val="90000"/>
              </a:lnSpc>
              <a:buNone/>
            </a:pPr>
            <a:r>
              <a:rPr lang="en-US" sz="1000" dirty="0">
                <a:solidFill>
                  <a:srgbClr val="E5E0DF"/>
                </a:solidFill>
                <a:latin typeface="Inter" pitchFamily="34" charset="0"/>
                <a:ea typeface="Inter" pitchFamily="34" charset="-122"/>
                <a:cs typeface="Inter" pitchFamily="34" charset="-120"/>
              </a:rPr>
              <a:t>Jetpack Compose UI, MVVM, Material 3</a:t>
            </a:r>
            <a:endParaRPr lang="en-US" sz="1000" dirty="0"/>
          </a:p>
        </p:txBody>
      </p:sp>
      <p:sp>
        <p:nvSpPr>
          <p:cNvPr id="14" name="Text 10"/>
          <p:cNvSpPr/>
          <p:nvPr/>
        </p:nvSpPr>
        <p:spPr>
          <a:xfrm>
            <a:off x="980182" y="4558159"/>
            <a:ext cx="7183562"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E5E0DF"/>
                </a:solidFill>
                <a:latin typeface="Inter" pitchFamily="34" charset="0"/>
                <a:ea typeface="Inter" pitchFamily="34" charset="-122"/>
                <a:cs typeface="Inter" pitchFamily="34" charset="-120"/>
              </a:rPr>
              <a:t>The architecture enables bidirectional real-time data flow — user actions on-device instantly update cloud state, which feeds the recommendation engine and reflects back in the analytics dashboard.</a:t>
            </a:r>
            <a:endParaRPr lang="en-US" sz="800" dirty="0"/>
          </a:p>
        </p:txBody>
      </p:sp>
      <p:pic>
        <p:nvPicPr>
          <p:cNvPr id="15" name="Picture 14"/>
          <p:cNvPicPr>
            <a:picLocks noChangeAspect="1"/>
          </p:cNvPicPr>
          <p:nvPr/>
        </p:nvPicPr>
        <p:blipFill>
          <a:blip r:embed="rId6"/>
          <a:stretch>
            <a:fillRect/>
          </a:stretch>
        </p:blipFill>
        <p:spPr>
          <a:xfrm>
            <a:off x="7527234" y="4704522"/>
            <a:ext cx="1616766" cy="37219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1438721" y="279871"/>
            <a:ext cx="1094929" cy="149796"/>
          </a:xfrm>
          <a:prstGeom prst="roundRect">
            <a:avLst>
              <a:gd name="adj" fmla="val 20371"/>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493193" y="318418"/>
            <a:ext cx="72628" cy="72628"/>
          </a:xfrm>
          <a:prstGeom prst="rect">
            <a:avLst/>
          </a:prstGeom>
        </p:spPr>
      </p:pic>
      <p:sp>
        <p:nvSpPr>
          <p:cNvPr id="4" name="Text 1"/>
          <p:cNvSpPr/>
          <p:nvPr/>
        </p:nvSpPr>
        <p:spPr>
          <a:xfrm>
            <a:off x="1602135" y="307107"/>
            <a:ext cx="1334244" cy="95324"/>
          </a:xfrm>
          <a:prstGeom prst="rect">
            <a:avLst/>
          </a:prstGeom>
          <a:noFill/>
          <a:ln/>
        </p:spPr>
        <p:txBody>
          <a:bodyPr wrap="none" lIns="0" tIns="0" rIns="0" bIns="0" rtlCol="0" anchor="t"/>
          <a:lstStyle/>
          <a:p>
            <a:pPr marL="0" indent="0" algn="l">
              <a:lnSpc>
                <a:spcPct val="109000"/>
              </a:lnSpc>
              <a:buNone/>
            </a:pPr>
            <a:r>
              <a:rPr lang="en-US" sz="550" dirty="0">
                <a:solidFill>
                  <a:srgbClr val="E5E0DF"/>
                </a:solidFill>
                <a:latin typeface="Inter" pitchFamily="34" charset="0"/>
                <a:ea typeface="Inter" pitchFamily="34" charset="-122"/>
                <a:cs typeface="Inter" pitchFamily="34" charset="-120"/>
              </a:rPr>
              <a:t>SYSTEM ARCHITECTURE</a:t>
            </a:r>
            <a:endParaRPr lang="en-US" sz="550" dirty="0"/>
          </a:p>
        </p:txBody>
      </p:sp>
      <p:sp>
        <p:nvSpPr>
          <p:cNvPr id="5" name="Text 2"/>
          <p:cNvSpPr/>
          <p:nvPr/>
        </p:nvSpPr>
        <p:spPr>
          <a:xfrm>
            <a:off x="1438721" y="452884"/>
            <a:ext cx="3678287" cy="283741"/>
          </a:xfrm>
          <a:prstGeom prst="rect">
            <a:avLst/>
          </a:prstGeom>
          <a:noFill/>
          <a:ln/>
        </p:spPr>
        <p:txBody>
          <a:bodyPr wrap="none" lIns="0" tIns="0" rIns="0" bIns="0" rtlCol="0" anchor="t"/>
          <a:lstStyle/>
          <a:p>
            <a:pPr marL="0" indent="0" algn="l">
              <a:lnSpc>
                <a:spcPct val="104000"/>
              </a:lnSpc>
              <a:buNone/>
            </a:pPr>
            <a:r>
              <a:rPr lang="en-US" sz="1750" b="1" dirty="0">
                <a:solidFill>
                  <a:srgbClr val="FFFFFF"/>
                </a:solidFill>
                <a:latin typeface="Inter Bold" pitchFamily="34" charset="0"/>
                <a:ea typeface="Inter Bold" pitchFamily="34" charset="-122"/>
                <a:cs typeface="Inter Bold" pitchFamily="34" charset="-120"/>
              </a:rPr>
              <a:t>Layered System Architecture</a:t>
            </a:r>
            <a:endParaRPr lang="en-US" sz="1750" dirty="0"/>
          </a:p>
        </p:txBody>
      </p:sp>
      <p:pic>
        <p:nvPicPr>
          <p:cNvPr id="6" name="Image 1" descr="preencoded.png"/>
          <p:cNvPicPr>
            <a:picLocks noChangeAspect="1"/>
          </p:cNvPicPr>
          <p:nvPr/>
        </p:nvPicPr>
        <p:blipFill>
          <a:blip r:embed="rId5"/>
          <a:stretch>
            <a:fillRect/>
          </a:stretch>
        </p:blipFill>
        <p:spPr>
          <a:xfrm>
            <a:off x="1438721" y="889248"/>
            <a:ext cx="3346921" cy="3346921"/>
          </a:xfrm>
          <a:prstGeom prst="rect">
            <a:avLst/>
          </a:prstGeom>
        </p:spPr>
      </p:pic>
      <p:pic>
        <p:nvPicPr>
          <p:cNvPr id="7" name="Image 2" descr="preencoded.png"/>
          <p:cNvPicPr>
            <a:picLocks noChangeAspect="1"/>
          </p:cNvPicPr>
          <p:nvPr/>
        </p:nvPicPr>
        <p:blipFill>
          <a:blip r:embed="rId6"/>
          <a:stretch>
            <a:fillRect/>
          </a:stretch>
        </p:blipFill>
        <p:spPr>
          <a:xfrm>
            <a:off x="1438721" y="889248"/>
            <a:ext cx="3346921" cy="3346921"/>
          </a:xfrm>
          <a:prstGeom prst="rect">
            <a:avLst/>
          </a:prstGeom>
        </p:spPr>
      </p:pic>
      <p:sp>
        <p:nvSpPr>
          <p:cNvPr id="8" name="Text 3"/>
          <p:cNvSpPr/>
          <p:nvPr/>
        </p:nvSpPr>
        <p:spPr>
          <a:xfrm>
            <a:off x="5011862" y="2286893"/>
            <a:ext cx="1769120" cy="141908"/>
          </a:xfrm>
          <a:prstGeom prst="rect">
            <a:avLst/>
          </a:prstGeom>
          <a:noFill/>
          <a:ln/>
        </p:spPr>
        <p:txBody>
          <a:bodyPr wrap="none" lIns="0" tIns="0" rIns="0" bIns="0" rtlCol="0" anchor="t"/>
          <a:lstStyle/>
          <a:p>
            <a:pPr marL="0" indent="0" algn="l">
              <a:lnSpc>
                <a:spcPct val="104000"/>
              </a:lnSpc>
              <a:buNone/>
            </a:pPr>
            <a:r>
              <a:rPr lang="en-US" sz="850" b="1" dirty="0">
                <a:solidFill>
                  <a:srgbClr val="FFFFFF"/>
                </a:solidFill>
                <a:latin typeface="Inter Bold" pitchFamily="34" charset="0"/>
                <a:ea typeface="Inter Bold" pitchFamily="34" charset="-122"/>
                <a:cs typeface="Inter Bold" pitchFamily="34" charset="-120"/>
              </a:rPr>
              <a:t>Separation of Concerns</a:t>
            </a:r>
            <a:endParaRPr lang="en-US" sz="850" dirty="0"/>
          </a:p>
        </p:txBody>
      </p:sp>
      <p:sp>
        <p:nvSpPr>
          <p:cNvPr id="9" name="Text 4"/>
          <p:cNvSpPr/>
          <p:nvPr/>
        </p:nvSpPr>
        <p:spPr>
          <a:xfrm>
            <a:off x="5011862" y="2486918"/>
            <a:ext cx="2698105" cy="357411"/>
          </a:xfrm>
          <a:prstGeom prst="rect">
            <a:avLst/>
          </a:prstGeom>
          <a:noFill/>
          <a:ln/>
        </p:spPr>
        <p:txBody>
          <a:bodyPr wrap="square" lIns="0" tIns="0" rIns="0" bIns="0" rtlCol="0" anchor="t">
            <a:normAutofit/>
          </a:bodyPr>
          <a:lstStyle/>
          <a:p>
            <a:pPr marL="0" indent="0" algn="l">
              <a:lnSpc>
                <a:spcPct val="109000"/>
              </a:lnSpc>
              <a:buNone/>
            </a:pPr>
            <a:r>
              <a:rPr lang="en-US" sz="700" dirty="0">
                <a:solidFill>
                  <a:srgbClr val="E5E0DF"/>
                </a:solidFill>
                <a:latin typeface="Inter" pitchFamily="34" charset="0"/>
                <a:ea typeface="Inter" pitchFamily="34" charset="-122"/>
                <a:cs typeface="Inter" pitchFamily="34" charset="-120"/>
              </a:rPr>
              <a:t>Each layer has a single, well-defined responsibility. The UI never directly touches data sources — all state flows unidirectionally through ViewModels.</a:t>
            </a:r>
            <a:endParaRPr lang="en-US" sz="700" dirty="0"/>
          </a:p>
        </p:txBody>
      </p:sp>
      <p:sp>
        <p:nvSpPr>
          <p:cNvPr id="10" name="Shape 5"/>
          <p:cNvSpPr/>
          <p:nvPr/>
        </p:nvSpPr>
        <p:spPr>
          <a:xfrm>
            <a:off x="1438721" y="4366989"/>
            <a:ext cx="3104183" cy="496565"/>
          </a:xfrm>
          <a:prstGeom prst="roundRect">
            <a:avLst>
              <a:gd name="adj" fmla="val 9207"/>
            </a:avLst>
          </a:prstGeom>
          <a:solidFill>
            <a:srgbClr val="272525"/>
          </a:solidFill>
          <a:ln w="9525">
            <a:solidFill>
              <a:srgbClr val="2A1999"/>
            </a:solidFill>
            <a:prstDash val="solid"/>
          </a:ln>
        </p:spPr>
      </p:sp>
      <p:sp>
        <p:nvSpPr>
          <p:cNvPr id="11" name="Shape 6"/>
          <p:cNvSpPr/>
          <p:nvPr/>
        </p:nvSpPr>
        <p:spPr>
          <a:xfrm>
            <a:off x="1429196" y="4366989"/>
            <a:ext cx="38100" cy="496565"/>
          </a:xfrm>
          <a:prstGeom prst="roundRect">
            <a:avLst>
              <a:gd name="adj" fmla="val 100116"/>
            </a:avLst>
          </a:prstGeom>
          <a:solidFill>
            <a:srgbClr val="2B0AFF"/>
          </a:solidFill>
          <a:ln/>
        </p:spPr>
      </p:sp>
      <p:sp>
        <p:nvSpPr>
          <p:cNvPr id="12" name="Text 7"/>
          <p:cNvSpPr/>
          <p:nvPr/>
        </p:nvSpPr>
        <p:spPr>
          <a:xfrm>
            <a:off x="1567607" y="4467299"/>
            <a:ext cx="1592387" cy="141908"/>
          </a:xfrm>
          <a:prstGeom prst="rect">
            <a:avLst/>
          </a:prstGeom>
          <a:noFill/>
          <a:ln/>
        </p:spPr>
        <p:txBody>
          <a:bodyPr wrap="none" lIns="0" tIns="0" rIns="0" bIns="0" rtlCol="0" anchor="t"/>
          <a:lstStyle/>
          <a:p>
            <a:pPr marL="0" indent="0" algn="l">
              <a:lnSpc>
                <a:spcPct val="104000"/>
              </a:lnSpc>
              <a:buNone/>
            </a:pPr>
            <a:r>
              <a:rPr lang="en-US" sz="850" b="1" dirty="0">
                <a:solidFill>
                  <a:srgbClr val="E5E0DF"/>
                </a:solidFill>
                <a:latin typeface="Inter Bold" pitchFamily="34" charset="0"/>
                <a:ea typeface="Inter Bold" pitchFamily="34" charset="-122"/>
                <a:cs typeface="Inter Bold" pitchFamily="34" charset="-120"/>
              </a:rPr>
              <a:t>UI Layer</a:t>
            </a:r>
            <a:endParaRPr lang="en-US" sz="850" dirty="0"/>
          </a:p>
        </p:txBody>
      </p:sp>
      <p:sp>
        <p:nvSpPr>
          <p:cNvPr id="13" name="Text 8"/>
          <p:cNvSpPr/>
          <p:nvPr/>
        </p:nvSpPr>
        <p:spPr>
          <a:xfrm>
            <a:off x="1567607" y="4644107"/>
            <a:ext cx="3332187" cy="119137"/>
          </a:xfrm>
          <a:prstGeom prst="rect">
            <a:avLst/>
          </a:prstGeom>
          <a:noFill/>
          <a:ln/>
        </p:spPr>
        <p:txBody>
          <a:bodyPr wrap="none" lIns="0" tIns="0" rIns="0" bIns="0" rtlCol="0" anchor="t"/>
          <a:lstStyle/>
          <a:p>
            <a:pPr marL="0" indent="0" algn="l">
              <a:lnSpc>
                <a:spcPct val="109000"/>
              </a:lnSpc>
              <a:buNone/>
            </a:pPr>
            <a:r>
              <a:rPr lang="en-US" sz="700" dirty="0">
                <a:solidFill>
                  <a:srgbClr val="E5E0DF"/>
                </a:solidFill>
                <a:latin typeface="Inter" pitchFamily="34" charset="0"/>
                <a:ea typeface="Inter" pitchFamily="34" charset="-122"/>
                <a:cs typeface="Inter" pitchFamily="34" charset="-120"/>
              </a:rPr>
              <a:t>Compose screens observe StateFlow — pure reactive rendering.</a:t>
            </a:r>
            <a:endParaRPr lang="en-US" sz="700" dirty="0"/>
          </a:p>
        </p:txBody>
      </p:sp>
      <p:sp>
        <p:nvSpPr>
          <p:cNvPr id="14" name="Shape 9"/>
          <p:cNvSpPr/>
          <p:nvPr/>
        </p:nvSpPr>
        <p:spPr>
          <a:xfrm>
            <a:off x="4601021" y="4366989"/>
            <a:ext cx="3104257" cy="496565"/>
          </a:xfrm>
          <a:prstGeom prst="roundRect">
            <a:avLst>
              <a:gd name="adj" fmla="val 9207"/>
            </a:avLst>
          </a:prstGeom>
          <a:solidFill>
            <a:srgbClr val="272525"/>
          </a:solidFill>
          <a:ln w="9525">
            <a:solidFill>
              <a:srgbClr val="2A1999"/>
            </a:solidFill>
            <a:prstDash val="solid"/>
          </a:ln>
        </p:spPr>
      </p:sp>
      <p:sp>
        <p:nvSpPr>
          <p:cNvPr id="15" name="Shape 10"/>
          <p:cNvSpPr/>
          <p:nvPr/>
        </p:nvSpPr>
        <p:spPr>
          <a:xfrm>
            <a:off x="4591496" y="4366989"/>
            <a:ext cx="38100" cy="496565"/>
          </a:xfrm>
          <a:prstGeom prst="roundRect">
            <a:avLst>
              <a:gd name="adj" fmla="val 100116"/>
            </a:avLst>
          </a:prstGeom>
          <a:solidFill>
            <a:srgbClr val="2B0AFF"/>
          </a:solidFill>
          <a:ln/>
        </p:spPr>
      </p:sp>
      <p:sp>
        <p:nvSpPr>
          <p:cNvPr id="16" name="Text 11"/>
          <p:cNvSpPr/>
          <p:nvPr/>
        </p:nvSpPr>
        <p:spPr>
          <a:xfrm>
            <a:off x="4729907" y="4467299"/>
            <a:ext cx="1592387" cy="141908"/>
          </a:xfrm>
          <a:prstGeom prst="rect">
            <a:avLst/>
          </a:prstGeom>
          <a:noFill/>
          <a:ln/>
        </p:spPr>
        <p:txBody>
          <a:bodyPr wrap="none" lIns="0" tIns="0" rIns="0" bIns="0" rtlCol="0" anchor="t"/>
          <a:lstStyle/>
          <a:p>
            <a:pPr marL="0" indent="0" algn="l">
              <a:lnSpc>
                <a:spcPct val="104000"/>
              </a:lnSpc>
              <a:buNone/>
            </a:pPr>
            <a:r>
              <a:rPr lang="en-US" sz="850" b="1" dirty="0">
                <a:solidFill>
                  <a:srgbClr val="E5E0DF"/>
                </a:solidFill>
                <a:latin typeface="Inter Bold" pitchFamily="34" charset="0"/>
                <a:ea typeface="Inter Bold" pitchFamily="34" charset="-122"/>
                <a:cs typeface="Inter Bold" pitchFamily="34" charset="-120"/>
              </a:rPr>
              <a:t>Repository</a:t>
            </a:r>
            <a:endParaRPr lang="en-US" sz="850" dirty="0"/>
          </a:p>
        </p:txBody>
      </p:sp>
      <p:sp>
        <p:nvSpPr>
          <p:cNvPr id="17" name="Text 12"/>
          <p:cNvSpPr/>
          <p:nvPr/>
        </p:nvSpPr>
        <p:spPr>
          <a:xfrm>
            <a:off x="4729907" y="4644107"/>
            <a:ext cx="3332262" cy="119137"/>
          </a:xfrm>
          <a:prstGeom prst="rect">
            <a:avLst/>
          </a:prstGeom>
          <a:noFill/>
          <a:ln/>
        </p:spPr>
        <p:txBody>
          <a:bodyPr wrap="none" lIns="0" tIns="0" rIns="0" bIns="0" rtlCol="0" anchor="t"/>
          <a:lstStyle/>
          <a:p>
            <a:pPr marL="0" indent="0" algn="l">
              <a:lnSpc>
                <a:spcPct val="109000"/>
              </a:lnSpc>
              <a:buNone/>
            </a:pPr>
            <a:r>
              <a:rPr lang="en-US" sz="700" dirty="0">
                <a:solidFill>
                  <a:srgbClr val="E5E0DF"/>
                </a:solidFill>
                <a:latin typeface="Inter" pitchFamily="34" charset="0"/>
                <a:ea typeface="Inter" pitchFamily="34" charset="-122"/>
                <a:cs typeface="Inter" pitchFamily="34" charset="-120"/>
              </a:rPr>
              <a:t>Single source of truth, abstracting Firebase from business logic.</a:t>
            </a:r>
            <a:endParaRPr lang="en-US" sz="700" dirty="0"/>
          </a:p>
        </p:txBody>
      </p:sp>
      <p:pic>
        <p:nvPicPr>
          <p:cNvPr id="18" name="Picture 17"/>
          <p:cNvPicPr>
            <a:picLocks noChangeAspect="1"/>
          </p:cNvPicPr>
          <p:nvPr/>
        </p:nvPicPr>
        <p:blipFill>
          <a:blip r:embed="rId7"/>
          <a:stretch>
            <a:fillRect/>
          </a:stretch>
        </p:blipFill>
        <p:spPr>
          <a:xfrm>
            <a:off x="7805588" y="4704522"/>
            <a:ext cx="1338411" cy="37219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74489" y="323552"/>
            <a:ext cx="1289521" cy="207169"/>
          </a:xfrm>
          <a:prstGeom prst="roundRect">
            <a:avLst>
              <a:gd name="adj" fmla="val 18322"/>
            </a:avLst>
          </a:prstGeom>
          <a:noFill/>
          <a:ln w="4763">
            <a:solidFill>
              <a:srgbClr val="2B0AFF"/>
            </a:solidFill>
            <a:prstDash val="solid"/>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746968" y="381967"/>
            <a:ext cx="90339" cy="90339"/>
          </a:xfrm>
          <a:prstGeom prst="rect">
            <a:avLst/>
          </a:prstGeom>
        </p:spPr>
      </p:pic>
      <p:sp>
        <p:nvSpPr>
          <p:cNvPr id="4" name="Text 1"/>
          <p:cNvSpPr/>
          <p:nvPr/>
        </p:nvSpPr>
        <p:spPr>
          <a:xfrm>
            <a:off x="882476" y="362173"/>
            <a:ext cx="1466255" cy="129927"/>
          </a:xfrm>
          <a:prstGeom prst="rect">
            <a:avLst/>
          </a:prstGeom>
          <a:noFill/>
          <a:ln/>
        </p:spPr>
        <p:txBody>
          <a:bodyPr wrap="none" lIns="0" tIns="0" rIns="0" bIns="0" rtlCol="0" anchor="t"/>
          <a:lstStyle/>
          <a:p>
            <a:pPr marL="0" indent="0" algn="l">
              <a:lnSpc>
                <a:spcPct val="120000"/>
              </a:lnSpc>
              <a:buNone/>
            </a:pPr>
            <a:r>
              <a:rPr lang="en-US" sz="700" dirty="0">
                <a:solidFill>
                  <a:srgbClr val="2B0AFF"/>
                </a:solidFill>
                <a:latin typeface="Inter" pitchFamily="34" charset="0"/>
                <a:ea typeface="Inter" pitchFamily="34" charset="-122"/>
                <a:cs typeface="Inter" pitchFamily="34" charset="-120"/>
              </a:rPr>
              <a:t>MVVM ARCHITECTURE</a:t>
            </a:r>
            <a:endParaRPr lang="en-US" sz="700" dirty="0"/>
          </a:p>
        </p:txBody>
      </p:sp>
      <p:sp>
        <p:nvSpPr>
          <p:cNvPr id="5" name="Text 2"/>
          <p:cNvSpPr/>
          <p:nvPr/>
        </p:nvSpPr>
        <p:spPr>
          <a:xfrm>
            <a:off x="674489" y="566663"/>
            <a:ext cx="4730651" cy="352946"/>
          </a:xfrm>
          <a:prstGeom prst="rect">
            <a:avLst/>
          </a:prstGeom>
          <a:noFill/>
          <a:ln/>
        </p:spPr>
        <p:txBody>
          <a:bodyPr wrap="none" lIns="0" tIns="0" rIns="0" bIns="0" rtlCol="0" anchor="t"/>
          <a:lstStyle/>
          <a:p>
            <a:pPr marL="0" indent="0" algn="l">
              <a:lnSpc>
                <a:spcPct val="104000"/>
              </a:lnSpc>
              <a:buNone/>
            </a:pPr>
            <a:r>
              <a:rPr lang="en-US" sz="2200" b="1" dirty="0">
                <a:solidFill>
                  <a:srgbClr val="FFFFFF"/>
                </a:solidFill>
                <a:latin typeface="Inter Bold" pitchFamily="34" charset="0"/>
                <a:ea typeface="Inter Bold" pitchFamily="34" charset="-122"/>
                <a:cs typeface="Inter Bold" pitchFamily="34" charset="-120"/>
              </a:rPr>
              <a:t>Clean Architecture with MVVM</a:t>
            </a:r>
            <a:endParaRPr lang="en-US" sz="2200" dirty="0"/>
          </a:p>
        </p:txBody>
      </p:sp>
      <p:pic>
        <p:nvPicPr>
          <p:cNvPr id="6" name="Image 1" descr="preencoded.png"/>
          <p:cNvPicPr>
            <a:picLocks noChangeAspect="1"/>
          </p:cNvPicPr>
          <p:nvPr/>
        </p:nvPicPr>
        <p:blipFill>
          <a:blip r:embed="rId5"/>
          <a:stretch>
            <a:fillRect/>
          </a:stretch>
        </p:blipFill>
        <p:spPr>
          <a:xfrm>
            <a:off x="720403" y="1054596"/>
            <a:ext cx="7703121" cy="2873499"/>
          </a:xfrm>
          <a:prstGeom prst="rect">
            <a:avLst/>
          </a:prstGeom>
        </p:spPr>
      </p:pic>
      <p:sp>
        <p:nvSpPr>
          <p:cNvPr id="7" name="Text 3"/>
          <p:cNvSpPr/>
          <p:nvPr/>
        </p:nvSpPr>
        <p:spPr>
          <a:xfrm>
            <a:off x="875125" y="1153160"/>
            <a:ext cx="1668064" cy="219226"/>
          </a:xfrm>
          <a:prstGeom prst="rect">
            <a:avLst/>
          </a:prstGeom>
          <a:noFill/>
          <a:ln/>
        </p:spPr>
        <p:txBody>
          <a:bodyPr wrap="none" lIns="0" tIns="0" rIns="0" bIns="0" rtlCol="0" anchor="t"/>
          <a:lstStyle/>
          <a:p>
            <a:pPr marL="0" indent="0" algn="r">
              <a:lnSpc>
                <a:spcPct val="104000"/>
              </a:lnSpc>
              <a:buNone/>
            </a:pPr>
            <a:r>
              <a:rPr lang="en-US" sz="1350" b="1" dirty="0">
                <a:solidFill>
                  <a:srgbClr val="E5E0DF"/>
                </a:solidFill>
                <a:latin typeface="Inter Bold" pitchFamily="34" charset="0"/>
                <a:ea typeface="Inter Bold" pitchFamily="34" charset="-122"/>
                <a:cs typeface="Inter Bold" pitchFamily="34" charset="-120"/>
              </a:rPr>
              <a:t>View</a:t>
            </a:r>
            <a:endParaRPr lang="en-US" sz="1350" dirty="0"/>
          </a:p>
        </p:txBody>
      </p:sp>
      <p:sp>
        <p:nvSpPr>
          <p:cNvPr id="8" name="Text 4"/>
          <p:cNvSpPr/>
          <p:nvPr/>
        </p:nvSpPr>
        <p:spPr>
          <a:xfrm>
            <a:off x="1332325" y="1434743"/>
            <a:ext cx="1668064" cy="472431"/>
          </a:xfrm>
          <a:prstGeom prst="rect">
            <a:avLst/>
          </a:prstGeom>
          <a:noFill/>
          <a:ln/>
        </p:spPr>
        <p:txBody>
          <a:bodyPr wrap="square" lIns="0" tIns="0" rIns="0" bIns="0" rtlCol="0" anchor="t">
            <a:normAutofit lnSpcReduction="10000"/>
          </a:bodyPr>
          <a:lstStyle/>
          <a:p>
            <a:pPr marL="0" indent="0" algn="r">
              <a:lnSpc>
                <a:spcPct val="94000"/>
              </a:lnSpc>
              <a:buNone/>
            </a:pPr>
            <a:r>
              <a:rPr lang="en-US" sz="1100" dirty="0">
                <a:solidFill>
                  <a:srgbClr val="E5E0DF"/>
                </a:solidFill>
                <a:latin typeface="Inter" pitchFamily="34" charset="0"/>
                <a:ea typeface="Inter" pitchFamily="34" charset="-122"/>
                <a:cs typeface="Inter" pitchFamily="34" charset="-120"/>
              </a:rPr>
              <a:t>Compose observes StateFlow, handles events</a:t>
            </a:r>
            <a:endParaRPr lang="en-US" sz="1100" dirty="0"/>
          </a:p>
        </p:txBody>
      </p:sp>
      <p:sp>
        <p:nvSpPr>
          <p:cNvPr id="9" name="Text 5"/>
          <p:cNvSpPr/>
          <p:nvPr/>
        </p:nvSpPr>
        <p:spPr>
          <a:xfrm>
            <a:off x="6572062" y="1754082"/>
            <a:ext cx="2125264" cy="21922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ViewModel</a:t>
            </a:r>
            <a:endParaRPr lang="en-US" sz="1350" dirty="0"/>
          </a:p>
        </p:txBody>
      </p:sp>
      <p:sp>
        <p:nvSpPr>
          <p:cNvPr id="10" name="Text 6"/>
          <p:cNvSpPr/>
          <p:nvPr/>
        </p:nvSpPr>
        <p:spPr>
          <a:xfrm>
            <a:off x="6572062" y="2035665"/>
            <a:ext cx="1668064" cy="314954"/>
          </a:xfrm>
          <a:prstGeom prst="rect">
            <a:avLst/>
          </a:prstGeom>
          <a:noFill/>
          <a:ln/>
        </p:spPr>
        <p:txBody>
          <a:bodyPr wrap="square" lIns="0" tIns="0" rIns="0" bIns="0" rtlCol="0" anchor="t">
            <a:normAutofit lnSpcReduction="10000"/>
          </a:bodyPr>
          <a:lstStyle/>
          <a:p>
            <a:pPr marL="0" indent="0" algn="l">
              <a:lnSpc>
                <a:spcPct val="94000"/>
              </a:lnSpc>
              <a:buNone/>
            </a:pPr>
            <a:r>
              <a:rPr lang="en-US" sz="1100" dirty="0">
                <a:solidFill>
                  <a:srgbClr val="E5E0DF"/>
                </a:solidFill>
                <a:latin typeface="Inter" pitchFamily="34" charset="0"/>
                <a:ea typeface="Inter" pitchFamily="34" charset="-122"/>
                <a:cs typeface="Inter" pitchFamily="34" charset="-120"/>
              </a:rPr>
              <a:t>Holds StateFlow, launches Coroutines</a:t>
            </a:r>
            <a:endParaRPr lang="en-US" sz="1100" dirty="0"/>
          </a:p>
        </p:txBody>
      </p:sp>
      <p:sp>
        <p:nvSpPr>
          <p:cNvPr id="11" name="Text 7"/>
          <p:cNvSpPr/>
          <p:nvPr/>
        </p:nvSpPr>
        <p:spPr>
          <a:xfrm>
            <a:off x="446417" y="2354273"/>
            <a:ext cx="1668064" cy="219226"/>
          </a:xfrm>
          <a:prstGeom prst="rect">
            <a:avLst/>
          </a:prstGeom>
          <a:noFill/>
          <a:ln/>
        </p:spPr>
        <p:txBody>
          <a:bodyPr wrap="none" lIns="0" tIns="0" rIns="0" bIns="0" rtlCol="0" anchor="t"/>
          <a:lstStyle/>
          <a:p>
            <a:pPr marL="0" indent="0" algn="r">
              <a:lnSpc>
                <a:spcPct val="104000"/>
              </a:lnSpc>
              <a:buNone/>
            </a:pPr>
            <a:r>
              <a:rPr lang="en-US" sz="1350" b="1" dirty="0">
                <a:solidFill>
                  <a:srgbClr val="E5E0DF"/>
                </a:solidFill>
                <a:latin typeface="Inter Bold" pitchFamily="34" charset="0"/>
                <a:ea typeface="Inter Bold" pitchFamily="34" charset="-122"/>
                <a:cs typeface="Inter Bold" pitchFamily="34" charset="-120"/>
              </a:rPr>
              <a:t>Repository</a:t>
            </a:r>
            <a:endParaRPr lang="en-US" sz="1350" dirty="0"/>
          </a:p>
        </p:txBody>
      </p:sp>
      <p:sp>
        <p:nvSpPr>
          <p:cNvPr id="12" name="Text 8"/>
          <p:cNvSpPr/>
          <p:nvPr/>
        </p:nvSpPr>
        <p:spPr>
          <a:xfrm>
            <a:off x="903617" y="2635856"/>
            <a:ext cx="1668064" cy="314954"/>
          </a:xfrm>
          <a:prstGeom prst="rect">
            <a:avLst/>
          </a:prstGeom>
          <a:noFill/>
          <a:ln/>
        </p:spPr>
        <p:txBody>
          <a:bodyPr wrap="square" lIns="0" tIns="0" rIns="0" bIns="0" rtlCol="0" anchor="t">
            <a:normAutofit lnSpcReduction="10000"/>
          </a:bodyPr>
          <a:lstStyle/>
          <a:p>
            <a:pPr marL="0" indent="0" algn="r">
              <a:lnSpc>
                <a:spcPct val="94000"/>
              </a:lnSpc>
              <a:buNone/>
            </a:pPr>
            <a:r>
              <a:rPr lang="en-US" sz="1100" dirty="0">
                <a:solidFill>
                  <a:srgbClr val="E5E0DF"/>
                </a:solidFill>
                <a:latin typeface="Inter" pitchFamily="34" charset="0"/>
                <a:ea typeface="Inter" pitchFamily="34" charset="-122"/>
                <a:cs typeface="Inter" pitchFamily="34" charset="-120"/>
              </a:rPr>
              <a:t>Abstracts sources, mapping and caching</a:t>
            </a:r>
            <a:endParaRPr lang="en-US" sz="1100" dirty="0"/>
          </a:p>
        </p:txBody>
      </p:sp>
      <p:sp>
        <p:nvSpPr>
          <p:cNvPr id="13" name="Text 9"/>
          <p:cNvSpPr/>
          <p:nvPr/>
        </p:nvSpPr>
        <p:spPr>
          <a:xfrm>
            <a:off x="6572062" y="3079179"/>
            <a:ext cx="2125264" cy="21922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Firebase</a:t>
            </a:r>
            <a:endParaRPr lang="en-US" sz="1350" dirty="0"/>
          </a:p>
        </p:txBody>
      </p:sp>
      <p:sp>
        <p:nvSpPr>
          <p:cNvPr id="14" name="Text 10"/>
          <p:cNvSpPr/>
          <p:nvPr/>
        </p:nvSpPr>
        <p:spPr>
          <a:xfrm>
            <a:off x="6572062" y="3360762"/>
            <a:ext cx="1668064" cy="314954"/>
          </a:xfrm>
          <a:prstGeom prst="rect">
            <a:avLst/>
          </a:prstGeom>
          <a:noFill/>
          <a:ln/>
        </p:spPr>
        <p:txBody>
          <a:bodyPr wrap="square" lIns="0" tIns="0" rIns="0" bIns="0" rtlCol="0" anchor="t">
            <a:normAutofit lnSpcReduction="10000"/>
          </a:bodyPr>
          <a:lstStyle/>
          <a:p>
            <a:pPr marL="0" indent="0" algn="l">
              <a:lnSpc>
                <a:spcPct val="94000"/>
              </a:lnSpc>
              <a:buNone/>
            </a:pPr>
            <a:r>
              <a:rPr lang="en-US" sz="1100" dirty="0">
                <a:solidFill>
                  <a:srgbClr val="E5E0DF"/>
                </a:solidFill>
                <a:latin typeface="Inter" pitchFamily="34" charset="0"/>
                <a:ea typeface="Inter" pitchFamily="34" charset="-122"/>
                <a:cs typeface="Inter" pitchFamily="34" charset="-120"/>
              </a:rPr>
              <a:t>Firestore listener, Auth, DataStore</a:t>
            </a:r>
            <a:endParaRPr lang="en-US" sz="1100" dirty="0"/>
          </a:p>
        </p:txBody>
      </p:sp>
      <p:sp>
        <p:nvSpPr>
          <p:cNvPr id="15" name="Shape 11"/>
          <p:cNvSpPr/>
          <p:nvPr/>
        </p:nvSpPr>
        <p:spPr>
          <a:xfrm>
            <a:off x="674489" y="4029298"/>
            <a:ext cx="2538338" cy="790649"/>
          </a:xfrm>
          <a:prstGeom prst="roundRect">
            <a:avLst>
              <a:gd name="adj" fmla="val 6001"/>
            </a:avLst>
          </a:prstGeom>
          <a:solidFill>
            <a:srgbClr val="110080"/>
          </a:solidFill>
          <a:ln w="4763">
            <a:solidFill>
              <a:srgbClr val="2A1999"/>
            </a:solidFill>
            <a:prstDash val="solid"/>
          </a:ln>
        </p:spPr>
      </p:sp>
      <p:sp>
        <p:nvSpPr>
          <p:cNvPr id="16" name="Text 12"/>
          <p:cNvSpPr/>
          <p:nvPr/>
        </p:nvSpPr>
        <p:spPr>
          <a:xfrm>
            <a:off x="792212" y="4147021"/>
            <a:ext cx="1869281" cy="176510"/>
          </a:xfrm>
          <a:prstGeom prst="rect">
            <a:avLst/>
          </a:prstGeom>
          <a:noFill/>
          <a:ln/>
        </p:spPr>
        <p:txBody>
          <a:bodyPr wrap="none" lIns="0" tIns="0" rIns="0" bIns="0" rtlCol="0" anchor="t"/>
          <a:lstStyle/>
          <a:p>
            <a:pPr marL="0" indent="0" algn="l">
              <a:lnSpc>
                <a:spcPct val="104000"/>
              </a:lnSpc>
              <a:buNone/>
            </a:pPr>
            <a:r>
              <a:rPr lang="en-US" sz="1100" b="1" dirty="0">
                <a:solidFill>
                  <a:srgbClr val="E5E0DF"/>
                </a:solidFill>
                <a:latin typeface="Inter Bold" pitchFamily="34" charset="0"/>
                <a:ea typeface="Inter Bold" pitchFamily="34" charset="-122"/>
                <a:cs typeface="Inter Bold" pitchFamily="34" charset="-120"/>
              </a:rPr>
              <a:t>StateFlow</a:t>
            </a:r>
            <a:endParaRPr lang="en-US" sz="1100" dirty="0"/>
          </a:p>
        </p:txBody>
      </p:sp>
      <p:sp>
        <p:nvSpPr>
          <p:cNvPr id="17" name="Text 13"/>
          <p:cNvSpPr/>
          <p:nvPr/>
        </p:nvSpPr>
        <p:spPr>
          <a:xfrm>
            <a:off x="792212" y="4377482"/>
            <a:ext cx="2302892"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E5E0DF"/>
                </a:solidFill>
                <a:latin typeface="Inter" pitchFamily="34" charset="0"/>
                <a:ea typeface="Inter" pitchFamily="34" charset="-122"/>
                <a:cs typeface="Inter" pitchFamily="34" charset="-120"/>
              </a:rPr>
              <a:t>Hot stream of UI state. Compose collects reactively — no manual lifecycle handling.</a:t>
            </a:r>
            <a:endParaRPr lang="en-US" sz="850" dirty="0"/>
          </a:p>
        </p:txBody>
      </p:sp>
      <p:sp>
        <p:nvSpPr>
          <p:cNvPr id="18" name="Shape 14"/>
          <p:cNvSpPr/>
          <p:nvPr/>
        </p:nvSpPr>
        <p:spPr>
          <a:xfrm>
            <a:off x="3302794" y="4029298"/>
            <a:ext cx="2538338" cy="790649"/>
          </a:xfrm>
          <a:prstGeom prst="roundRect">
            <a:avLst>
              <a:gd name="adj" fmla="val 6001"/>
            </a:avLst>
          </a:prstGeom>
          <a:solidFill>
            <a:srgbClr val="110080"/>
          </a:solidFill>
          <a:ln w="4763">
            <a:solidFill>
              <a:srgbClr val="2A1999"/>
            </a:solidFill>
            <a:prstDash val="solid"/>
          </a:ln>
        </p:spPr>
      </p:sp>
      <p:sp>
        <p:nvSpPr>
          <p:cNvPr id="19" name="Text 15"/>
          <p:cNvSpPr/>
          <p:nvPr/>
        </p:nvSpPr>
        <p:spPr>
          <a:xfrm>
            <a:off x="3420517" y="4147021"/>
            <a:ext cx="1869281" cy="176510"/>
          </a:xfrm>
          <a:prstGeom prst="rect">
            <a:avLst/>
          </a:prstGeom>
          <a:noFill/>
          <a:ln/>
        </p:spPr>
        <p:txBody>
          <a:bodyPr wrap="none" lIns="0" tIns="0" rIns="0" bIns="0" rtlCol="0" anchor="t"/>
          <a:lstStyle/>
          <a:p>
            <a:pPr marL="0" indent="0" algn="l">
              <a:lnSpc>
                <a:spcPct val="104000"/>
              </a:lnSpc>
              <a:buNone/>
            </a:pPr>
            <a:r>
              <a:rPr lang="en-US" sz="1100" b="1" dirty="0">
                <a:solidFill>
                  <a:srgbClr val="E5E0DF"/>
                </a:solidFill>
                <a:latin typeface="Inter Bold" pitchFamily="34" charset="0"/>
                <a:ea typeface="Inter Bold" pitchFamily="34" charset="-122"/>
                <a:cs typeface="Inter Bold" pitchFamily="34" charset="-120"/>
              </a:rPr>
              <a:t>Coroutines</a:t>
            </a:r>
            <a:endParaRPr lang="en-US" sz="1100" dirty="0"/>
          </a:p>
        </p:txBody>
      </p:sp>
      <p:sp>
        <p:nvSpPr>
          <p:cNvPr id="20" name="Text 16"/>
          <p:cNvSpPr/>
          <p:nvPr/>
        </p:nvSpPr>
        <p:spPr>
          <a:xfrm>
            <a:off x="3420517" y="4377482"/>
            <a:ext cx="2302892"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E5E0DF"/>
                </a:solidFill>
                <a:latin typeface="Inter" pitchFamily="34" charset="0"/>
                <a:ea typeface="Inter" pitchFamily="34" charset="-122"/>
                <a:cs typeface="Inter" pitchFamily="34" charset="-120"/>
              </a:rPr>
              <a:t>Structured concurrency for async Firebase operations without callback hell.</a:t>
            </a:r>
            <a:endParaRPr lang="en-US" sz="850" dirty="0"/>
          </a:p>
        </p:txBody>
      </p:sp>
      <p:sp>
        <p:nvSpPr>
          <p:cNvPr id="21" name="Shape 17"/>
          <p:cNvSpPr/>
          <p:nvPr/>
        </p:nvSpPr>
        <p:spPr>
          <a:xfrm>
            <a:off x="5931098" y="4029298"/>
            <a:ext cx="2538338" cy="790649"/>
          </a:xfrm>
          <a:prstGeom prst="roundRect">
            <a:avLst>
              <a:gd name="adj" fmla="val 6001"/>
            </a:avLst>
          </a:prstGeom>
          <a:solidFill>
            <a:srgbClr val="110080"/>
          </a:solidFill>
          <a:ln w="4763">
            <a:solidFill>
              <a:srgbClr val="2A1999"/>
            </a:solidFill>
            <a:prstDash val="solid"/>
          </a:ln>
        </p:spPr>
      </p:sp>
      <p:sp>
        <p:nvSpPr>
          <p:cNvPr id="22" name="Text 18"/>
          <p:cNvSpPr/>
          <p:nvPr/>
        </p:nvSpPr>
        <p:spPr>
          <a:xfrm>
            <a:off x="6048821" y="4147021"/>
            <a:ext cx="1869281" cy="176510"/>
          </a:xfrm>
          <a:prstGeom prst="rect">
            <a:avLst/>
          </a:prstGeom>
          <a:noFill/>
          <a:ln/>
        </p:spPr>
        <p:txBody>
          <a:bodyPr wrap="none" lIns="0" tIns="0" rIns="0" bIns="0" rtlCol="0" anchor="t"/>
          <a:lstStyle/>
          <a:p>
            <a:pPr marL="0" indent="0" algn="l">
              <a:lnSpc>
                <a:spcPct val="104000"/>
              </a:lnSpc>
              <a:buNone/>
            </a:pPr>
            <a:r>
              <a:rPr lang="en-US" sz="1100" b="1" dirty="0">
                <a:solidFill>
                  <a:srgbClr val="E5E0DF"/>
                </a:solidFill>
                <a:latin typeface="Inter Bold" pitchFamily="34" charset="0"/>
                <a:ea typeface="Inter Bold" pitchFamily="34" charset="-122"/>
                <a:cs typeface="Inter Bold" pitchFamily="34" charset="-120"/>
              </a:rPr>
              <a:t>Hilt DI</a:t>
            </a:r>
            <a:endParaRPr lang="en-US" sz="1100" dirty="0"/>
          </a:p>
        </p:txBody>
      </p:sp>
      <p:sp>
        <p:nvSpPr>
          <p:cNvPr id="23" name="Text 19"/>
          <p:cNvSpPr/>
          <p:nvPr/>
        </p:nvSpPr>
        <p:spPr>
          <a:xfrm>
            <a:off x="6048821" y="4377482"/>
            <a:ext cx="2302892" cy="324743"/>
          </a:xfrm>
          <a:prstGeom prst="rect">
            <a:avLst/>
          </a:prstGeom>
          <a:noFill/>
          <a:ln/>
        </p:spPr>
        <p:txBody>
          <a:bodyPr wrap="square" lIns="0" tIns="0" rIns="0" bIns="0" rtlCol="0" anchor="t">
            <a:normAutofit/>
          </a:bodyPr>
          <a:lstStyle/>
          <a:p>
            <a:pPr marL="0" indent="0" algn="l">
              <a:lnSpc>
                <a:spcPct val="120000"/>
              </a:lnSpc>
              <a:buNone/>
            </a:pPr>
            <a:r>
              <a:rPr lang="en-US" sz="850" dirty="0">
                <a:solidFill>
                  <a:srgbClr val="E5E0DF"/>
                </a:solidFill>
                <a:latin typeface="Inter" pitchFamily="34" charset="0"/>
                <a:ea typeface="Inter" pitchFamily="34" charset="-122"/>
                <a:cs typeface="Inter" pitchFamily="34" charset="-120"/>
              </a:rPr>
              <a:t>Compile-time dependency injection. Scoped ViewModels, testable repositories.</a:t>
            </a:r>
            <a:endParaRPr lang="en-US" sz="850" dirty="0"/>
          </a:p>
        </p:txBody>
      </p:sp>
      <p:pic>
        <p:nvPicPr>
          <p:cNvPr id="24" name="Picture 23"/>
          <p:cNvPicPr>
            <a:picLocks noChangeAspect="1"/>
          </p:cNvPicPr>
          <p:nvPr/>
        </p:nvPicPr>
        <p:blipFill>
          <a:blip r:embed="rId6"/>
          <a:stretch>
            <a:fillRect/>
          </a:stretch>
        </p:blipFill>
        <p:spPr>
          <a:xfrm>
            <a:off x="7800230" y="4873898"/>
            <a:ext cx="1338411" cy="269602"/>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50912" y="348555"/>
            <a:ext cx="819820" cy="192658"/>
          </a:xfrm>
          <a:prstGeom prst="roundRect">
            <a:avLst>
              <a:gd name="adj" fmla="val 19316"/>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17364" y="400571"/>
            <a:ext cx="88553" cy="88553"/>
          </a:xfrm>
          <a:prstGeom prst="rect">
            <a:avLst/>
          </a:prstGeom>
        </p:spPr>
      </p:pic>
      <p:sp>
        <p:nvSpPr>
          <p:cNvPr id="4" name="Text 1"/>
          <p:cNvSpPr/>
          <p:nvPr/>
        </p:nvSpPr>
        <p:spPr>
          <a:xfrm>
            <a:off x="950193" y="381744"/>
            <a:ext cx="1011287" cy="126281"/>
          </a:xfrm>
          <a:prstGeom prst="rect">
            <a:avLst/>
          </a:prstGeom>
          <a:noFill/>
          <a:ln/>
        </p:spPr>
        <p:txBody>
          <a:bodyPr wrap="none" lIns="0" tIns="0" rIns="0" bIns="0" rtlCol="0" anchor="t"/>
          <a:lstStyle/>
          <a:p>
            <a:pPr marL="0" indent="0" algn="l">
              <a:lnSpc>
                <a:spcPct val="119000"/>
              </a:lnSpc>
              <a:buNone/>
            </a:pPr>
            <a:r>
              <a:rPr lang="en-US" sz="650" dirty="0">
                <a:solidFill>
                  <a:srgbClr val="E5E0DF"/>
                </a:solidFill>
                <a:latin typeface="Inter" pitchFamily="34" charset="0"/>
                <a:ea typeface="Inter" pitchFamily="34" charset="-122"/>
                <a:cs typeface="Inter" pitchFamily="34" charset="-120"/>
              </a:rPr>
              <a:t>TECH STACK</a:t>
            </a:r>
            <a:endParaRPr lang="en-US" sz="650" dirty="0"/>
          </a:p>
        </p:txBody>
      </p:sp>
      <p:sp>
        <p:nvSpPr>
          <p:cNvPr id="5" name="Text 2"/>
          <p:cNvSpPr/>
          <p:nvPr/>
        </p:nvSpPr>
        <p:spPr>
          <a:xfrm>
            <a:off x="750912" y="575816"/>
            <a:ext cx="5523235" cy="346100"/>
          </a:xfrm>
          <a:prstGeom prst="rect">
            <a:avLst/>
          </a:prstGeom>
          <a:noFill/>
          <a:ln/>
        </p:spPr>
        <p:txBody>
          <a:bodyPr wrap="none" lIns="0" tIns="0" rIns="0" bIns="0" rtlCol="0" anchor="t"/>
          <a:lstStyle/>
          <a:p>
            <a:pPr marL="0" indent="0" algn="l">
              <a:lnSpc>
                <a:spcPct val="104000"/>
              </a:lnSpc>
              <a:buNone/>
            </a:pPr>
            <a:r>
              <a:rPr lang="en-US" sz="2150" b="1" dirty="0">
                <a:solidFill>
                  <a:srgbClr val="FFFFFF"/>
                </a:solidFill>
                <a:latin typeface="Inter Bold" pitchFamily="34" charset="0"/>
                <a:ea typeface="Inter Bold" pitchFamily="34" charset="-122"/>
                <a:cs typeface="Inter Bold" pitchFamily="34" charset="-120"/>
              </a:rPr>
              <a:t>Engineering-Grade Technology Stack</a:t>
            </a:r>
            <a:endParaRPr lang="en-US" sz="2150" dirty="0"/>
          </a:p>
        </p:txBody>
      </p:sp>
      <p:sp>
        <p:nvSpPr>
          <p:cNvPr id="6" name="Shape 3"/>
          <p:cNvSpPr/>
          <p:nvPr/>
        </p:nvSpPr>
        <p:spPr>
          <a:xfrm>
            <a:off x="750912" y="1051694"/>
            <a:ext cx="3777779" cy="1190104"/>
          </a:xfrm>
          <a:prstGeom prst="roundRect">
            <a:avLst>
              <a:gd name="adj" fmla="val 3909"/>
            </a:avLst>
          </a:prstGeom>
          <a:solidFill>
            <a:srgbClr val="110080"/>
          </a:solidFill>
          <a:ln w="4763">
            <a:solidFill>
              <a:srgbClr val="2A1999"/>
            </a:solidFill>
            <a:prstDash val="solid"/>
          </a:ln>
        </p:spPr>
      </p:sp>
      <p:sp>
        <p:nvSpPr>
          <p:cNvPr id="7" name="Shape 4"/>
          <p:cNvSpPr/>
          <p:nvPr/>
        </p:nvSpPr>
        <p:spPr>
          <a:xfrm>
            <a:off x="866403" y="1167185"/>
            <a:ext cx="332259" cy="332259"/>
          </a:xfrm>
          <a:prstGeom prst="roundRect">
            <a:avLst>
              <a:gd name="adj" fmla="val 17198717"/>
            </a:avLst>
          </a:prstGeom>
          <a:solidFill>
            <a:srgbClr val="2B0AFF"/>
          </a:solidFill>
          <a:ln/>
        </p:spPr>
      </p:sp>
      <p:pic>
        <p:nvPicPr>
          <p:cNvPr id="8"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957783" y="1258565"/>
            <a:ext cx="149498" cy="149498"/>
          </a:xfrm>
          <a:prstGeom prst="rect">
            <a:avLst/>
          </a:prstGeom>
        </p:spPr>
      </p:pic>
      <p:sp>
        <p:nvSpPr>
          <p:cNvPr id="9" name="Text 5"/>
          <p:cNvSpPr/>
          <p:nvPr/>
        </p:nvSpPr>
        <p:spPr>
          <a:xfrm>
            <a:off x="866403" y="1585913"/>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Kotlin</a:t>
            </a:r>
            <a:endParaRPr lang="en-US" sz="1050" dirty="0"/>
          </a:p>
        </p:txBody>
      </p:sp>
      <p:sp>
        <p:nvSpPr>
          <p:cNvPr id="10" name="Text 6"/>
          <p:cNvSpPr/>
          <p:nvPr/>
        </p:nvSpPr>
        <p:spPr>
          <a:xfrm>
            <a:off x="866403" y="1810792"/>
            <a:ext cx="3546797"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100% Kotlin codebase. Null-safety, extension functions, coroutine-native.</a:t>
            </a:r>
            <a:endParaRPr lang="en-US" sz="850" dirty="0"/>
          </a:p>
        </p:txBody>
      </p:sp>
      <p:sp>
        <p:nvSpPr>
          <p:cNvPr id="11" name="Shape 7"/>
          <p:cNvSpPr/>
          <p:nvPr/>
        </p:nvSpPr>
        <p:spPr>
          <a:xfrm>
            <a:off x="4615160" y="1051694"/>
            <a:ext cx="3777853" cy="1190104"/>
          </a:xfrm>
          <a:prstGeom prst="roundRect">
            <a:avLst>
              <a:gd name="adj" fmla="val 3909"/>
            </a:avLst>
          </a:prstGeom>
          <a:solidFill>
            <a:srgbClr val="110080"/>
          </a:solidFill>
          <a:ln w="4763">
            <a:solidFill>
              <a:srgbClr val="2A1999"/>
            </a:solidFill>
            <a:prstDash val="solid"/>
          </a:ln>
        </p:spPr>
      </p:sp>
      <p:sp>
        <p:nvSpPr>
          <p:cNvPr id="12" name="Shape 8"/>
          <p:cNvSpPr/>
          <p:nvPr/>
        </p:nvSpPr>
        <p:spPr>
          <a:xfrm>
            <a:off x="4730651" y="1167185"/>
            <a:ext cx="332259" cy="332259"/>
          </a:xfrm>
          <a:prstGeom prst="roundRect">
            <a:avLst>
              <a:gd name="adj" fmla="val 17198717"/>
            </a:avLst>
          </a:prstGeom>
          <a:solidFill>
            <a:srgbClr val="2B0AFF"/>
          </a:solidFill>
          <a:ln/>
        </p:spPr>
      </p:sp>
      <p:pic>
        <p:nvPicPr>
          <p:cNvPr id="13"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4822031" y="1258565"/>
            <a:ext cx="149498" cy="149498"/>
          </a:xfrm>
          <a:prstGeom prst="rect">
            <a:avLst/>
          </a:prstGeom>
        </p:spPr>
      </p:pic>
      <p:sp>
        <p:nvSpPr>
          <p:cNvPr id="14" name="Text 9"/>
          <p:cNvSpPr/>
          <p:nvPr/>
        </p:nvSpPr>
        <p:spPr>
          <a:xfrm>
            <a:off x="4730651" y="1585913"/>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Jetpack Compose</a:t>
            </a:r>
            <a:endParaRPr lang="en-US" sz="1050" dirty="0"/>
          </a:p>
        </p:txBody>
      </p:sp>
      <p:sp>
        <p:nvSpPr>
          <p:cNvPr id="15" name="Text 10"/>
          <p:cNvSpPr/>
          <p:nvPr/>
        </p:nvSpPr>
        <p:spPr>
          <a:xfrm>
            <a:off x="4730651" y="1810792"/>
            <a:ext cx="3546872"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Declarative UI with Material 3 theming and smooth animated transitions.</a:t>
            </a:r>
            <a:endParaRPr lang="en-US" sz="850" dirty="0"/>
          </a:p>
        </p:txBody>
      </p:sp>
      <p:sp>
        <p:nvSpPr>
          <p:cNvPr id="16" name="Shape 11"/>
          <p:cNvSpPr/>
          <p:nvPr/>
        </p:nvSpPr>
        <p:spPr>
          <a:xfrm>
            <a:off x="750912" y="2328267"/>
            <a:ext cx="3777779" cy="1190104"/>
          </a:xfrm>
          <a:prstGeom prst="roundRect">
            <a:avLst>
              <a:gd name="adj" fmla="val 3909"/>
            </a:avLst>
          </a:prstGeom>
          <a:solidFill>
            <a:srgbClr val="110080"/>
          </a:solidFill>
          <a:ln w="4763">
            <a:solidFill>
              <a:srgbClr val="2A1999"/>
            </a:solidFill>
            <a:prstDash val="solid"/>
          </a:ln>
        </p:spPr>
      </p:sp>
      <p:sp>
        <p:nvSpPr>
          <p:cNvPr id="17" name="Shape 12"/>
          <p:cNvSpPr/>
          <p:nvPr/>
        </p:nvSpPr>
        <p:spPr>
          <a:xfrm>
            <a:off x="866403" y="2443758"/>
            <a:ext cx="332259" cy="332259"/>
          </a:xfrm>
          <a:prstGeom prst="roundRect">
            <a:avLst>
              <a:gd name="adj" fmla="val 17198717"/>
            </a:avLst>
          </a:prstGeom>
          <a:solidFill>
            <a:srgbClr val="2B0AFF"/>
          </a:solidFill>
          <a:ln/>
        </p:spPr>
      </p:sp>
      <p:pic>
        <p:nvPicPr>
          <p:cNvPr id="18"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957783" y="2535138"/>
            <a:ext cx="149498" cy="149498"/>
          </a:xfrm>
          <a:prstGeom prst="rect">
            <a:avLst/>
          </a:prstGeom>
        </p:spPr>
      </p:pic>
      <p:sp>
        <p:nvSpPr>
          <p:cNvPr id="19" name="Text 13"/>
          <p:cNvSpPr/>
          <p:nvPr/>
        </p:nvSpPr>
        <p:spPr>
          <a:xfrm>
            <a:off x="866403" y="2862486"/>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Firebase</a:t>
            </a:r>
            <a:endParaRPr lang="en-US" sz="1050" dirty="0"/>
          </a:p>
        </p:txBody>
      </p:sp>
      <p:sp>
        <p:nvSpPr>
          <p:cNvPr id="20" name="Text 14"/>
          <p:cNvSpPr/>
          <p:nvPr/>
        </p:nvSpPr>
        <p:spPr>
          <a:xfrm>
            <a:off x="866403" y="3087365"/>
            <a:ext cx="3546797"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Authentication, Firestore real-time DB, and Remote Config for cloud-driven features.</a:t>
            </a:r>
            <a:endParaRPr lang="en-US" sz="850" dirty="0"/>
          </a:p>
        </p:txBody>
      </p:sp>
      <p:sp>
        <p:nvSpPr>
          <p:cNvPr id="21" name="Shape 15"/>
          <p:cNvSpPr/>
          <p:nvPr/>
        </p:nvSpPr>
        <p:spPr>
          <a:xfrm>
            <a:off x="4615159" y="2328267"/>
            <a:ext cx="3777853" cy="1190104"/>
          </a:xfrm>
          <a:prstGeom prst="roundRect">
            <a:avLst>
              <a:gd name="adj" fmla="val 3909"/>
            </a:avLst>
          </a:prstGeom>
          <a:solidFill>
            <a:srgbClr val="110080"/>
          </a:solidFill>
          <a:ln w="4763">
            <a:solidFill>
              <a:srgbClr val="2A1999"/>
            </a:solidFill>
            <a:prstDash val="solid"/>
          </a:ln>
        </p:spPr>
      </p:sp>
      <p:sp>
        <p:nvSpPr>
          <p:cNvPr id="22" name="Shape 16"/>
          <p:cNvSpPr/>
          <p:nvPr/>
        </p:nvSpPr>
        <p:spPr>
          <a:xfrm>
            <a:off x="4730651" y="2443758"/>
            <a:ext cx="332259" cy="332259"/>
          </a:xfrm>
          <a:prstGeom prst="roundRect">
            <a:avLst>
              <a:gd name="adj" fmla="val 17198717"/>
            </a:avLst>
          </a:prstGeom>
          <a:solidFill>
            <a:srgbClr val="2B0AFF"/>
          </a:solidFill>
          <a:ln/>
        </p:spPr>
      </p:sp>
      <p:pic>
        <p:nvPicPr>
          <p:cNvPr id="23" name="Image 4" descr="preencoded.png"/>
          <p:cNvPicPr>
            <a:picLocks noChangeAspect="1"/>
          </p:cNvPicPr>
          <p:nvPr/>
        </p:nvPicPr>
        <p:blipFill>
          <a:blip r:embed="rId3">
            <a:extLst>
              <a:ext uri="{96DAC541-7B7A-43D3-8B79-37D633B846F1}">
                <asvg:svgBlip xmlns:asvg="http://schemas.microsoft.com/office/drawing/2016/SVG/main" xmlns="" r:embed="rId10"/>
              </a:ext>
            </a:extLst>
          </a:blip>
          <a:stretch>
            <a:fillRect/>
          </a:stretch>
        </p:blipFill>
        <p:spPr>
          <a:xfrm>
            <a:off x="4822031" y="2535138"/>
            <a:ext cx="149498" cy="149498"/>
          </a:xfrm>
          <a:prstGeom prst="rect">
            <a:avLst/>
          </a:prstGeom>
        </p:spPr>
      </p:pic>
      <p:sp>
        <p:nvSpPr>
          <p:cNvPr id="24" name="Text 17"/>
          <p:cNvSpPr/>
          <p:nvPr/>
        </p:nvSpPr>
        <p:spPr>
          <a:xfrm>
            <a:off x="4730651" y="2862486"/>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Hilt DI</a:t>
            </a:r>
            <a:endParaRPr lang="en-US" sz="1050" dirty="0"/>
          </a:p>
        </p:txBody>
      </p:sp>
      <p:sp>
        <p:nvSpPr>
          <p:cNvPr id="25" name="Text 18"/>
          <p:cNvSpPr/>
          <p:nvPr/>
        </p:nvSpPr>
        <p:spPr>
          <a:xfrm>
            <a:off x="4730651" y="3087365"/>
            <a:ext cx="3546872"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Google-recommended DI built on Dagger. Scoped, testable, compile-safe.</a:t>
            </a:r>
            <a:endParaRPr lang="en-US" sz="850" dirty="0"/>
          </a:p>
        </p:txBody>
      </p:sp>
      <p:sp>
        <p:nvSpPr>
          <p:cNvPr id="26" name="Shape 19"/>
          <p:cNvSpPr/>
          <p:nvPr/>
        </p:nvSpPr>
        <p:spPr>
          <a:xfrm>
            <a:off x="750912" y="3604840"/>
            <a:ext cx="3777779" cy="1190104"/>
          </a:xfrm>
          <a:prstGeom prst="roundRect">
            <a:avLst>
              <a:gd name="adj" fmla="val 3909"/>
            </a:avLst>
          </a:prstGeom>
          <a:solidFill>
            <a:srgbClr val="110080"/>
          </a:solidFill>
          <a:ln w="4763">
            <a:solidFill>
              <a:srgbClr val="2A1999"/>
            </a:solidFill>
            <a:prstDash val="solid"/>
          </a:ln>
        </p:spPr>
      </p:sp>
      <p:sp>
        <p:nvSpPr>
          <p:cNvPr id="27" name="Shape 20"/>
          <p:cNvSpPr/>
          <p:nvPr/>
        </p:nvSpPr>
        <p:spPr>
          <a:xfrm>
            <a:off x="866403" y="3720331"/>
            <a:ext cx="332259" cy="332259"/>
          </a:xfrm>
          <a:prstGeom prst="roundRect">
            <a:avLst>
              <a:gd name="adj" fmla="val 17198717"/>
            </a:avLst>
          </a:prstGeom>
          <a:solidFill>
            <a:srgbClr val="2B0AFF"/>
          </a:solidFill>
          <a:ln/>
        </p:spPr>
      </p:sp>
      <p:pic>
        <p:nvPicPr>
          <p:cNvPr id="28" name="Image 5" descr="preencoded.png"/>
          <p:cNvPicPr>
            <a:picLocks noChangeAspect="1"/>
          </p:cNvPicPr>
          <p:nvPr/>
        </p:nvPicPr>
        <p:blipFill>
          <a:blip r:embed="rId3">
            <a:extLst>
              <a:ext uri="{96DAC541-7B7A-43D3-8B79-37D633B846F1}">
                <asvg:svgBlip xmlns:asvg="http://schemas.microsoft.com/office/drawing/2016/SVG/main" xmlns="" r:embed="rId12"/>
              </a:ext>
            </a:extLst>
          </a:blip>
          <a:stretch>
            <a:fillRect/>
          </a:stretch>
        </p:blipFill>
        <p:spPr>
          <a:xfrm>
            <a:off x="957783" y="3811712"/>
            <a:ext cx="149498" cy="149498"/>
          </a:xfrm>
          <a:prstGeom prst="rect">
            <a:avLst/>
          </a:prstGeom>
        </p:spPr>
      </p:pic>
      <p:sp>
        <p:nvSpPr>
          <p:cNvPr id="29" name="Text 21"/>
          <p:cNvSpPr/>
          <p:nvPr/>
        </p:nvSpPr>
        <p:spPr>
          <a:xfrm>
            <a:off x="866403" y="4139059"/>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Vico Charts</a:t>
            </a:r>
            <a:endParaRPr lang="en-US" sz="1050" dirty="0"/>
          </a:p>
        </p:txBody>
      </p:sp>
      <p:sp>
        <p:nvSpPr>
          <p:cNvPr id="30" name="Text 22"/>
          <p:cNvSpPr/>
          <p:nvPr/>
        </p:nvSpPr>
        <p:spPr>
          <a:xfrm>
            <a:off x="866403" y="4363938"/>
            <a:ext cx="3546797"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Beautiful, performant Compose-native charts for analytics dashboards.</a:t>
            </a:r>
            <a:endParaRPr lang="en-US" sz="850" dirty="0"/>
          </a:p>
        </p:txBody>
      </p:sp>
      <p:sp>
        <p:nvSpPr>
          <p:cNvPr id="31" name="Shape 23"/>
          <p:cNvSpPr/>
          <p:nvPr/>
        </p:nvSpPr>
        <p:spPr>
          <a:xfrm>
            <a:off x="4615160" y="3604840"/>
            <a:ext cx="3777853" cy="1190104"/>
          </a:xfrm>
          <a:prstGeom prst="roundRect">
            <a:avLst>
              <a:gd name="adj" fmla="val 3909"/>
            </a:avLst>
          </a:prstGeom>
          <a:solidFill>
            <a:srgbClr val="110080"/>
          </a:solidFill>
          <a:ln w="4763">
            <a:solidFill>
              <a:srgbClr val="2A1999"/>
            </a:solidFill>
            <a:prstDash val="solid"/>
          </a:ln>
        </p:spPr>
      </p:sp>
      <p:sp>
        <p:nvSpPr>
          <p:cNvPr id="32" name="Shape 24"/>
          <p:cNvSpPr/>
          <p:nvPr/>
        </p:nvSpPr>
        <p:spPr>
          <a:xfrm>
            <a:off x="4730651" y="3720331"/>
            <a:ext cx="332259" cy="332259"/>
          </a:xfrm>
          <a:prstGeom prst="roundRect">
            <a:avLst>
              <a:gd name="adj" fmla="val 17198717"/>
            </a:avLst>
          </a:prstGeom>
          <a:solidFill>
            <a:srgbClr val="2B0AFF"/>
          </a:solidFill>
          <a:ln/>
        </p:spPr>
      </p:sp>
      <p:pic>
        <p:nvPicPr>
          <p:cNvPr id="33" name="Image 6" descr="preencoded.png"/>
          <p:cNvPicPr>
            <a:picLocks noChangeAspect="1"/>
          </p:cNvPicPr>
          <p:nvPr/>
        </p:nvPicPr>
        <p:blipFill>
          <a:blip r:embed="rId3">
            <a:extLst>
              <a:ext uri="{96DAC541-7B7A-43D3-8B79-37D633B846F1}">
                <asvg:svgBlip xmlns:asvg="http://schemas.microsoft.com/office/drawing/2016/SVG/main" xmlns="" r:embed="rId14"/>
              </a:ext>
            </a:extLst>
          </a:blip>
          <a:stretch>
            <a:fillRect/>
          </a:stretch>
        </p:blipFill>
        <p:spPr>
          <a:xfrm>
            <a:off x="4822031" y="3811712"/>
            <a:ext cx="149498" cy="149498"/>
          </a:xfrm>
          <a:prstGeom prst="rect">
            <a:avLst/>
          </a:prstGeom>
        </p:spPr>
      </p:pic>
      <p:sp>
        <p:nvSpPr>
          <p:cNvPr id="34" name="Text 25"/>
          <p:cNvSpPr/>
          <p:nvPr/>
        </p:nvSpPr>
        <p:spPr>
          <a:xfrm>
            <a:off x="4730651" y="4139059"/>
            <a:ext cx="1841599" cy="173013"/>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DataStore</a:t>
            </a:r>
            <a:endParaRPr lang="en-US" sz="1050" dirty="0"/>
          </a:p>
        </p:txBody>
      </p:sp>
      <p:sp>
        <p:nvSpPr>
          <p:cNvPr id="35" name="Text 26"/>
          <p:cNvSpPr/>
          <p:nvPr/>
        </p:nvSpPr>
        <p:spPr>
          <a:xfrm>
            <a:off x="4730651" y="4363938"/>
            <a:ext cx="3546872" cy="315516"/>
          </a:xfrm>
          <a:prstGeom prst="rect">
            <a:avLst/>
          </a:prstGeom>
          <a:noFill/>
          <a:ln/>
        </p:spPr>
        <p:txBody>
          <a:bodyPr wrap="square" lIns="0" tIns="0" rIns="0" bIns="0" rtlCol="0" anchor="t">
            <a:normAutofit/>
          </a:bodyPr>
          <a:lstStyle/>
          <a:p>
            <a:pPr marL="0" indent="0" algn="l">
              <a:lnSpc>
                <a:spcPct val="119000"/>
              </a:lnSpc>
              <a:buNone/>
            </a:pPr>
            <a:r>
              <a:rPr lang="en-US" sz="850" dirty="0">
                <a:solidFill>
                  <a:srgbClr val="E5E0DF"/>
                </a:solidFill>
                <a:latin typeface="Inter" pitchFamily="34" charset="0"/>
                <a:ea typeface="Inter" pitchFamily="34" charset="-122"/>
                <a:cs typeface="Inter" pitchFamily="34" charset="-120"/>
              </a:rPr>
              <a:t>Jetpack DataStore replaces SharedPreferences for type-safe local preferences.</a:t>
            </a:r>
            <a:endParaRPr lang="en-US" sz="850" dirty="0"/>
          </a:p>
        </p:txBody>
      </p:sp>
      <p:pic>
        <p:nvPicPr>
          <p:cNvPr id="36" name="Picture 35"/>
          <p:cNvPicPr>
            <a:picLocks noChangeAspect="1"/>
          </p:cNvPicPr>
          <p:nvPr/>
        </p:nvPicPr>
        <p:blipFill>
          <a:blip r:embed="rId15"/>
          <a:stretch>
            <a:fillRect/>
          </a:stretch>
        </p:blipFill>
        <p:spPr>
          <a:xfrm>
            <a:off x="7805588" y="4846810"/>
            <a:ext cx="1338411" cy="256701"/>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521643" y="590252"/>
            <a:ext cx="3527747" cy="366861"/>
          </a:xfrm>
          <a:prstGeom prst="rect">
            <a:avLst/>
          </a:prstGeom>
          <a:noFill/>
          <a:ln/>
        </p:spPr>
        <p:txBody>
          <a:bodyPr wrap="none" lIns="0" tIns="0" rIns="0" bIns="0" rtlCol="0" anchor="t"/>
          <a:lstStyle/>
          <a:p>
            <a:pPr marL="0" indent="0" algn="l">
              <a:lnSpc>
                <a:spcPct val="104000"/>
              </a:lnSpc>
              <a:buNone/>
            </a:pPr>
            <a:r>
              <a:rPr lang="en-US" sz="2300" b="1" dirty="0">
                <a:solidFill>
                  <a:srgbClr val="FFFFFF"/>
                </a:solidFill>
                <a:latin typeface="Inter Bold" pitchFamily="34" charset="0"/>
                <a:ea typeface="Inter Bold" pitchFamily="34" charset="-122"/>
                <a:cs typeface="Inter Bold" pitchFamily="34" charset="-120"/>
              </a:rPr>
              <a:t>Skill Tracking Module</a:t>
            </a:r>
            <a:endParaRPr lang="en-US" sz="2300" dirty="0"/>
          </a:p>
        </p:txBody>
      </p:sp>
      <p:sp>
        <p:nvSpPr>
          <p:cNvPr id="6" name="Shape 3"/>
          <p:cNvSpPr/>
          <p:nvPr/>
        </p:nvSpPr>
        <p:spPr>
          <a:xfrm>
            <a:off x="521643" y="1442219"/>
            <a:ext cx="4326434" cy="887239"/>
          </a:xfrm>
          <a:prstGeom prst="roundRect">
            <a:avLst>
              <a:gd name="adj" fmla="val 7730"/>
            </a:avLst>
          </a:prstGeom>
          <a:solidFill>
            <a:srgbClr val="272525"/>
          </a:solidFill>
          <a:ln w="14288">
            <a:solidFill>
              <a:srgbClr val="2A1999"/>
            </a:solidFill>
            <a:prstDash val="solid"/>
          </a:ln>
        </p:spPr>
      </p:sp>
      <p:sp>
        <p:nvSpPr>
          <p:cNvPr id="7" name="Shape 4"/>
          <p:cNvSpPr/>
          <p:nvPr/>
        </p:nvSpPr>
        <p:spPr>
          <a:xfrm>
            <a:off x="507355" y="1442219"/>
            <a:ext cx="57150" cy="887239"/>
          </a:xfrm>
          <a:prstGeom prst="roundRect">
            <a:avLst>
              <a:gd name="adj" fmla="val 86279"/>
            </a:avLst>
          </a:prstGeom>
          <a:solidFill>
            <a:srgbClr val="2B0AFF"/>
          </a:solidFill>
          <a:ln/>
        </p:spPr>
      </p:sp>
      <p:sp>
        <p:nvSpPr>
          <p:cNvPr id="8" name="Text 5"/>
          <p:cNvSpPr/>
          <p:nvPr/>
        </p:nvSpPr>
        <p:spPr>
          <a:xfrm>
            <a:off x="696144" y="1573857"/>
            <a:ext cx="1989311"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Full CRUD Operations</a:t>
            </a:r>
            <a:endParaRPr lang="en-US" sz="1150" dirty="0"/>
          </a:p>
        </p:txBody>
      </p:sp>
      <p:sp>
        <p:nvSpPr>
          <p:cNvPr id="9" name="Text 6"/>
          <p:cNvSpPr/>
          <p:nvPr/>
        </p:nvSpPr>
        <p:spPr>
          <a:xfrm>
            <a:off x="696144" y="1854473"/>
            <a:ext cx="402029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Create, read, update, and delete skills seamlessly. Each skill record carries a name, category, and proficiency level persisted in Firestore.</a:t>
            </a:r>
            <a:endParaRPr lang="en-US" sz="900" dirty="0"/>
          </a:p>
        </p:txBody>
      </p:sp>
      <p:sp>
        <p:nvSpPr>
          <p:cNvPr id="10" name="Shape 7"/>
          <p:cNvSpPr/>
          <p:nvPr/>
        </p:nvSpPr>
        <p:spPr>
          <a:xfrm>
            <a:off x="521643" y="2426643"/>
            <a:ext cx="4326434" cy="1058912"/>
          </a:xfrm>
          <a:prstGeom prst="roundRect">
            <a:avLst>
              <a:gd name="adj" fmla="val 6476"/>
            </a:avLst>
          </a:prstGeom>
          <a:solidFill>
            <a:srgbClr val="272525"/>
          </a:solidFill>
          <a:ln w="14288">
            <a:solidFill>
              <a:srgbClr val="2A1999"/>
            </a:solidFill>
            <a:prstDash val="solid"/>
          </a:ln>
        </p:spPr>
      </p:sp>
      <p:sp>
        <p:nvSpPr>
          <p:cNvPr id="11" name="Shape 8"/>
          <p:cNvSpPr/>
          <p:nvPr/>
        </p:nvSpPr>
        <p:spPr>
          <a:xfrm>
            <a:off x="507355" y="2426643"/>
            <a:ext cx="57150" cy="1058912"/>
          </a:xfrm>
          <a:prstGeom prst="roundRect">
            <a:avLst>
              <a:gd name="adj" fmla="val 86279"/>
            </a:avLst>
          </a:prstGeom>
          <a:solidFill>
            <a:srgbClr val="2B0AFF"/>
          </a:solidFill>
          <a:ln/>
        </p:spPr>
      </p:sp>
      <p:sp>
        <p:nvSpPr>
          <p:cNvPr id="12" name="Text 9"/>
          <p:cNvSpPr/>
          <p:nvPr/>
        </p:nvSpPr>
        <p:spPr>
          <a:xfrm>
            <a:off x="696144" y="2558281"/>
            <a:ext cx="1924645"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Proficiency Levels</a:t>
            </a:r>
            <a:endParaRPr lang="en-US" sz="1150" dirty="0"/>
          </a:p>
        </p:txBody>
      </p:sp>
      <p:sp>
        <p:nvSpPr>
          <p:cNvPr id="13" name="Text 10"/>
          <p:cNvSpPr/>
          <p:nvPr/>
        </p:nvSpPr>
        <p:spPr>
          <a:xfrm>
            <a:off x="696144" y="2838896"/>
            <a:ext cx="4020294"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Skills are graded across four tiers — </a:t>
            </a:r>
            <a:r>
              <a:rPr lang="en-US" sz="900" b="1" dirty="0">
                <a:solidFill>
                  <a:srgbClr val="E5E0DF"/>
                </a:solidFill>
                <a:latin typeface="Inter" pitchFamily="34" charset="0"/>
                <a:ea typeface="Inter" pitchFamily="34" charset="-122"/>
                <a:cs typeface="Inter" pitchFamily="34" charset="-120"/>
              </a:rPr>
              <a:t>Beginner · Intermediate · Advanced · Expert</a:t>
            </a:r>
            <a:r>
              <a:rPr lang="en-US" sz="900" dirty="0">
                <a:solidFill>
                  <a:srgbClr val="E5E0DF"/>
                </a:solidFill>
                <a:latin typeface="Inter" pitchFamily="34" charset="0"/>
                <a:ea typeface="Inter" pitchFamily="34" charset="-122"/>
                <a:cs typeface="Inter" pitchFamily="34" charset="-120"/>
              </a:rPr>
              <a:t> — rendered as animated progress bars in Compose UI.</a:t>
            </a:r>
            <a:endParaRPr lang="en-US" sz="900" dirty="0"/>
          </a:p>
        </p:txBody>
      </p:sp>
      <p:sp>
        <p:nvSpPr>
          <p:cNvPr id="14" name="Shape 11"/>
          <p:cNvSpPr/>
          <p:nvPr/>
        </p:nvSpPr>
        <p:spPr>
          <a:xfrm>
            <a:off x="521643" y="3582739"/>
            <a:ext cx="4326434" cy="887239"/>
          </a:xfrm>
          <a:prstGeom prst="roundRect">
            <a:avLst>
              <a:gd name="adj" fmla="val 7730"/>
            </a:avLst>
          </a:prstGeom>
          <a:solidFill>
            <a:srgbClr val="272525"/>
          </a:solidFill>
          <a:ln w="14288">
            <a:solidFill>
              <a:srgbClr val="2A1999"/>
            </a:solidFill>
            <a:prstDash val="solid"/>
          </a:ln>
        </p:spPr>
      </p:sp>
      <p:sp>
        <p:nvSpPr>
          <p:cNvPr id="15" name="Shape 12"/>
          <p:cNvSpPr/>
          <p:nvPr/>
        </p:nvSpPr>
        <p:spPr>
          <a:xfrm>
            <a:off x="507355" y="3582739"/>
            <a:ext cx="57150" cy="887239"/>
          </a:xfrm>
          <a:prstGeom prst="roundRect">
            <a:avLst>
              <a:gd name="adj" fmla="val 86279"/>
            </a:avLst>
          </a:prstGeom>
          <a:solidFill>
            <a:srgbClr val="2B0AFF"/>
          </a:solidFill>
          <a:ln/>
        </p:spPr>
      </p:sp>
      <p:sp>
        <p:nvSpPr>
          <p:cNvPr id="16" name="Text 13"/>
          <p:cNvSpPr/>
          <p:nvPr/>
        </p:nvSpPr>
        <p:spPr>
          <a:xfrm>
            <a:off x="696144" y="3714378"/>
            <a:ext cx="2497931"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Real-Time Sync via Firestore</a:t>
            </a:r>
            <a:endParaRPr lang="en-US" sz="1150" dirty="0"/>
          </a:p>
        </p:txBody>
      </p:sp>
      <p:sp>
        <p:nvSpPr>
          <p:cNvPr id="17" name="Text 14"/>
          <p:cNvSpPr/>
          <p:nvPr/>
        </p:nvSpPr>
        <p:spPr>
          <a:xfrm>
            <a:off x="696144" y="3994993"/>
            <a:ext cx="402029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Snapshot listeners push delta updates instantly. UI state is managed through </a:t>
            </a:r>
            <a:r>
              <a:rPr lang="en-US" sz="900" dirty="0">
                <a:solidFill>
                  <a:srgbClr val="E5E0DF"/>
                </a:solidFill>
                <a:highlight>
                  <a:srgbClr val="343232"/>
                </a:highlight>
                <a:latin typeface="Consolas" pitchFamily="34" charset="0"/>
                <a:ea typeface="Consolas" pitchFamily="34" charset="-122"/>
                <a:cs typeface="Consolas" pitchFamily="34" charset="-120"/>
              </a:rPr>
              <a:t>StateFlow</a:t>
            </a:r>
            <a:r>
              <a:rPr lang="en-US" sz="900" dirty="0">
                <a:solidFill>
                  <a:srgbClr val="E5E0DF"/>
                </a:solidFill>
                <a:latin typeface="Inter" pitchFamily="34" charset="0"/>
                <a:ea typeface="Inter" pitchFamily="34" charset="-122"/>
                <a:cs typeface="Inter" pitchFamily="34" charset="-120"/>
              </a:rPr>
              <a:t>, ensuring zero-latency reflection of cloud changes.</a:t>
            </a:r>
            <a:endParaRPr lang="en-US" sz="900" dirty="0"/>
          </a:p>
        </p:txBody>
      </p:sp>
      <p:pic>
        <p:nvPicPr>
          <p:cNvPr id="18" name="Image 1" descr="preencoded.png"/>
          <p:cNvPicPr>
            <a:picLocks noChangeAspect="1"/>
          </p:cNvPicPr>
          <p:nvPr/>
        </p:nvPicPr>
        <p:blipFill>
          <a:blip r:embed="rId3"/>
          <a:stretch>
            <a:fillRect/>
          </a:stretch>
        </p:blipFill>
        <p:spPr>
          <a:xfrm>
            <a:off x="5139184" y="1212205"/>
            <a:ext cx="3487787" cy="3487787"/>
          </a:xfrm>
          <a:prstGeom prst="rect">
            <a:avLst/>
          </a:prstGeom>
        </p:spPr>
      </p:pic>
      <p:pic>
        <p:nvPicPr>
          <p:cNvPr id="19" name="Image 2" descr="preencoded.png"/>
          <p:cNvPicPr>
            <a:picLocks noChangeAspect="1"/>
          </p:cNvPicPr>
          <p:nvPr/>
        </p:nvPicPr>
        <p:blipFill>
          <a:blip r:embed="rId4"/>
          <a:stretch>
            <a:fillRect/>
          </a:stretch>
        </p:blipFill>
        <p:spPr>
          <a:xfrm>
            <a:off x="5139184" y="1212205"/>
            <a:ext cx="3487787" cy="3487787"/>
          </a:xfrm>
          <a:prstGeom prst="rect">
            <a:avLst/>
          </a:prstGeom>
        </p:spPr>
      </p:pic>
      <p:pic>
        <p:nvPicPr>
          <p:cNvPr id="20" name="Picture 19"/>
          <p:cNvPicPr>
            <a:picLocks noChangeAspect="1"/>
          </p:cNvPicPr>
          <p:nvPr/>
        </p:nvPicPr>
        <p:blipFill>
          <a:blip r:embed="rId5"/>
          <a:stretch>
            <a:fillRect/>
          </a:stretch>
        </p:blipFill>
        <p:spPr>
          <a:xfrm>
            <a:off x="7805588" y="4790661"/>
            <a:ext cx="1338411" cy="286052"/>
          </a:xfrm>
          <a:prstGeom prst="rect">
            <a:avLst/>
          </a:prstGeom>
        </p:spPr>
      </p:pic>
    </p:spTree>
    <p:extLst>
      <p:ext uri="{BB962C8B-B14F-4D97-AF65-F5344CB8AC3E}">
        <p14:creationId xmlns:p14="http://schemas.microsoft.com/office/powerpoint/2010/main" val="87673847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291835" y="225377"/>
            <a:ext cx="4235351" cy="325338"/>
          </a:xfrm>
          <a:prstGeom prst="rect">
            <a:avLst/>
          </a:prstGeom>
          <a:noFill/>
          <a:ln/>
        </p:spPr>
        <p:txBody>
          <a:bodyPr wrap="none" lIns="0" tIns="0" rIns="0" bIns="0" rtlCol="0" anchor="t"/>
          <a:lstStyle/>
          <a:p>
            <a:pPr marL="0" indent="0" algn="l">
              <a:lnSpc>
                <a:spcPct val="104000"/>
              </a:lnSpc>
              <a:buNone/>
            </a:pPr>
            <a:r>
              <a:rPr lang="en-US" sz="2000" b="1" dirty="0">
                <a:solidFill>
                  <a:srgbClr val="FFFFFF"/>
                </a:solidFill>
                <a:latin typeface="Inter Bold" pitchFamily="34" charset="0"/>
                <a:ea typeface="Inter Bold" pitchFamily="34" charset="-122"/>
                <a:cs typeface="Inter Bold" pitchFamily="34" charset="-120"/>
              </a:rPr>
              <a:t>Role Recommendation Engine</a:t>
            </a:r>
            <a:endParaRPr lang="en-US" sz="2000" dirty="0"/>
          </a:p>
        </p:txBody>
      </p:sp>
      <p:sp>
        <p:nvSpPr>
          <p:cNvPr id="6" name="Text 3"/>
          <p:cNvSpPr/>
          <p:nvPr/>
        </p:nvSpPr>
        <p:spPr>
          <a:xfrm>
            <a:off x="5208440" y="1495132"/>
            <a:ext cx="2378765" cy="360024"/>
          </a:xfrm>
          <a:prstGeom prst="rect">
            <a:avLst/>
          </a:prstGeom>
          <a:noFill/>
          <a:ln/>
        </p:spPr>
        <p:txBody>
          <a:bodyPr wrap="none" lIns="0" tIns="0" rIns="0" bIns="0" rtlCol="0" anchor="t"/>
          <a:lstStyle/>
          <a:p>
            <a:pPr marL="0" indent="0" algn="ctr">
              <a:lnSpc>
                <a:spcPct val="116000"/>
              </a:lnSpc>
              <a:buNone/>
            </a:pPr>
            <a:r>
              <a:rPr lang="en-US" sz="800" dirty="0">
                <a:solidFill>
                  <a:srgbClr val="E5E0DF"/>
                </a:solidFill>
                <a:latin typeface="Inter" pitchFamily="34" charset="0"/>
                <a:ea typeface="Inter" pitchFamily="34" charset="-122"/>
                <a:cs typeface="Inter" pitchFamily="34" charset="-120"/>
              </a:rPr>
              <a:t>An </a:t>
            </a:r>
            <a:r>
              <a:rPr lang="en-US" sz="800" b="1" dirty="0">
                <a:solidFill>
                  <a:srgbClr val="2B0AFF"/>
                </a:solidFill>
                <a:latin typeface="Inter" pitchFamily="34" charset="0"/>
                <a:ea typeface="Inter" pitchFamily="34" charset="-122"/>
                <a:cs typeface="Inter" pitchFamily="34" charset="-120"/>
              </a:rPr>
              <a:t>AI-inspired matching system</a:t>
            </a:r>
            <a:r>
              <a:rPr lang="en-US" sz="800" dirty="0">
                <a:solidFill>
                  <a:srgbClr val="E5E0DF"/>
                </a:solidFill>
                <a:latin typeface="Inter" pitchFamily="34" charset="0"/>
                <a:ea typeface="Inter" pitchFamily="34" charset="-122"/>
                <a:cs typeface="Inter" pitchFamily="34" charset="-120"/>
              </a:rPr>
              <a:t> that maps current skills against role requirements to </a:t>
            </a:r>
            <a:endParaRPr lang="en-US" sz="800" dirty="0" smtClean="0">
              <a:solidFill>
                <a:srgbClr val="E5E0DF"/>
              </a:solidFill>
              <a:latin typeface="Inter" pitchFamily="34" charset="0"/>
              <a:ea typeface="Inter" pitchFamily="34" charset="-122"/>
              <a:cs typeface="Inter" pitchFamily="34" charset="-120"/>
            </a:endParaRPr>
          </a:p>
          <a:p>
            <a:pPr marL="0" indent="0" algn="ctr">
              <a:lnSpc>
                <a:spcPct val="116000"/>
              </a:lnSpc>
              <a:buNone/>
            </a:pPr>
            <a:r>
              <a:rPr lang="en-US" sz="800" dirty="0" smtClean="0">
                <a:solidFill>
                  <a:srgbClr val="E5E0DF"/>
                </a:solidFill>
                <a:latin typeface="Inter" pitchFamily="34" charset="0"/>
                <a:ea typeface="Inter" pitchFamily="34" charset="-122"/>
                <a:cs typeface="Inter" pitchFamily="34" charset="-120"/>
              </a:rPr>
              <a:t>surface </a:t>
            </a:r>
            <a:r>
              <a:rPr lang="en-US" sz="800" dirty="0">
                <a:solidFill>
                  <a:srgbClr val="E5E0DF"/>
                </a:solidFill>
                <a:latin typeface="Inter" pitchFamily="34" charset="0"/>
                <a:ea typeface="Inter" pitchFamily="34" charset="-122"/>
                <a:cs typeface="Inter" pitchFamily="34" charset="-120"/>
              </a:rPr>
              <a:t>personalized career paths.</a:t>
            </a:r>
            <a:endParaRPr lang="en-US" sz="800" dirty="0"/>
          </a:p>
        </p:txBody>
      </p:sp>
      <p:sp>
        <p:nvSpPr>
          <p:cNvPr id="9" name="Shape 4"/>
          <p:cNvSpPr/>
          <p:nvPr/>
        </p:nvSpPr>
        <p:spPr>
          <a:xfrm>
            <a:off x="4703638" y="2015282"/>
            <a:ext cx="1694185" cy="1179016"/>
          </a:xfrm>
          <a:prstGeom prst="roundRect">
            <a:avLst>
              <a:gd name="adj" fmla="val 3709"/>
            </a:avLst>
          </a:prstGeom>
          <a:solidFill>
            <a:srgbClr val="110080"/>
          </a:solidFill>
          <a:ln w="4763">
            <a:solidFill>
              <a:srgbClr val="2A1999"/>
            </a:solidFill>
            <a:prstDash val="solid"/>
          </a:ln>
        </p:spPr>
      </p:sp>
      <p:sp>
        <p:nvSpPr>
          <p:cNvPr id="10" name="Text 5"/>
          <p:cNvSpPr/>
          <p:nvPr/>
        </p:nvSpPr>
        <p:spPr>
          <a:xfrm>
            <a:off x="4812506" y="2124149"/>
            <a:ext cx="1758553" cy="162669"/>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Skill-Role Mapping</a:t>
            </a:r>
            <a:endParaRPr lang="en-US" sz="1000" dirty="0"/>
          </a:p>
        </p:txBody>
      </p:sp>
      <p:sp>
        <p:nvSpPr>
          <p:cNvPr id="11" name="Text 6"/>
          <p:cNvSpPr/>
          <p:nvPr/>
        </p:nvSpPr>
        <p:spPr>
          <a:xfrm>
            <a:off x="4812506" y="2363242"/>
            <a:ext cx="1476449" cy="722188"/>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E5E0DF"/>
                </a:solidFill>
                <a:latin typeface="Inter" pitchFamily="34" charset="0"/>
                <a:ea typeface="Inter" pitchFamily="34" charset="-122"/>
                <a:cs typeface="Inter" pitchFamily="34" charset="-120"/>
              </a:rPr>
              <a:t>Each role carries a weighted requirement set. Matched against the user's proficiency matrix to produce a compatibility score.</a:t>
            </a:r>
            <a:endParaRPr lang="en-US" sz="800" dirty="0"/>
          </a:p>
        </p:txBody>
      </p:sp>
      <p:sp>
        <p:nvSpPr>
          <p:cNvPr id="12" name="Shape 7"/>
          <p:cNvSpPr/>
          <p:nvPr/>
        </p:nvSpPr>
        <p:spPr>
          <a:xfrm>
            <a:off x="6474247" y="2015282"/>
            <a:ext cx="1694185" cy="1179016"/>
          </a:xfrm>
          <a:prstGeom prst="roundRect">
            <a:avLst>
              <a:gd name="adj" fmla="val 3709"/>
            </a:avLst>
          </a:prstGeom>
          <a:solidFill>
            <a:srgbClr val="110080"/>
          </a:solidFill>
          <a:ln w="4763">
            <a:solidFill>
              <a:srgbClr val="2A1999"/>
            </a:solidFill>
            <a:prstDash val="solid"/>
          </a:ln>
        </p:spPr>
      </p:sp>
      <p:sp>
        <p:nvSpPr>
          <p:cNvPr id="13" name="Text 8"/>
          <p:cNvSpPr/>
          <p:nvPr/>
        </p:nvSpPr>
        <p:spPr>
          <a:xfrm>
            <a:off x="6583114" y="2124149"/>
            <a:ext cx="1758553" cy="162669"/>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Match % Logic</a:t>
            </a:r>
            <a:endParaRPr lang="en-US" sz="1000" dirty="0"/>
          </a:p>
        </p:txBody>
      </p:sp>
      <p:sp>
        <p:nvSpPr>
          <p:cNvPr id="14" name="Text 9"/>
          <p:cNvSpPr/>
          <p:nvPr/>
        </p:nvSpPr>
        <p:spPr>
          <a:xfrm>
            <a:off x="6583114" y="2363242"/>
            <a:ext cx="1476449" cy="722188"/>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E5E0DF"/>
                </a:solidFill>
                <a:latin typeface="Inter" pitchFamily="34" charset="0"/>
                <a:ea typeface="Inter" pitchFamily="34" charset="-122"/>
                <a:cs typeface="Inter" pitchFamily="34" charset="-120"/>
              </a:rPr>
              <a:t>Score = (matched skill weight sum) ÷ (total role weight) × 100. Displayed as a ranked card list with progress indicators.</a:t>
            </a:r>
            <a:endParaRPr lang="en-US" sz="800" dirty="0"/>
          </a:p>
        </p:txBody>
      </p:sp>
      <p:sp>
        <p:nvSpPr>
          <p:cNvPr id="15" name="Shape 10"/>
          <p:cNvSpPr/>
          <p:nvPr/>
        </p:nvSpPr>
        <p:spPr>
          <a:xfrm>
            <a:off x="4703638" y="3270721"/>
            <a:ext cx="3464793" cy="745703"/>
          </a:xfrm>
          <a:prstGeom prst="roundRect">
            <a:avLst>
              <a:gd name="adj" fmla="val 5864"/>
            </a:avLst>
          </a:prstGeom>
          <a:solidFill>
            <a:srgbClr val="110080"/>
          </a:solidFill>
          <a:ln w="4763">
            <a:solidFill>
              <a:srgbClr val="2A1999"/>
            </a:solidFill>
            <a:prstDash val="solid"/>
          </a:ln>
        </p:spPr>
      </p:sp>
      <p:sp>
        <p:nvSpPr>
          <p:cNvPr id="16" name="Text 11"/>
          <p:cNvSpPr/>
          <p:nvPr/>
        </p:nvSpPr>
        <p:spPr>
          <a:xfrm>
            <a:off x="4812506" y="3379589"/>
            <a:ext cx="1758553" cy="162669"/>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Gap Analysis</a:t>
            </a:r>
            <a:endParaRPr lang="en-US" sz="1000" dirty="0"/>
          </a:p>
        </p:txBody>
      </p:sp>
      <p:sp>
        <p:nvSpPr>
          <p:cNvPr id="17" name="Text 12"/>
          <p:cNvSpPr/>
          <p:nvPr/>
        </p:nvSpPr>
        <p:spPr>
          <a:xfrm>
            <a:off x="4812506" y="3618681"/>
            <a:ext cx="3247058" cy="288875"/>
          </a:xfrm>
          <a:prstGeom prst="rect">
            <a:avLst/>
          </a:prstGeom>
          <a:noFill/>
          <a:ln/>
        </p:spPr>
        <p:txBody>
          <a:bodyPr wrap="square" lIns="0" tIns="0" rIns="0" bIns="0" rtlCol="0" anchor="t">
            <a:normAutofit/>
          </a:bodyPr>
          <a:lstStyle/>
          <a:p>
            <a:pPr marL="0" indent="0" algn="l">
              <a:lnSpc>
                <a:spcPct val="116000"/>
              </a:lnSpc>
              <a:buNone/>
            </a:pPr>
            <a:r>
              <a:rPr lang="en-US" sz="800" dirty="0">
                <a:solidFill>
                  <a:srgbClr val="E5E0DF"/>
                </a:solidFill>
                <a:latin typeface="Inter" pitchFamily="34" charset="0"/>
                <a:ea typeface="Inter" pitchFamily="34" charset="-122"/>
                <a:cs typeface="Inter" pitchFamily="34" charset="-120"/>
              </a:rPr>
              <a:t>Missing skills are flagged with priority labels, driving targeted roadmap suggestions directly tied to the recommendation result.</a:t>
            </a:r>
            <a:endParaRPr lang="en-US" sz="800" dirty="0"/>
          </a:p>
        </p:txBody>
      </p:sp>
      <p:pic>
        <p:nvPicPr>
          <p:cNvPr id="18" name="Picture 17"/>
          <p:cNvPicPr>
            <a:picLocks noChangeAspect="1"/>
          </p:cNvPicPr>
          <p:nvPr/>
        </p:nvPicPr>
        <p:blipFill>
          <a:blip r:embed="rId3"/>
          <a:stretch>
            <a:fillRect/>
          </a:stretch>
        </p:blipFill>
        <p:spPr>
          <a:xfrm>
            <a:off x="7805588" y="4704522"/>
            <a:ext cx="1338411" cy="372191"/>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3558" y="651361"/>
            <a:ext cx="3451904" cy="4312709"/>
          </a:xfrm>
          <a:prstGeom prst="rect">
            <a:avLst/>
          </a:prstGeom>
        </p:spPr>
      </p:pic>
    </p:spTree>
    <p:extLst>
      <p:ext uri="{BB962C8B-B14F-4D97-AF65-F5344CB8AC3E}">
        <p14:creationId xmlns:p14="http://schemas.microsoft.com/office/powerpoint/2010/main" val="297020011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480640" y="722337"/>
            <a:ext cx="3890590" cy="429146"/>
          </a:xfrm>
          <a:prstGeom prst="rect">
            <a:avLst/>
          </a:prstGeom>
          <a:noFill/>
          <a:ln/>
        </p:spPr>
        <p:txBody>
          <a:bodyPr wrap="none" lIns="0" tIns="0" rIns="0" bIns="0" rtlCol="0" anchor="t"/>
          <a:lstStyle/>
          <a:p>
            <a:pPr marL="0" indent="0" algn="l">
              <a:lnSpc>
                <a:spcPct val="104000"/>
              </a:lnSpc>
              <a:buNone/>
            </a:pPr>
            <a:r>
              <a:rPr lang="en-US" sz="2700" b="1" dirty="0">
                <a:solidFill>
                  <a:srgbClr val="FFFFFF"/>
                </a:solidFill>
                <a:latin typeface="Inter Bold" pitchFamily="34" charset="0"/>
                <a:ea typeface="Inter Bold" pitchFamily="34" charset="-122"/>
                <a:cs typeface="Inter Bold" pitchFamily="34" charset="-120"/>
              </a:rPr>
              <a:t>Quiz System</a:t>
            </a:r>
            <a:endParaRPr lang="en-US" sz="2700" dirty="0"/>
          </a:p>
        </p:txBody>
      </p:sp>
      <p:pic>
        <p:nvPicPr>
          <p:cNvPr id="6" name="Image 1" descr="preencoded.png"/>
          <p:cNvPicPr>
            <a:picLocks noChangeAspect="1"/>
          </p:cNvPicPr>
          <p:nvPr/>
        </p:nvPicPr>
        <p:blipFill>
          <a:blip r:embed="rId3"/>
          <a:stretch>
            <a:fillRect/>
          </a:stretch>
        </p:blipFill>
        <p:spPr>
          <a:xfrm>
            <a:off x="480640" y="2004417"/>
            <a:ext cx="3497907" cy="1312515"/>
          </a:xfrm>
          <a:prstGeom prst="rect">
            <a:avLst/>
          </a:prstGeom>
        </p:spPr>
      </p:pic>
      <p:pic>
        <p:nvPicPr>
          <p:cNvPr id="7" name="Image 2"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3467835" y="2338738"/>
            <a:ext cx="180673" cy="180673"/>
          </a:xfrm>
          <a:prstGeom prst="rect">
            <a:avLst/>
          </a:prstGeom>
        </p:spPr>
      </p:pic>
      <p:sp>
        <p:nvSpPr>
          <p:cNvPr id="8" name="Text 3"/>
          <p:cNvSpPr/>
          <p:nvPr/>
        </p:nvSpPr>
        <p:spPr>
          <a:xfrm>
            <a:off x="3306867" y="2947493"/>
            <a:ext cx="527565" cy="203257"/>
          </a:xfrm>
          <a:prstGeom prst="rect">
            <a:avLst/>
          </a:prstGeom>
          <a:noFill/>
          <a:ln/>
        </p:spPr>
        <p:txBody>
          <a:bodyPr wrap="square" lIns="0" tIns="0" rIns="0" bIns="0" rtlCol="0" anchor="t">
            <a:normAutofit/>
          </a:bodyPr>
          <a:lstStyle/>
          <a:p>
            <a:pPr marL="0" indent="0" algn="ctr">
              <a:lnSpc>
                <a:spcPct val="104000"/>
              </a:lnSpc>
              <a:buNone/>
            </a:pPr>
            <a:r>
              <a:rPr lang="en-US" sz="600" b="1" dirty="0">
                <a:solidFill>
                  <a:srgbClr val="E5E0DF"/>
                </a:solidFill>
                <a:latin typeface="Inter Bold" pitchFamily="34" charset="0"/>
                <a:ea typeface="Inter Bold" pitchFamily="34" charset="-122"/>
                <a:cs typeface="Inter Bold" pitchFamily="34" charset="-120"/>
              </a:rPr>
              <a:t>Persist Results</a:t>
            </a:r>
            <a:endParaRPr lang="en-US" sz="600" dirty="0"/>
          </a:p>
        </p:txBody>
      </p:sp>
      <p:pic>
        <p:nvPicPr>
          <p:cNvPr id="9"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2806403" y="2339077"/>
            <a:ext cx="180673" cy="180673"/>
          </a:xfrm>
          <a:prstGeom prst="rect">
            <a:avLst/>
          </a:prstGeom>
        </p:spPr>
      </p:pic>
      <p:sp>
        <p:nvSpPr>
          <p:cNvPr id="10" name="Text 4"/>
          <p:cNvSpPr/>
          <p:nvPr/>
        </p:nvSpPr>
        <p:spPr>
          <a:xfrm>
            <a:off x="2641991" y="2947493"/>
            <a:ext cx="527565" cy="203257"/>
          </a:xfrm>
          <a:prstGeom prst="rect">
            <a:avLst/>
          </a:prstGeom>
          <a:noFill/>
          <a:ln/>
        </p:spPr>
        <p:txBody>
          <a:bodyPr wrap="square" lIns="0" tIns="0" rIns="0" bIns="0" rtlCol="0" anchor="t">
            <a:normAutofit/>
          </a:bodyPr>
          <a:lstStyle/>
          <a:p>
            <a:pPr marL="0" indent="0" algn="ctr">
              <a:lnSpc>
                <a:spcPct val="104000"/>
              </a:lnSpc>
              <a:buNone/>
            </a:pPr>
            <a:r>
              <a:rPr lang="en-US" sz="600" b="1" dirty="0">
                <a:solidFill>
                  <a:srgbClr val="E5E0DF"/>
                </a:solidFill>
                <a:latin typeface="Inter Bold" pitchFamily="34" charset="0"/>
                <a:ea typeface="Inter Bold" pitchFamily="34" charset="-122"/>
                <a:cs typeface="Inter Bold" pitchFamily="34" charset="-120"/>
              </a:rPr>
              <a:t>Calculate Score</a:t>
            </a:r>
            <a:endParaRPr lang="en-US" sz="600" dirty="0"/>
          </a:p>
        </p:txBody>
      </p:sp>
      <p:pic>
        <p:nvPicPr>
          <p:cNvPr id="11"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2145140" y="2339077"/>
            <a:ext cx="180673" cy="180673"/>
          </a:xfrm>
          <a:prstGeom prst="rect">
            <a:avLst/>
          </a:prstGeom>
        </p:spPr>
      </p:pic>
      <p:sp>
        <p:nvSpPr>
          <p:cNvPr id="12" name="Text 5"/>
          <p:cNvSpPr/>
          <p:nvPr/>
        </p:nvSpPr>
        <p:spPr>
          <a:xfrm>
            <a:off x="1980728" y="2947493"/>
            <a:ext cx="527565" cy="203257"/>
          </a:xfrm>
          <a:prstGeom prst="rect">
            <a:avLst/>
          </a:prstGeom>
          <a:noFill/>
          <a:ln/>
        </p:spPr>
        <p:txBody>
          <a:bodyPr wrap="square" lIns="0" tIns="0" rIns="0" bIns="0" rtlCol="0" anchor="t">
            <a:normAutofit/>
          </a:bodyPr>
          <a:lstStyle/>
          <a:p>
            <a:pPr marL="0" indent="0" algn="ctr">
              <a:lnSpc>
                <a:spcPct val="104000"/>
              </a:lnSpc>
              <a:buNone/>
            </a:pPr>
            <a:r>
              <a:rPr lang="en-US" sz="600" b="1" dirty="0">
                <a:solidFill>
                  <a:srgbClr val="E5E0DF"/>
                </a:solidFill>
                <a:latin typeface="Inter Bold" pitchFamily="34" charset="0"/>
                <a:ea typeface="Inter Bold" pitchFamily="34" charset="-122"/>
                <a:cs typeface="Inter Bold" pitchFamily="34" charset="-120"/>
              </a:rPr>
              <a:t>Track Answers</a:t>
            </a:r>
            <a:endParaRPr lang="en-US" sz="600" dirty="0"/>
          </a:p>
        </p:txBody>
      </p:sp>
      <p:pic>
        <p:nvPicPr>
          <p:cNvPr id="13" name="Image 5" descr="preencoded.png"/>
          <p:cNvPicPr>
            <a:picLocks noChangeAspect="1"/>
          </p:cNvPicPr>
          <p:nvPr/>
        </p:nvPicPr>
        <p:blipFill>
          <a:blip r:embed="rId4">
            <a:extLst>
              <a:ext uri="{96DAC541-7B7A-43D3-8B79-37D633B846F1}">
                <asvg:svgBlip xmlns:asvg="http://schemas.microsoft.com/office/drawing/2016/SVG/main" xmlns="" r:embed="rId11"/>
              </a:ext>
            </a:extLst>
          </a:blip>
          <a:stretch>
            <a:fillRect/>
          </a:stretch>
        </p:blipFill>
        <p:spPr>
          <a:xfrm>
            <a:off x="1483878" y="2339077"/>
            <a:ext cx="180673" cy="180673"/>
          </a:xfrm>
          <a:prstGeom prst="rect">
            <a:avLst/>
          </a:prstGeom>
        </p:spPr>
      </p:pic>
      <p:sp>
        <p:nvSpPr>
          <p:cNvPr id="14" name="Text 6"/>
          <p:cNvSpPr/>
          <p:nvPr/>
        </p:nvSpPr>
        <p:spPr>
          <a:xfrm>
            <a:off x="1319465" y="2947493"/>
            <a:ext cx="527565" cy="203257"/>
          </a:xfrm>
          <a:prstGeom prst="rect">
            <a:avLst/>
          </a:prstGeom>
          <a:noFill/>
          <a:ln/>
        </p:spPr>
        <p:txBody>
          <a:bodyPr wrap="square" lIns="0" tIns="0" rIns="0" bIns="0" rtlCol="0" anchor="t">
            <a:normAutofit/>
          </a:bodyPr>
          <a:lstStyle/>
          <a:p>
            <a:pPr marL="0" indent="0" algn="ctr">
              <a:lnSpc>
                <a:spcPct val="104000"/>
              </a:lnSpc>
              <a:buNone/>
            </a:pPr>
            <a:r>
              <a:rPr lang="en-US" sz="600" b="1" dirty="0">
                <a:solidFill>
                  <a:srgbClr val="E5E0DF"/>
                </a:solidFill>
                <a:latin typeface="Inter Bold" pitchFamily="34" charset="0"/>
                <a:ea typeface="Inter Bold" pitchFamily="34" charset="-122"/>
                <a:cs typeface="Inter Bold" pitchFamily="34" charset="-120"/>
              </a:rPr>
              <a:t>Load Questions</a:t>
            </a:r>
            <a:endParaRPr lang="en-US" sz="600" dirty="0"/>
          </a:p>
        </p:txBody>
      </p:sp>
      <p:pic>
        <p:nvPicPr>
          <p:cNvPr id="15" name="Image 6" descr="preencoded.png"/>
          <p:cNvPicPr>
            <a:picLocks noChangeAspect="1"/>
          </p:cNvPicPr>
          <p:nvPr/>
        </p:nvPicPr>
        <p:blipFill>
          <a:blip r:embed="rId4">
            <a:extLst>
              <a:ext uri="{96DAC541-7B7A-43D3-8B79-37D633B846F1}">
                <asvg:svgBlip xmlns:asvg="http://schemas.microsoft.com/office/drawing/2016/SVG/main" xmlns="" r:embed="rId13"/>
              </a:ext>
            </a:extLst>
          </a:blip>
          <a:stretch>
            <a:fillRect/>
          </a:stretch>
        </p:blipFill>
        <p:spPr>
          <a:xfrm>
            <a:off x="819002" y="2339077"/>
            <a:ext cx="180673" cy="180673"/>
          </a:xfrm>
          <a:prstGeom prst="rect">
            <a:avLst/>
          </a:prstGeom>
        </p:spPr>
      </p:pic>
      <p:sp>
        <p:nvSpPr>
          <p:cNvPr id="16" name="Text 7"/>
          <p:cNvSpPr/>
          <p:nvPr/>
        </p:nvSpPr>
        <p:spPr>
          <a:xfrm>
            <a:off x="415149" y="2998307"/>
            <a:ext cx="756165" cy="101629"/>
          </a:xfrm>
          <a:prstGeom prst="rect">
            <a:avLst/>
          </a:prstGeom>
          <a:noFill/>
          <a:ln/>
        </p:spPr>
        <p:txBody>
          <a:bodyPr wrap="none" lIns="0" tIns="0" rIns="0" bIns="0" rtlCol="0" anchor="t"/>
          <a:lstStyle/>
          <a:p>
            <a:pPr marL="0" indent="0" algn="ctr">
              <a:lnSpc>
                <a:spcPct val="104000"/>
              </a:lnSpc>
              <a:buNone/>
            </a:pPr>
            <a:r>
              <a:rPr lang="en-US" sz="600" b="1" dirty="0">
                <a:solidFill>
                  <a:srgbClr val="E5E0DF"/>
                </a:solidFill>
                <a:latin typeface="Inter Bold" pitchFamily="34" charset="0"/>
                <a:ea typeface="Inter Bold" pitchFamily="34" charset="-122"/>
                <a:cs typeface="Inter Bold" pitchFamily="34" charset="-120"/>
              </a:rPr>
              <a:t>Select Topic</a:t>
            </a:r>
            <a:endParaRPr lang="en-US" sz="600" dirty="0"/>
          </a:p>
        </p:txBody>
      </p:sp>
      <p:sp>
        <p:nvSpPr>
          <p:cNvPr id="17" name="Text 8"/>
          <p:cNvSpPr/>
          <p:nvPr/>
        </p:nvSpPr>
        <p:spPr>
          <a:xfrm>
            <a:off x="480640" y="3466579"/>
            <a:ext cx="3497907" cy="648965"/>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E5E0DF"/>
                </a:solidFill>
                <a:latin typeface="Inter" pitchFamily="34" charset="0"/>
                <a:ea typeface="Inter" pitchFamily="34" charset="-122"/>
                <a:cs typeface="Inter" pitchFamily="34" charset="-120"/>
              </a:rPr>
              <a:t>Questions are fetched per topic and difficulty tier. Scores are computed immediately post-submission and written back to Firestore for longitudinal tracking.</a:t>
            </a:r>
            <a:endParaRPr lang="en-US" sz="1050" dirty="0"/>
          </a:p>
        </p:txBody>
      </p:sp>
      <p:pic>
        <p:nvPicPr>
          <p:cNvPr id="18" name="Image 7" descr="preencoded.png"/>
          <p:cNvPicPr>
            <a:picLocks noChangeAspect="1"/>
          </p:cNvPicPr>
          <p:nvPr/>
        </p:nvPicPr>
        <p:blipFill>
          <a:blip r:embed="rId4">
            <a:extLst>
              <a:ext uri="{96DAC541-7B7A-43D3-8B79-37D633B846F1}">
                <asvg:svgBlip xmlns:asvg="http://schemas.microsoft.com/office/drawing/2016/SVG/main" xmlns="" r:embed="rId15"/>
              </a:ext>
            </a:extLst>
          </a:blip>
          <a:stretch>
            <a:fillRect/>
          </a:stretch>
        </p:blipFill>
        <p:spPr>
          <a:xfrm>
            <a:off x="4318322" y="1500634"/>
            <a:ext cx="343272" cy="343272"/>
          </a:xfrm>
          <a:prstGeom prst="rect">
            <a:avLst/>
          </a:prstGeom>
        </p:spPr>
      </p:pic>
      <p:sp>
        <p:nvSpPr>
          <p:cNvPr id="19" name="Text 9"/>
          <p:cNvSpPr/>
          <p:nvPr/>
        </p:nvSpPr>
        <p:spPr>
          <a:xfrm>
            <a:off x="4827836" y="1500634"/>
            <a:ext cx="2173858" cy="21453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Topic-Wise Quizzes</a:t>
            </a:r>
            <a:endParaRPr lang="en-US" sz="1350" dirty="0"/>
          </a:p>
        </p:txBody>
      </p:sp>
      <p:sp>
        <p:nvSpPr>
          <p:cNvPr id="20" name="Text 10"/>
          <p:cNvSpPr/>
          <p:nvPr/>
        </p:nvSpPr>
        <p:spPr>
          <a:xfrm>
            <a:off x="4827836" y="1848148"/>
            <a:ext cx="3840212"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E5E0DF"/>
                </a:solidFill>
                <a:latin typeface="Inter" pitchFamily="34" charset="0"/>
                <a:ea typeface="Inter" pitchFamily="34" charset="-122"/>
                <a:cs typeface="Inter" pitchFamily="34" charset="-120"/>
              </a:rPr>
              <a:t>Organized by domain — Data Structures, System Design, Kotlin, Android — with per-topic scoring history.</a:t>
            </a:r>
            <a:endParaRPr lang="en-US" sz="1050" dirty="0"/>
          </a:p>
        </p:txBody>
      </p:sp>
      <p:pic>
        <p:nvPicPr>
          <p:cNvPr id="21" name="Image 8" descr="preencoded.png"/>
          <p:cNvPicPr>
            <a:picLocks noChangeAspect="1"/>
          </p:cNvPicPr>
          <p:nvPr/>
        </p:nvPicPr>
        <p:blipFill>
          <a:blip r:embed="rId4">
            <a:extLst>
              <a:ext uri="{96DAC541-7B7A-43D3-8B79-37D633B846F1}">
                <asvg:svgBlip xmlns:asvg="http://schemas.microsoft.com/office/drawing/2016/SVG/main" xmlns="" r:embed="rId17"/>
              </a:ext>
            </a:extLst>
          </a:blip>
          <a:stretch>
            <a:fillRect/>
          </a:stretch>
        </p:blipFill>
        <p:spPr>
          <a:xfrm>
            <a:off x="4318322" y="2546821"/>
            <a:ext cx="343272" cy="343272"/>
          </a:xfrm>
          <a:prstGeom prst="rect">
            <a:avLst/>
          </a:prstGeom>
        </p:spPr>
      </p:pic>
      <p:sp>
        <p:nvSpPr>
          <p:cNvPr id="22" name="Text 11"/>
          <p:cNvSpPr/>
          <p:nvPr/>
        </p:nvSpPr>
        <p:spPr>
          <a:xfrm>
            <a:off x="4827836" y="2546821"/>
            <a:ext cx="2173858" cy="21453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Difficulty Tiers</a:t>
            </a:r>
            <a:endParaRPr lang="en-US" sz="1350" dirty="0"/>
          </a:p>
        </p:txBody>
      </p:sp>
      <p:sp>
        <p:nvSpPr>
          <p:cNvPr id="23" name="Text 12"/>
          <p:cNvSpPr/>
          <p:nvPr/>
        </p:nvSpPr>
        <p:spPr>
          <a:xfrm>
            <a:off x="4827836" y="2894335"/>
            <a:ext cx="3840212"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E5E0DF"/>
                </a:solidFill>
                <a:latin typeface="Inter" pitchFamily="34" charset="0"/>
                <a:ea typeface="Inter" pitchFamily="34" charset="-122"/>
                <a:cs typeface="Inter" pitchFamily="34" charset="-120"/>
              </a:rPr>
              <a:t>Easy · Medium · Hard. Adaptive selection surfaces harder questions as user performance improves over sessions.</a:t>
            </a:r>
            <a:endParaRPr lang="en-US" sz="1050" dirty="0"/>
          </a:p>
        </p:txBody>
      </p:sp>
      <p:pic>
        <p:nvPicPr>
          <p:cNvPr id="24" name="Image 9" descr="preencoded.png"/>
          <p:cNvPicPr>
            <a:picLocks noChangeAspect="1"/>
          </p:cNvPicPr>
          <p:nvPr/>
        </p:nvPicPr>
        <p:blipFill>
          <a:blip r:embed="rId4">
            <a:extLst>
              <a:ext uri="{96DAC541-7B7A-43D3-8B79-37D633B846F1}">
                <asvg:svgBlip xmlns:asvg="http://schemas.microsoft.com/office/drawing/2016/SVG/main" xmlns="" r:embed="rId19"/>
              </a:ext>
            </a:extLst>
          </a:blip>
          <a:stretch>
            <a:fillRect/>
          </a:stretch>
        </p:blipFill>
        <p:spPr>
          <a:xfrm>
            <a:off x="4318322" y="3593009"/>
            <a:ext cx="343272" cy="343272"/>
          </a:xfrm>
          <a:prstGeom prst="rect">
            <a:avLst/>
          </a:prstGeom>
        </p:spPr>
      </p:pic>
      <p:sp>
        <p:nvSpPr>
          <p:cNvPr id="25" name="Text 13"/>
          <p:cNvSpPr/>
          <p:nvPr/>
        </p:nvSpPr>
        <p:spPr>
          <a:xfrm>
            <a:off x="4827836" y="3593009"/>
            <a:ext cx="2173858" cy="21453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Result Persistence</a:t>
            </a:r>
            <a:endParaRPr lang="en-US" sz="1350" dirty="0"/>
          </a:p>
        </p:txBody>
      </p:sp>
      <p:sp>
        <p:nvSpPr>
          <p:cNvPr id="26" name="Text 14"/>
          <p:cNvSpPr/>
          <p:nvPr/>
        </p:nvSpPr>
        <p:spPr>
          <a:xfrm>
            <a:off x="4827836" y="3940522"/>
            <a:ext cx="3840212" cy="648965"/>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E5E0DF"/>
                </a:solidFill>
                <a:latin typeface="Inter" pitchFamily="34" charset="0"/>
                <a:ea typeface="Inter" pitchFamily="34" charset="-122"/>
                <a:cs typeface="Inter" pitchFamily="34" charset="-120"/>
              </a:rPr>
              <a:t>Every attempt is stored with timestamp, score, and topic tag — enabling trend analysis inside the analytics dashboard.</a:t>
            </a:r>
            <a:endParaRPr lang="en-US" sz="1050" dirty="0"/>
          </a:p>
        </p:txBody>
      </p:sp>
      <p:pic>
        <p:nvPicPr>
          <p:cNvPr id="27" name="Picture 26"/>
          <p:cNvPicPr>
            <a:picLocks noChangeAspect="1"/>
          </p:cNvPicPr>
          <p:nvPr/>
        </p:nvPicPr>
        <p:blipFill>
          <a:blip r:embed="rId20"/>
          <a:stretch>
            <a:fillRect/>
          </a:stretch>
        </p:blipFill>
        <p:spPr>
          <a:xfrm>
            <a:off x="7805588" y="4704522"/>
            <a:ext cx="1338411" cy="372191"/>
          </a:xfrm>
          <a:prstGeom prst="rect">
            <a:avLst/>
          </a:prstGeom>
        </p:spPr>
      </p:pic>
    </p:spTree>
    <p:extLst>
      <p:ext uri="{BB962C8B-B14F-4D97-AF65-F5344CB8AC3E}">
        <p14:creationId xmlns:p14="http://schemas.microsoft.com/office/powerpoint/2010/main" val="282960534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426393" y="618976"/>
            <a:ext cx="3502968" cy="380702"/>
          </a:xfrm>
          <a:prstGeom prst="rect">
            <a:avLst/>
          </a:prstGeom>
          <a:noFill/>
          <a:ln/>
        </p:spPr>
        <p:txBody>
          <a:bodyPr wrap="none" lIns="0" tIns="0" rIns="0" bIns="0" rtlCol="0" anchor="t"/>
          <a:lstStyle/>
          <a:p>
            <a:pPr marL="0" indent="0" algn="l">
              <a:lnSpc>
                <a:spcPct val="104000"/>
              </a:lnSpc>
              <a:buNone/>
            </a:pPr>
            <a:r>
              <a:rPr lang="en-US" sz="2350" b="1" dirty="0">
                <a:solidFill>
                  <a:srgbClr val="FFFFFF"/>
                </a:solidFill>
                <a:latin typeface="Inter Bold" pitchFamily="34" charset="0"/>
                <a:ea typeface="Inter Bold" pitchFamily="34" charset="-122"/>
                <a:cs typeface="Inter Bold" pitchFamily="34" charset="-120"/>
              </a:rPr>
              <a:t>Roadmap System</a:t>
            </a:r>
            <a:endParaRPr lang="en-US" sz="2350" dirty="0"/>
          </a:p>
        </p:txBody>
      </p:sp>
      <p:sp>
        <p:nvSpPr>
          <p:cNvPr id="6" name="Text 3"/>
          <p:cNvSpPr/>
          <p:nvPr/>
        </p:nvSpPr>
        <p:spPr>
          <a:xfrm>
            <a:off x="426393" y="1156692"/>
            <a:ext cx="8291215"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E5E0DF"/>
                </a:solidFill>
                <a:latin typeface="Inter" pitchFamily="34" charset="0"/>
                <a:ea typeface="Inter" pitchFamily="34" charset="-122"/>
                <a:cs typeface="Inter" pitchFamily="34" charset="-120"/>
              </a:rPr>
              <a:t>Structured, milestone-driven learning paths generated from skill gaps and role targets — turning recommendation output into actionable guidance.</a:t>
            </a:r>
            <a:endParaRPr lang="en-US" sz="950" dirty="0"/>
          </a:p>
        </p:txBody>
      </p:sp>
      <p:sp>
        <p:nvSpPr>
          <p:cNvPr id="7" name="Shape 4"/>
          <p:cNvSpPr/>
          <p:nvPr/>
        </p:nvSpPr>
        <p:spPr>
          <a:xfrm>
            <a:off x="426393" y="2739628"/>
            <a:ext cx="8291215" cy="14288"/>
          </a:xfrm>
          <a:prstGeom prst="roundRect">
            <a:avLst>
              <a:gd name="adj" fmla="val 358127"/>
            </a:avLst>
          </a:prstGeom>
          <a:solidFill>
            <a:srgbClr val="2A1999"/>
          </a:solidFill>
          <a:ln/>
        </p:spPr>
      </p:sp>
      <p:sp>
        <p:nvSpPr>
          <p:cNvPr id="8" name="Shape 5"/>
          <p:cNvSpPr/>
          <p:nvPr/>
        </p:nvSpPr>
        <p:spPr>
          <a:xfrm>
            <a:off x="2038127" y="2374218"/>
            <a:ext cx="14288" cy="365447"/>
          </a:xfrm>
          <a:prstGeom prst="roundRect">
            <a:avLst>
              <a:gd name="adj" fmla="val 358127"/>
            </a:avLst>
          </a:prstGeom>
          <a:solidFill>
            <a:srgbClr val="2A1999"/>
          </a:solidFill>
          <a:ln/>
        </p:spPr>
      </p:sp>
      <p:sp>
        <p:nvSpPr>
          <p:cNvPr id="9" name="Shape 6"/>
          <p:cNvSpPr/>
          <p:nvPr/>
        </p:nvSpPr>
        <p:spPr>
          <a:xfrm>
            <a:off x="1908274" y="2602595"/>
            <a:ext cx="274067" cy="274067"/>
          </a:xfrm>
          <a:prstGeom prst="roundRect">
            <a:avLst>
              <a:gd name="adj" fmla="val 18670"/>
            </a:avLst>
          </a:prstGeom>
          <a:solidFill>
            <a:srgbClr val="110080"/>
          </a:solidFill>
          <a:ln w="4763">
            <a:solidFill>
              <a:srgbClr val="2A1999"/>
            </a:solidFill>
            <a:prstDash val="solid"/>
          </a:ln>
        </p:spPr>
      </p:sp>
      <p:sp>
        <p:nvSpPr>
          <p:cNvPr id="10" name="Text 7"/>
          <p:cNvSpPr/>
          <p:nvPr/>
        </p:nvSpPr>
        <p:spPr>
          <a:xfrm>
            <a:off x="1725327" y="2625403"/>
            <a:ext cx="411287" cy="228377"/>
          </a:xfrm>
          <a:prstGeom prst="rect">
            <a:avLst/>
          </a:prstGeom>
          <a:noFill/>
          <a:ln/>
        </p:spPr>
        <p:txBody>
          <a:bodyPr wrap="none" lIns="0" tIns="0" rIns="0" bIns="0" rtlCol="0" anchor="ctr"/>
          <a:lstStyle/>
          <a:p>
            <a:pPr marL="0" indent="0" algn="ctr">
              <a:lnSpc>
                <a:spcPct val="100000"/>
              </a:lnSpc>
              <a:buNone/>
            </a:pPr>
            <a:r>
              <a:rPr lang="en-US" sz="1400" b="1" dirty="0">
                <a:solidFill>
                  <a:srgbClr val="E5E0DF"/>
                </a:solidFill>
                <a:latin typeface="Inter Bold" pitchFamily="34" charset="0"/>
                <a:ea typeface="Inter Bold" pitchFamily="34" charset="-122"/>
                <a:cs typeface="Inter Bold" pitchFamily="34" charset="-120"/>
              </a:rPr>
              <a:t>1</a:t>
            </a:r>
            <a:endParaRPr lang="en-US" sz="1400" dirty="0"/>
          </a:p>
        </p:txBody>
      </p:sp>
      <p:sp>
        <p:nvSpPr>
          <p:cNvPr id="11" name="Text 8"/>
          <p:cNvSpPr/>
          <p:nvPr/>
        </p:nvSpPr>
        <p:spPr>
          <a:xfrm>
            <a:off x="1055340" y="1636812"/>
            <a:ext cx="1751484" cy="190351"/>
          </a:xfrm>
          <a:prstGeom prst="rect">
            <a:avLst/>
          </a:prstGeom>
          <a:noFill/>
          <a:ln/>
        </p:spPr>
        <p:txBody>
          <a:bodyPr wrap="none" lIns="0" tIns="0" rIns="0" bIns="0" rtlCol="0" anchor="t"/>
          <a:lstStyle/>
          <a:p>
            <a:pPr marL="0" indent="0" algn="ctr">
              <a:lnSpc>
                <a:spcPct val="104000"/>
              </a:lnSpc>
              <a:buNone/>
            </a:pPr>
            <a:r>
              <a:rPr lang="en-US" sz="1150" b="1" dirty="0">
                <a:solidFill>
                  <a:srgbClr val="E5E0DF"/>
                </a:solidFill>
                <a:latin typeface="Inter Bold" pitchFamily="34" charset="0"/>
                <a:ea typeface="Inter Bold" pitchFamily="34" charset="-122"/>
                <a:cs typeface="Inter Bold" pitchFamily="34" charset="-120"/>
              </a:rPr>
              <a:t>Gap Assessment</a:t>
            </a:r>
            <a:endParaRPr lang="en-US" sz="1150" dirty="0"/>
          </a:p>
        </p:txBody>
      </p:sp>
      <p:sp>
        <p:nvSpPr>
          <p:cNvPr id="12" name="Text 9"/>
          <p:cNvSpPr/>
          <p:nvPr/>
        </p:nvSpPr>
        <p:spPr>
          <a:xfrm>
            <a:off x="548208" y="1889968"/>
            <a:ext cx="2994347" cy="362396"/>
          </a:xfrm>
          <a:prstGeom prst="rect">
            <a:avLst/>
          </a:prstGeom>
          <a:noFill/>
          <a:ln/>
        </p:spPr>
        <p:txBody>
          <a:bodyPr wrap="square" lIns="0" tIns="0" rIns="0" bIns="0" rtlCol="0" anchor="t">
            <a:normAutofit/>
          </a:bodyPr>
          <a:lstStyle/>
          <a:p>
            <a:pPr marL="0" indent="0" algn="ctr">
              <a:lnSpc>
                <a:spcPct val="124000"/>
              </a:lnSpc>
              <a:buNone/>
            </a:pPr>
            <a:r>
              <a:rPr lang="en-US" sz="950" dirty="0">
                <a:solidFill>
                  <a:srgbClr val="E5E0DF"/>
                </a:solidFill>
                <a:latin typeface="Inter" pitchFamily="34" charset="0"/>
                <a:ea typeface="Inter" pitchFamily="34" charset="-122"/>
                <a:cs typeface="Inter" pitchFamily="34" charset="-120"/>
              </a:rPr>
              <a:t>Role recommendation output seeds the roadmap with prioritized missing skills.</a:t>
            </a:r>
            <a:endParaRPr lang="en-US" sz="950" dirty="0"/>
          </a:p>
        </p:txBody>
      </p:sp>
      <p:sp>
        <p:nvSpPr>
          <p:cNvPr id="13" name="Shape 10"/>
          <p:cNvSpPr/>
          <p:nvPr/>
        </p:nvSpPr>
        <p:spPr>
          <a:xfrm>
            <a:off x="3722489" y="2739591"/>
            <a:ext cx="14288" cy="365447"/>
          </a:xfrm>
          <a:prstGeom prst="roundRect">
            <a:avLst>
              <a:gd name="adj" fmla="val 358127"/>
            </a:avLst>
          </a:prstGeom>
          <a:solidFill>
            <a:srgbClr val="2A1999"/>
          </a:solidFill>
          <a:ln/>
        </p:spPr>
      </p:sp>
      <p:sp>
        <p:nvSpPr>
          <p:cNvPr id="14" name="Shape 11"/>
          <p:cNvSpPr/>
          <p:nvPr/>
        </p:nvSpPr>
        <p:spPr>
          <a:xfrm>
            <a:off x="3592637" y="2602595"/>
            <a:ext cx="274067" cy="274067"/>
          </a:xfrm>
          <a:prstGeom prst="roundRect">
            <a:avLst>
              <a:gd name="adj" fmla="val 18670"/>
            </a:avLst>
          </a:prstGeom>
          <a:solidFill>
            <a:srgbClr val="110080"/>
          </a:solidFill>
          <a:ln w="4763">
            <a:solidFill>
              <a:srgbClr val="2A1999"/>
            </a:solidFill>
            <a:prstDash val="solid"/>
          </a:ln>
        </p:spPr>
      </p:sp>
      <p:sp>
        <p:nvSpPr>
          <p:cNvPr id="15" name="Text 12"/>
          <p:cNvSpPr/>
          <p:nvPr/>
        </p:nvSpPr>
        <p:spPr>
          <a:xfrm>
            <a:off x="3409690" y="2625403"/>
            <a:ext cx="411287" cy="228377"/>
          </a:xfrm>
          <a:prstGeom prst="rect">
            <a:avLst/>
          </a:prstGeom>
          <a:noFill/>
          <a:ln/>
        </p:spPr>
        <p:txBody>
          <a:bodyPr wrap="none" lIns="0" tIns="0" rIns="0" bIns="0" rtlCol="0" anchor="ctr"/>
          <a:lstStyle/>
          <a:p>
            <a:pPr marL="0" indent="0" algn="ctr">
              <a:lnSpc>
                <a:spcPct val="100000"/>
              </a:lnSpc>
              <a:buNone/>
            </a:pPr>
            <a:r>
              <a:rPr lang="en-US" sz="1400" b="1" dirty="0">
                <a:solidFill>
                  <a:srgbClr val="E5E0DF"/>
                </a:solidFill>
                <a:latin typeface="Inter Bold" pitchFamily="34" charset="0"/>
                <a:ea typeface="Inter Bold" pitchFamily="34" charset="-122"/>
                <a:cs typeface="Inter Bold" pitchFamily="34" charset="-120"/>
              </a:rPr>
              <a:t>2</a:t>
            </a:r>
            <a:endParaRPr lang="en-US" sz="1400" dirty="0"/>
          </a:p>
        </p:txBody>
      </p:sp>
      <p:sp>
        <p:nvSpPr>
          <p:cNvPr id="16" name="Text 13"/>
          <p:cNvSpPr/>
          <p:nvPr/>
        </p:nvSpPr>
        <p:spPr>
          <a:xfrm>
            <a:off x="2739703" y="3226891"/>
            <a:ext cx="1751484" cy="190351"/>
          </a:xfrm>
          <a:prstGeom prst="rect">
            <a:avLst/>
          </a:prstGeom>
          <a:noFill/>
          <a:ln/>
        </p:spPr>
        <p:txBody>
          <a:bodyPr wrap="none" lIns="0" tIns="0" rIns="0" bIns="0" rtlCol="0" anchor="t"/>
          <a:lstStyle/>
          <a:p>
            <a:pPr marL="0" indent="0" algn="ctr">
              <a:lnSpc>
                <a:spcPct val="104000"/>
              </a:lnSpc>
              <a:buNone/>
            </a:pPr>
            <a:r>
              <a:rPr lang="en-US" sz="1150" b="1" dirty="0">
                <a:solidFill>
                  <a:srgbClr val="E5E0DF"/>
                </a:solidFill>
                <a:latin typeface="Inter Bold" pitchFamily="34" charset="0"/>
                <a:ea typeface="Inter Bold" pitchFamily="34" charset="-122"/>
                <a:cs typeface="Inter Bold" pitchFamily="34" charset="-120"/>
              </a:rPr>
              <a:t>Step Generation</a:t>
            </a:r>
            <a:endParaRPr lang="en-US" sz="1150" dirty="0"/>
          </a:p>
        </p:txBody>
      </p:sp>
      <p:sp>
        <p:nvSpPr>
          <p:cNvPr id="17" name="Text 14"/>
          <p:cNvSpPr/>
          <p:nvPr/>
        </p:nvSpPr>
        <p:spPr>
          <a:xfrm>
            <a:off x="2232571" y="3480048"/>
            <a:ext cx="2994347" cy="362396"/>
          </a:xfrm>
          <a:prstGeom prst="rect">
            <a:avLst/>
          </a:prstGeom>
          <a:noFill/>
          <a:ln/>
        </p:spPr>
        <p:txBody>
          <a:bodyPr wrap="square" lIns="0" tIns="0" rIns="0" bIns="0" rtlCol="0" anchor="t">
            <a:normAutofit/>
          </a:bodyPr>
          <a:lstStyle/>
          <a:p>
            <a:pPr marL="0" indent="0" algn="ctr">
              <a:lnSpc>
                <a:spcPct val="124000"/>
              </a:lnSpc>
              <a:buNone/>
            </a:pPr>
            <a:r>
              <a:rPr lang="en-US" sz="950" dirty="0">
                <a:solidFill>
                  <a:srgbClr val="E5E0DF"/>
                </a:solidFill>
                <a:latin typeface="Inter" pitchFamily="34" charset="0"/>
                <a:ea typeface="Inter" pitchFamily="34" charset="-122"/>
                <a:cs typeface="Inter" pitchFamily="34" charset="-120"/>
              </a:rPr>
              <a:t>Each skill gap becomes an ordered learning step with curated resource links and estimated hours.</a:t>
            </a:r>
            <a:endParaRPr lang="en-US" sz="950" dirty="0"/>
          </a:p>
        </p:txBody>
      </p:sp>
      <p:sp>
        <p:nvSpPr>
          <p:cNvPr id="18" name="Shape 15"/>
          <p:cNvSpPr/>
          <p:nvPr/>
        </p:nvSpPr>
        <p:spPr>
          <a:xfrm>
            <a:off x="5406926" y="2374218"/>
            <a:ext cx="14288" cy="365447"/>
          </a:xfrm>
          <a:prstGeom prst="roundRect">
            <a:avLst>
              <a:gd name="adj" fmla="val 358127"/>
            </a:avLst>
          </a:prstGeom>
          <a:solidFill>
            <a:srgbClr val="2A1999"/>
          </a:solidFill>
          <a:ln/>
        </p:spPr>
      </p:sp>
      <p:sp>
        <p:nvSpPr>
          <p:cNvPr id="19" name="Shape 16"/>
          <p:cNvSpPr/>
          <p:nvPr/>
        </p:nvSpPr>
        <p:spPr>
          <a:xfrm>
            <a:off x="5277073" y="2602595"/>
            <a:ext cx="274067" cy="274067"/>
          </a:xfrm>
          <a:prstGeom prst="roundRect">
            <a:avLst>
              <a:gd name="adj" fmla="val 18670"/>
            </a:avLst>
          </a:prstGeom>
          <a:solidFill>
            <a:srgbClr val="110080"/>
          </a:solidFill>
          <a:ln w="4763">
            <a:solidFill>
              <a:srgbClr val="2A1999"/>
            </a:solidFill>
            <a:prstDash val="solid"/>
          </a:ln>
        </p:spPr>
      </p:sp>
      <p:sp>
        <p:nvSpPr>
          <p:cNvPr id="20" name="Text 17"/>
          <p:cNvSpPr/>
          <p:nvPr/>
        </p:nvSpPr>
        <p:spPr>
          <a:xfrm>
            <a:off x="5094126" y="2625403"/>
            <a:ext cx="411287" cy="228377"/>
          </a:xfrm>
          <a:prstGeom prst="rect">
            <a:avLst/>
          </a:prstGeom>
          <a:noFill/>
          <a:ln/>
        </p:spPr>
        <p:txBody>
          <a:bodyPr wrap="none" lIns="0" tIns="0" rIns="0" bIns="0" rtlCol="0" anchor="ctr"/>
          <a:lstStyle/>
          <a:p>
            <a:pPr marL="0" indent="0" algn="ctr">
              <a:lnSpc>
                <a:spcPct val="100000"/>
              </a:lnSpc>
              <a:buNone/>
            </a:pPr>
            <a:r>
              <a:rPr lang="en-US" sz="1400" b="1" dirty="0">
                <a:solidFill>
                  <a:srgbClr val="E5E0DF"/>
                </a:solidFill>
                <a:latin typeface="Inter Bold" pitchFamily="34" charset="0"/>
                <a:ea typeface="Inter Bold" pitchFamily="34" charset="-122"/>
                <a:cs typeface="Inter Bold" pitchFamily="34" charset="-120"/>
              </a:rPr>
              <a:t>3</a:t>
            </a:r>
            <a:endParaRPr lang="en-US" sz="1400" dirty="0"/>
          </a:p>
        </p:txBody>
      </p:sp>
      <p:sp>
        <p:nvSpPr>
          <p:cNvPr id="21" name="Text 18"/>
          <p:cNvSpPr/>
          <p:nvPr/>
        </p:nvSpPr>
        <p:spPr>
          <a:xfrm>
            <a:off x="4424139" y="1636812"/>
            <a:ext cx="1751484" cy="190351"/>
          </a:xfrm>
          <a:prstGeom prst="rect">
            <a:avLst/>
          </a:prstGeom>
          <a:noFill/>
          <a:ln/>
        </p:spPr>
        <p:txBody>
          <a:bodyPr wrap="none" lIns="0" tIns="0" rIns="0" bIns="0" rtlCol="0" anchor="t"/>
          <a:lstStyle/>
          <a:p>
            <a:pPr marL="0" indent="0" algn="ctr">
              <a:lnSpc>
                <a:spcPct val="104000"/>
              </a:lnSpc>
              <a:buNone/>
            </a:pPr>
            <a:r>
              <a:rPr lang="en-US" sz="1150" b="1" dirty="0">
                <a:solidFill>
                  <a:srgbClr val="E5E0DF"/>
                </a:solidFill>
                <a:latin typeface="Inter Bold" pitchFamily="34" charset="0"/>
                <a:ea typeface="Inter Bold" pitchFamily="34" charset="-122"/>
                <a:cs typeface="Inter Bold" pitchFamily="34" charset="-120"/>
              </a:rPr>
              <a:t>Progress Tracking</a:t>
            </a:r>
            <a:endParaRPr lang="en-US" sz="1150" dirty="0"/>
          </a:p>
        </p:txBody>
      </p:sp>
      <p:sp>
        <p:nvSpPr>
          <p:cNvPr id="22" name="Text 19"/>
          <p:cNvSpPr/>
          <p:nvPr/>
        </p:nvSpPr>
        <p:spPr>
          <a:xfrm>
            <a:off x="3917007" y="1889968"/>
            <a:ext cx="2994347" cy="362396"/>
          </a:xfrm>
          <a:prstGeom prst="rect">
            <a:avLst/>
          </a:prstGeom>
          <a:noFill/>
          <a:ln/>
        </p:spPr>
        <p:txBody>
          <a:bodyPr wrap="square" lIns="0" tIns="0" rIns="0" bIns="0" rtlCol="0" anchor="t">
            <a:normAutofit/>
          </a:bodyPr>
          <a:lstStyle/>
          <a:p>
            <a:pPr marL="0" indent="0" algn="ctr">
              <a:lnSpc>
                <a:spcPct val="124000"/>
              </a:lnSpc>
              <a:buNone/>
            </a:pPr>
            <a:r>
              <a:rPr lang="en-US" sz="950" dirty="0">
                <a:solidFill>
                  <a:srgbClr val="E5E0DF"/>
                </a:solidFill>
                <a:latin typeface="Inter" pitchFamily="34" charset="0"/>
                <a:ea typeface="Inter" pitchFamily="34" charset="-122"/>
                <a:cs typeface="Inter" pitchFamily="34" charset="-120"/>
              </a:rPr>
              <a:t>Users mark steps complete. Completion percentage is computed and stored in real time via Firestore.</a:t>
            </a:r>
            <a:endParaRPr lang="en-US" sz="950" dirty="0"/>
          </a:p>
        </p:txBody>
      </p:sp>
      <p:sp>
        <p:nvSpPr>
          <p:cNvPr id="23" name="Shape 20"/>
          <p:cNvSpPr/>
          <p:nvPr/>
        </p:nvSpPr>
        <p:spPr>
          <a:xfrm>
            <a:off x="7091288" y="2739591"/>
            <a:ext cx="14288" cy="365447"/>
          </a:xfrm>
          <a:prstGeom prst="roundRect">
            <a:avLst>
              <a:gd name="adj" fmla="val 358127"/>
            </a:avLst>
          </a:prstGeom>
          <a:solidFill>
            <a:srgbClr val="2A1999"/>
          </a:solidFill>
          <a:ln/>
        </p:spPr>
      </p:sp>
      <p:sp>
        <p:nvSpPr>
          <p:cNvPr id="24" name="Shape 21"/>
          <p:cNvSpPr/>
          <p:nvPr/>
        </p:nvSpPr>
        <p:spPr>
          <a:xfrm>
            <a:off x="6961436" y="2602595"/>
            <a:ext cx="274067" cy="274067"/>
          </a:xfrm>
          <a:prstGeom prst="roundRect">
            <a:avLst>
              <a:gd name="adj" fmla="val 18670"/>
            </a:avLst>
          </a:prstGeom>
          <a:solidFill>
            <a:srgbClr val="110080"/>
          </a:solidFill>
          <a:ln w="4763">
            <a:solidFill>
              <a:srgbClr val="2A1999"/>
            </a:solidFill>
            <a:prstDash val="solid"/>
          </a:ln>
        </p:spPr>
      </p:sp>
      <p:sp>
        <p:nvSpPr>
          <p:cNvPr id="25" name="Text 22"/>
          <p:cNvSpPr/>
          <p:nvPr/>
        </p:nvSpPr>
        <p:spPr>
          <a:xfrm>
            <a:off x="6778489" y="2625403"/>
            <a:ext cx="411287" cy="228377"/>
          </a:xfrm>
          <a:prstGeom prst="rect">
            <a:avLst/>
          </a:prstGeom>
          <a:noFill/>
          <a:ln/>
        </p:spPr>
        <p:txBody>
          <a:bodyPr wrap="none" lIns="0" tIns="0" rIns="0" bIns="0" rtlCol="0" anchor="ctr"/>
          <a:lstStyle/>
          <a:p>
            <a:pPr marL="0" indent="0" algn="ctr">
              <a:lnSpc>
                <a:spcPct val="100000"/>
              </a:lnSpc>
              <a:buNone/>
            </a:pPr>
            <a:r>
              <a:rPr lang="en-US" sz="1400" b="1" dirty="0">
                <a:solidFill>
                  <a:srgbClr val="E5E0DF"/>
                </a:solidFill>
                <a:latin typeface="Inter Bold" pitchFamily="34" charset="0"/>
                <a:ea typeface="Inter Bold" pitchFamily="34" charset="-122"/>
                <a:cs typeface="Inter Bold" pitchFamily="34" charset="-120"/>
              </a:rPr>
              <a:t>4</a:t>
            </a:r>
            <a:endParaRPr lang="en-US" sz="1400" dirty="0"/>
          </a:p>
        </p:txBody>
      </p:sp>
      <p:sp>
        <p:nvSpPr>
          <p:cNvPr id="26" name="Text 23"/>
          <p:cNvSpPr/>
          <p:nvPr/>
        </p:nvSpPr>
        <p:spPr>
          <a:xfrm>
            <a:off x="6108502" y="3226891"/>
            <a:ext cx="1751484" cy="190351"/>
          </a:xfrm>
          <a:prstGeom prst="rect">
            <a:avLst/>
          </a:prstGeom>
          <a:noFill/>
          <a:ln/>
        </p:spPr>
        <p:txBody>
          <a:bodyPr wrap="none" lIns="0" tIns="0" rIns="0" bIns="0" rtlCol="0" anchor="t"/>
          <a:lstStyle/>
          <a:p>
            <a:pPr marL="0" indent="0" algn="ctr">
              <a:lnSpc>
                <a:spcPct val="104000"/>
              </a:lnSpc>
              <a:buNone/>
            </a:pPr>
            <a:r>
              <a:rPr lang="en-US" sz="1150" b="1" dirty="0">
                <a:solidFill>
                  <a:srgbClr val="E5E0DF"/>
                </a:solidFill>
                <a:latin typeface="Inter Bold" pitchFamily="34" charset="0"/>
                <a:ea typeface="Inter Bold" pitchFamily="34" charset="-122"/>
                <a:cs typeface="Inter Bold" pitchFamily="34" charset="-120"/>
              </a:rPr>
              <a:t>Milestone Review</a:t>
            </a:r>
            <a:endParaRPr lang="en-US" sz="1150" dirty="0"/>
          </a:p>
        </p:txBody>
      </p:sp>
      <p:sp>
        <p:nvSpPr>
          <p:cNvPr id="27" name="Text 24"/>
          <p:cNvSpPr/>
          <p:nvPr/>
        </p:nvSpPr>
        <p:spPr>
          <a:xfrm>
            <a:off x="5601370" y="3480048"/>
            <a:ext cx="2994347" cy="543595"/>
          </a:xfrm>
          <a:prstGeom prst="rect">
            <a:avLst/>
          </a:prstGeom>
          <a:noFill/>
          <a:ln/>
        </p:spPr>
        <p:txBody>
          <a:bodyPr wrap="square" lIns="0" tIns="0" rIns="0" bIns="0" rtlCol="0" anchor="t">
            <a:normAutofit/>
          </a:bodyPr>
          <a:lstStyle/>
          <a:p>
            <a:pPr marL="0" indent="0" algn="ctr">
              <a:lnSpc>
                <a:spcPct val="124000"/>
              </a:lnSpc>
              <a:buNone/>
            </a:pPr>
            <a:r>
              <a:rPr lang="en-US" sz="950" dirty="0">
                <a:solidFill>
                  <a:srgbClr val="E5E0DF"/>
                </a:solidFill>
                <a:latin typeface="Inter" pitchFamily="34" charset="0"/>
                <a:ea typeface="Inter" pitchFamily="34" charset="-122"/>
                <a:cs typeface="Inter" pitchFamily="34" charset="-120"/>
              </a:rPr>
              <a:t>At each milestone, the system re-evaluates role match score and surfaces updated recommendations.</a:t>
            </a:r>
            <a:endParaRPr lang="en-US" sz="950" dirty="0"/>
          </a:p>
        </p:txBody>
      </p:sp>
      <p:sp>
        <p:nvSpPr>
          <p:cNvPr id="28" name="Shape 25"/>
          <p:cNvSpPr/>
          <p:nvPr/>
        </p:nvSpPr>
        <p:spPr>
          <a:xfrm>
            <a:off x="426393" y="4141366"/>
            <a:ext cx="8291215" cy="652537"/>
          </a:xfrm>
          <a:prstGeom prst="roundRect">
            <a:avLst>
              <a:gd name="adj" fmla="val 7842"/>
            </a:avLst>
          </a:prstGeom>
          <a:solidFill>
            <a:srgbClr val="022349"/>
          </a:solidFill>
          <a:ln/>
        </p:spPr>
      </p:sp>
      <p:pic>
        <p:nvPicPr>
          <p:cNvPr id="29" name="Image 1" descr="preencoded.png"/>
          <p:cNvPicPr>
            <a:picLocks noChangeAspect="1"/>
          </p:cNvPicPr>
          <p:nvPr/>
        </p:nvPicPr>
        <p:blipFill>
          <a:blip r:embed="rId3"/>
          <a:stretch>
            <a:fillRect/>
          </a:stretch>
        </p:blipFill>
        <p:spPr>
          <a:xfrm>
            <a:off x="548208" y="4320332"/>
            <a:ext cx="152251" cy="121816"/>
          </a:xfrm>
          <a:prstGeom prst="rect">
            <a:avLst/>
          </a:prstGeom>
        </p:spPr>
      </p:pic>
      <p:sp>
        <p:nvSpPr>
          <p:cNvPr id="30" name="Text 26"/>
          <p:cNvSpPr/>
          <p:nvPr/>
        </p:nvSpPr>
        <p:spPr>
          <a:xfrm>
            <a:off x="822275" y="4276427"/>
            <a:ext cx="7773516" cy="362396"/>
          </a:xfrm>
          <a:prstGeom prst="rect">
            <a:avLst/>
          </a:prstGeom>
          <a:noFill/>
          <a:ln/>
        </p:spPr>
        <p:txBody>
          <a:bodyPr wrap="square" lIns="0" tIns="0" rIns="0" bIns="0" rtlCol="0" anchor="t">
            <a:normAutofit/>
          </a:bodyPr>
          <a:lstStyle/>
          <a:p>
            <a:pPr marL="0" indent="0" algn="l">
              <a:lnSpc>
                <a:spcPct val="124000"/>
              </a:lnSpc>
              <a:buNone/>
            </a:pPr>
            <a:r>
              <a:rPr lang="en-US" sz="950" dirty="0">
                <a:solidFill>
                  <a:srgbClr val="FFFFFF"/>
                </a:solidFill>
                <a:latin typeface="Inter" pitchFamily="34" charset="0"/>
                <a:ea typeface="Inter" pitchFamily="34" charset="-122"/>
                <a:cs typeface="Inter" pitchFamily="34" charset="-120"/>
              </a:rPr>
              <a:t>Roadmap data is persisted in Firestore under the user's document, enabling cross-device continuity and historical milestone visualization.</a:t>
            </a:r>
            <a:endParaRPr lang="en-US" sz="950" dirty="0"/>
          </a:p>
        </p:txBody>
      </p:sp>
      <p:pic>
        <p:nvPicPr>
          <p:cNvPr id="31" name="Picture 30"/>
          <p:cNvPicPr>
            <a:picLocks noChangeAspect="1"/>
          </p:cNvPicPr>
          <p:nvPr/>
        </p:nvPicPr>
        <p:blipFill>
          <a:blip r:embed="rId4"/>
          <a:stretch>
            <a:fillRect/>
          </a:stretch>
        </p:blipFill>
        <p:spPr>
          <a:xfrm>
            <a:off x="7805588" y="4804692"/>
            <a:ext cx="1338411" cy="310367"/>
          </a:xfrm>
          <a:prstGeom prst="rect">
            <a:avLst/>
          </a:prstGeom>
        </p:spPr>
      </p:pic>
    </p:spTree>
    <p:extLst>
      <p:ext uri="{BB962C8B-B14F-4D97-AF65-F5344CB8AC3E}">
        <p14:creationId xmlns:p14="http://schemas.microsoft.com/office/powerpoint/2010/main" val="369938151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1209452" y="319832"/>
            <a:ext cx="1277838" cy="163562"/>
          </a:xfrm>
          <a:prstGeom prst="roundRect">
            <a:avLst>
              <a:gd name="adj" fmla="val 20022"/>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1267867" y="362620"/>
            <a:ext cx="77912" cy="77912"/>
          </a:xfrm>
          <a:prstGeom prst="rect">
            <a:avLst/>
          </a:prstGeom>
        </p:spPr>
      </p:pic>
      <p:sp>
        <p:nvSpPr>
          <p:cNvPr id="4" name="Text 1"/>
          <p:cNvSpPr/>
          <p:nvPr/>
        </p:nvSpPr>
        <p:spPr>
          <a:xfrm>
            <a:off x="1384697" y="349002"/>
            <a:ext cx="1501378" cy="105221"/>
          </a:xfrm>
          <a:prstGeom prst="rect">
            <a:avLst/>
          </a:prstGeom>
          <a:noFill/>
          <a:ln/>
        </p:spPr>
        <p:txBody>
          <a:bodyPr wrap="none" lIns="0" tIns="0" rIns="0" bIns="0" rtlCol="0" anchor="t"/>
          <a:lstStyle/>
          <a:p>
            <a:pPr marL="0" indent="0" algn="l">
              <a:lnSpc>
                <a:spcPct val="112000"/>
              </a:lnSpc>
              <a:buNone/>
            </a:pPr>
            <a:r>
              <a:rPr lang="en-US" sz="600" dirty="0">
                <a:solidFill>
                  <a:srgbClr val="E5E0DF"/>
                </a:solidFill>
                <a:latin typeface="Inter" pitchFamily="34" charset="0"/>
                <a:ea typeface="Inter" pitchFamily="34" charset="-122"/>
                <a:cs typeface="Inter" pitchFamily="34" charset="-120"/>
              </a:rPr>
              <a:t>AUTHENTICATION MODULE</a:t>
            </a:r>
            <a:endParaRPr lang="en-US" sz="600" dirty="0"/>
          </a:p>
        </p:txBody>
      </p:sp>
      <p:sp>
        <p:nvSpPr>
          <p:cNvPr id="5" name="Text 2"/>
          <p:cNvSpPr/>
          <p:nvPr/>
        </p:nvSpPr>
        <p:spPr>
          <a:xfrm>
            <a:off x="1209452" y="510183"/>
            <a:ext cx="3931816" cy="304502"/>
          </a:xfrm>
          <a:prstGeom prst="rect">
            <a:avLst/>
          </a:prstGeom>
          <a:noFill/>
          <a:ln/>
        </p:spPr>
        <p:txBody>
          <a:bodyPr wrap="none" lIns="0" tIns="0" rIns="0" bIns="0" rtlCol="0" anchor="t"/>
          <a:lstStyle/>
          <a:p>
            <a:pPr marL="0" indent="0" algn="l">
              <a:lnSpc>
                <a:spcPct val="104000"/>
              </a:lnSpc>
              <a:buNone/>
            </a:pPr>
            <a:r>
              <a:rPr lang="en-US" sz="1900" b="1" dirty="0">
                <a:solidFill>
                  <a:srgbClr val="FFFFFF"/>
                </a:solidFill>
                <a:latin typeface="Inter Bold" pitchFamily="34" charset="0"/>
                <a:ea typeface="Inter Bold" pitchFamily="34" charset="-122"/>
                <a:cs typeface="Inter Bold" pitchFamily="34" charset="-120"/>
              </a:rPr>
              <a:t>Firebase Authentication Flow</a:t>
            </a:r>
            <a:endParaRPr lang="en-US" sz="1900" dirty="0"/>
          </a:p>
        </p:txBody>
      </p:sp>
      <p:pic>
        <p:nvPicPr>
          <p:cNvPr id="6" name="Image 1" descr="preencoded.png"/>
          <p:cNvPicPr>
            <a:picLocks noChangeAspect="1"/>
          </p:cNvPicPr>
          <p:nvPr/>
        </p:nvPicPr>
        <p:blipFill>
          <a:blip r:embed="rId5"/>
          <a:stretch>
            <a:fillRect/>
          </a:stretch>
        </p:blipFill>
        <p:spPr>
          <a:xfrm>
            <a:off x="1237134" y="915144"/>
            <a:ext cx="6669584" cy="2876104"/>
          </a:xfrm>
          <a:prstGeom prst="rect">
            <a:avLst/>
          </a:prstGeom>
        </p:spPr>
      </p:pic>
      <p:sp>
        <p:nvSpPr>
          <p:cNvPr id="7" name="Text 3"/>
          <p:cNvSpPr/>
          <p:nvPr/>
        </p:nvSpPr>
        <p:spPr>
          <a:xfrm>
            <a:off x="1685902" y="3245831"/>
            <a:ext cx="2146322" cy="189139"/>
          </a:xfrm>
          <a:prstGeom prst="rect">
            <a:avLst/>
          </a:prstGeom>
          <a:noFill/>
          <a:ln/>
        </p:spPr>
        <p:txBody>
          <a:bodyPr wrap="none" lIns="0" tIns="0" rIns="0" bIns="0" rtlCol="0" anchor="t"/>
          <a:lstStyle/>
          <a:p>
            <a:pPr marL="0" indent="0" algn="l">
              <a:lnSpc>
                <a:spcPct val="104000"/>
              </a:lnSpc>
              <a:buNone/>
            </a:pPr>
            <a:r>
              <a:rPr lang="en-US" sz="1150" b="1" dirty="0">
                <a:solidFill>
                  <a:srgbClr val="FFFFFF"/>
                </a:solidFill>
                <a:latin typeface="Inter Bold" pitchFamily="34" charset="0"/>
                <a:ea typeface="Inter Bold" pitchFamily="34" charset="-122"/>
                <a:cs typeface="Inter Bold" pitchFamily="34" charset="-120"/>
              </a:rPr>
              <a:t>Role-Aware Navigation</a:t>
            </a:r>
            <a:endParaRPr lang="en-US" sz="1150" dirty="0"/>
          </a:p>
        </p:txBody>
      </p:sp>
      <p:sp>
        <p:nvSpPr>
          <p:cNvPr id="8" name="Text 4"/>
          <p:cNvSpPr/>
          <p:nvPr/>
        </p:nvSpPr>
        <p:spPr>
          <a:xfrm>
            <a:off x="1685902" y="2580059"/>
            <a:ext cx="2054274" cy="189140"/>
          </a:xfrm>
          <a:prstGeom prst="rect">
            <a:avLst/>
          </a:prstGeom>
          <a:noFill/>
          <a:ln/>
        </p:spPr>
        <p:txBody>
          <a:bodyPr wrap="none" lIns="0" tIns="0" rIns="0" bIns="0" rtlCol="0" anchor="t"/>
          <a:lstStyle/>
          <a:p>
            <a:pPr marL="0" indent="0" algn="l">
              <a:lnSpc>
                <a:spcPct val="104000"/>
              </a:lnSpc>
              <a:buNone/>
            </a:pPr>
            <a:r>
              <a:rPr lang="en-US" sz="1150" b="1" dirty="0">
                <a:solidFill>
                  <a:srgbClr val="FFFFFF"/>
                </a:solidFill>
                <a:latin typeface="Inter Bold" pitchFamily="34" charset="0"/>
                <a:ea typeface="Inter Bold" pitchFamily="34" charset="-122"/>
                <a:cs typeface="Inter Bold" pitchFamily="34" charset="-120"/>
              </a:rPr>
              <a:t>Session Management</a:t>
            </a:r>
            <a:endParaRPr lang="en-US" sz="1150" dirty="0"/>
          </a:p>
        </p:txBody>
      </p:sp>
      <p:sp>
        <p:nvSpPr>
          <p:cNvPr id="9" name="Text 5"/>
          <p:cNvSpPr/>
          <p:nvPr/>
        </p:nvSpPr>
        <p:spPr>
          <a:xfrm>
            <a:off x="1685902" y="1921013"/>
            <a:ext cx="1970317" cy="189140"/>
          </a:xfrm>
          <a:prstGeom prst="rect">
            <a:avLst/>
          </a:prstGeom>
          <a:noFill/>
          <a:ln/>
        </p:spPr>
        <p:txBody>
          <a:bodyPr wrap="none" lIns="0" tIns="0" rIns="0" bIns="0" rtlCol="0" anchor="t"/>
          <a:lstStyle/>
          <a:p>
            <a:pPr marL="0" indent="0" algn="l">
              <a:lnSpc>
                <a:spcPct val="104000"/>
              </a:lnSpc>
              <a:buNone/>
            </a:pPr>
            <a:r>
              <a:rPr lang="en-US" sz="1150" b="1" dirty="0">
                <a:solidFill>
                  <a:srgbClr val="FFFFFF"/>
                </a:solidFill>
                <a:latin typeface="Inter Bold" pitchFamily="34" charset="0"/>
                <a:ea typeface="Inter Bold" pitchFamily="34" charset="-122"/>
                <a:cs typeface="Inter Bold" pitchFamily="34" charset="-120"/>
              </a:rPr>
              <a:t>Firebase Auth</a:t>
            </a:r>
            <a:endParaRPr lang="en-US" sz="1150" dirty="0"/>
          </a:p>
        </p:txBody>
      </p:sp>
      <p:sp>
        <p:nvSpPr>
          <p:cNvPr id="10" name="Text 6"/>
          <p:cNvSpPr/>
          <p:nvPr/>
        </p:nvSpPr>
        <p:spPr>
          <a:xfrm>
            <a:off x="1685902" y="1255241"/>
            <a:ext cx="1970317" cy="189140"/>
          </a:xfrm>
          <a:prstGeom prst="rect">
            <a:avLst/>
          </a:prstGeom>
          <a:noFill/>
          <a:ln/>
        </p:spPr>
        <p:txBody>
          <a:bodyPr wrap="none" lIns="0" tIns="0" rIns="0" bIns="0" rtlCol="0" anchor="t"/>
          <a:lstStyle/>
          <a:p>
            <a:pPr marL="0" indent="0" algn="l">
              <a:lnSpc>
                <a:spcPct val="104000"/>
              </a:lnSpc>
              <a:buNone/>
            </a:pPr>
            <a:r>
              <a:rPr lang="en-US" sz="1150" b="1" dirty="0">
                <a:solidFill>
                  <a:srgbClr val="FFFFFF"/>
                </a:solidFill>
                <a:latin typeface="Inter Bold" pitchFamily="34" charset="0"/>
                <a:ea typeface="Inter Bold" pitchFamily="34" charset="-122"/>
                <a:cs typeface="Inter Bold" pitchFamily="34" charset="-120"/>
              </a:rPr>
              <a:t>User Input</a:t>
            </a:r>
            <a:endParaRPr lang="en-US" sz="1150" dirty="0"/>
          </a:p>
        </p:txBody>
      </p:sp>
      <p:sp>
        <p:nvSpPr>
          <p:cNvPr id="11" name="Shape 7"/>
          <p:cNvSpPr/>
          <p:nvPr/>
        </p:nvSpPr>
        <p:spPr>
          <a:xfrm>
            <a:off x="1209452" y="4012778"/>
            <a:ext cx="2197001" cy="810890"/>
          </a:xfrm>
          <a:prstGeom prst="roundRect">
            <a:avLst>
              <a:gd name="adj" fmla="val 8457"/>
            </a:avLst>
          </a:prstGeom>
          <a:solidFill>
            <a:srgbClr val="272525"/>
          </a:solidFill>
          <a:ln w="14288">
            <a:solidFill>
              <a:srgbClr val="2A1999"/>
            </a:solidFill>
            <a:prstDash val="solid"/>
          </a:ln>
        </p:spPr>
      </p:sp>
      <p:sp>
        <p:nvSpPr>
          <p:cNvPr id="12" name="Shape 8"/>
          <p:cNvSpPr/>
          <p:nvPr/>
        </p:nvSpPr>
        <p:spPr>
          <a:xfrm>
            <a:off x="1209452" y="3998491"/>
            <a:ext cx="2197001" cy="57150"/>
          </a:xfrm>
          <a:prstGeom prst="roundRect">
            <a:avLst>
              <a:gd name="adj" fmla="val 71628"/>
            </a:avLst>
          </a:prstGeom>
          <a:solidFill>
            <a:srgbClr val="2B0AFF"/>
          </a:solidFill>
          <a:ln/>
        </p:spPr>
      </p:sp>
      <p:sp>
        <p:nvSpPr>
          <p:cNvPr id="13" name="Shape 9"/>
          <p:cNvSpPr/>
          <p:nvPr/>
        </p:nvSpPr>
        <p:spPr>
          <a:xfrm>
            <a:off x="2161766" y="3866629"/>
            <a:ext cx="292373" cy="292373"/>
          </a:xfrm>
          <a:prstGeom prst="roundRect">
            <a:avLst>
              <a:gd name="adj" fmla="val 195469"/>
            </a:avLst>
          </a:prstGeom>
          <a:solidFill>
            <a:srgbClr val="2B0AFF"/>
          </a:solidFill>
          <a:ln/>
        </p:spPr>
      </p:sp>
      <p:sp>
        <p:nvSpPr>
          <p:cNvPr id="14" name="Text 10"/>
          <p:cNvSpPr/>
          <p:nvPr/>
        </p:nvSpPr>
        <p:spPr>
          <a:xfrm>
            <a:off x="2020900" y="3939704"/>
            <a:ext cx="345504" cy="146149"/>
          </a:xfrm>
          <a:prstGeom prst="rect">
            <a:avLst/>
          </a:prstGeom>
          <a:noFill/>
          <a:ln/>
        </p:spPr>
        <p:txBody>
          <a:bodyPr wrap="none" lIns="0" tIns="0" rIns="0" bIns="0" rtlCol="0" anchor="ctr"/>
          <a:lstStyle/>
          <a:p>
            <a:pPr marL="0" indent="0" algn="ctr">
              <a:lnSpc>
                <a:spcPct val="100000"/>
              </a:lnSpc>
              <a:buNone/>
            </a:pPr>
            <a:r>
              <a:rPr lang="en-US" sz="900" b="1" dirty="0">
                <a:solidFill>
                  <a:srgbClr val="FFFFFF"/>
                </a:solidFill>
                <a:latin typeface="Inter Bold" pitchFamily="34" charset="0"/>
                <a:ea typeface="Inter Bold" pitchFamily="34" charset="-122"/>
                <a:cs typeface="Inter Bold" pitchFamily="34" charset="-120"/>
              </a:rPr>
              <a:t>1</a:t>
            </a:r>
            <a:endParaRPr lang="en-US" sz="900" dirty="0"/>
          </a:p>
        </p:txBody>
      </p:sp>
      <p:sp>
        <p:nvSpPr>
          <p:cNvPr id="15" name="Text 11"/>
          <p:cNvSpPr/>
          <p:nvPr/>
        </p:nvSpPr>
        <p:spPr>
          <a:xfrm>
            <a:off x="1321147" y="4256410"/>
            <a:ext cx="1698129" cy="152251"/>
          </a:xfrm>
          <a:prstGeom prst="rect">
            <a:avLst/>
          </a:prstGeom>
          <a:noFill/>
          <a:ln/>
        </p:spPr>
        <p:txBody>
          <a:bodyPr wrap="none" lIns="0" tIns="0" rIns="0" bIns="0" rtlCol="0" anchor="t"/>
          <a:lstStyle/>
          <a:p>
            <a:pPr marL="0" indent="0" algn="l">
              <a:lnSpc>
                <a:spcPct val="104000"/>
              </a:lnSpc>
              <a:buNone/>
            </a:pPr>
            <a:r>
              <a:rPr lang="en-US" sz="950" b="1" dirty="0">
                <a:solidFill>
                  <a:srgbClr val="E5E0DF"/>
                </a:solidFill>
                <a:latin typeface="Inter Bold" pitchFamily="34" charset="0"/>
                <a:ea typeface="Inter Bold" pitchFamily="34" charset="-122"/>
                <a:cs typeface="Inter Bold" pitchFamily="34" charset="-120"/>
              </a:rPr>
              <a:t>Credential Validation</a:t>
            </a:r>
            <a:endParaRPr lang="en-US" sz="950" dirty="0"/>
          </a:p>
        </p:txBody>
      </p:sp>
      <p:sp>
        <p:nvSpPr>
          <p:cNvPr id="16" name="Text 12"/>
          <p:cNvSpPr/>
          <p:nvPr/>
        </p:nvSpPr>
        <p:spPr>
          <a:xfrm>
            <a:off x="1321147" y="4448845"/>
            <a:ext cx="197361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E5E0DF"/>
                </a:solidFill>
                <a:latin typeface="Inter" pitchFamily="34" charset="0"/>
                <a:ea typeface="Inter" pitchFamily="34" charset="-122"/>
                <a:cs typeface="Inter" pitchFamily="34" charset="-120"/>
              </a:rPr>
              <a:t>Firebase handles server-side auth — no passwords stored on-device.</a:t>
            </a:r>
            <a:endParaRPr lang="en-US" sz="750" dirty="0"/>
          </a:p>
        </p:txBody>
      </p:sp>
      <p:sp>
        <p:nvSpPr>
          <p:cNvPr id="17" name="Shape 13"/>
          <p:cNvSpPr/>
          <p:nvPr/>
        </p:nvSpPr>
        <p:spPr>
          <a:xfrm>
            <a:off x="3473425" y="4012778"/>
            <a:ext cx="2197001" cy="810890"/>
          </a:xfrm>
          <a:prstGeom prst="roundRect">
            <a:avLst>
              <a:gd name="adj" fmla="val 8457"/>
            </a:avLst>
          </a:prstGeom>
          <a:solidFill>
            <a:srgbClr val="272525"/>
          </a:solidFill>
          <a:ln w="14288">
            <a:solidFill>
              <a:srgbClr val="2A1999"/>
            </a:solidFill>
            <a:prstDash val="solid"/>
          </a:ln>
        </p:spPr>
      </p:sp>
      <p:sp>
        <p:nvSpPr>
          <p:cNvPr id="18" name="Shape 14"/>
          <p:cNvSpPr/>
          <p:nvPr/>
        </p:nvSpPr>
        <p:spPr>
          <a:xfrm>
            <a:off x="3473425" y="3998491"/>
            <a:ext cx="2197001" cy="57150"/>
          </a:xfrm>
          <a:prstGeom prst="roundRect">
            <a:avLst>
              <a:gd name="adj" fmla="val 71628"/>
            </a:avLst>
          </a:prstGeom>
          <a:solidFill>
            <a:srgbClr val="2B0AFF"/>
          </a:solidFill>
          <a:ln/>
        </p:spPr>
      </p:sp>
      <p:sp>
        <p:nvSpPr>
          <p:cNvPr id="19" name="Shape 15"/>
          <p:cNvSpPr/>
          <p:nvPr/>
        </p:nvSpPr>
        <p:spPr>
          <a:xfrm>
            <a:off x="4425739" y="3866629"/>
            <a:ext cx="292373" cy="292373"/>
          </a:xfrm>
          <a:prstGeom prst="roundRect">
            <a:avLst>
              <a:gd name="adj" fmla="val 195469"/>
            </a:avLst>
          </a:prstGeom>
          <a:solidFill>
            <a:srgbClr val="2B0AFF"/>
          </a:solidFill>
          <a:ln/>
        </p:spPr>
      </p:sp>
      <p:sp>
        <p:nvSpPr>
          <p:cNvPr id="20" name="Text 16"/>
          <p:cNvSpPr/>
          <p:nvPr/>
        </p:nvSpPr>
        <p:spPr>
          <a:xfrm>
            <a:off x="4284873" y="3939704"/>
            <a:ext cx="345504" cy="146149"/>
          </a:xfrm>
          <a:prstGeom prst="rect">
            <a:avLst/>
          </a:prstGeom>
          <a:noFill/>
          <a:ln/>
        </p:spPr>
        <p:txBody>
          <a:bodyPr wrap="none" lIns="0" tIns="0" rIns="0" bIns="0" rtlCol="0" anchor="ctr"/>
          <a:lstStyle/>
          <a:p>
            <a:pPr marL="0" indent="0" algn="ctr">
              <a:lnSpc>
                <a:spcPct val="100000"/>
              </a:lnSpc>
              <a:buNone/>
            </a:pPr>
            <a:r>
              <a:rPr lang="en-US" sz="900" b="1" dirty="0">
                <a:solidFill>
                  <a:srgbClr val="FFFFFF"/>
                </a:solidFill>
                <a:latin typeface="Inter Bold" pitchFamily="34" charset="0"/>
                <a:ea typeface="Inter Bold" pitchFamily="34" charset="-122"/>
                <a:cs typeface="Inter Bold" pitchFamily="34" charset="-120"/>
              </a:rPr>
              <a:t>2</a:t>
            </a:r>
            <a:endParaRPr lang="en-US" sz="900" dirty="0"/>
          </a:p>
        </p:txBody>
      </p:sp>
      <p:sp>
        <p:nvSpPr>
          <p:cNvPr id="21" name="Text 17"/>
          <p:cNvSpPr/>
          <p:nvPr/>
        </p:nvSpPr>
        <p:spPr>
          <a:xfrm>
            <a:off x="3585121" y="4256410"/>
            <a:ext cx="1675507" cy="152251"/>
          </a:xfrm>
          <a:prstGeom prst="rect">
            <a:avLst/>
          </a:prstGeom>
          <a:noFill/>
          <a:ln/>
        </p:spPr>
        <p:txBody>
          <a:bodyPr wrap="none" lIns="0" tIns="0" rIns="0" bIns="0" rtlCol="0" anchor="t"/>
          <a:lstStyle/>
          <a:p>
            <a:pPr marL="0" indent="0" algn="l">
              <a:lnSpc>
                <a:spcPct val="104000"/>
              </a:lnSpc>
              <a:buNone/>
            </a:pPr>
            <a:r>
              <a:rPr lang="en-US" sz="950" b="1" dirty="0">
                <a:solidFill>
                  <a:srgbClr val="E5E0DF"/>
                </a:solidFill>
                <a:latin typeface="Inter Bold" pitchFamily="34" charset="0"/>
                <a:ea typeface="Inter Bold" pitchFamily="34" charset="-122"/>
                <a:cs typeface="Inter Bold" pitchFamily="34" charset="-120"/>
              </a:rPr>
              <a:t>Persistent Sessions</a:t>
            </a:r>
            <a:endParaRPr lang="en-US" sz="950" dirty="0"/>
          </a:p>
        </p:txBody>
      </p:sp>
      <p:sp>
        <p:nvSpPr>
          <p:cNvPr id="22" name="Text 18"/>
          <p:cNvSpPr/>
          <p:nvPr/>
        </p:nvSpPr>
        <p:spPr>
          <a:xfrm>
            <a:off x="3585121" y="4448845"/>
            <a:ext cx="197361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E5E0DF"/>
                </a:solidFill>
                <a:latin typeface="Inter" pitchFamily="34" charset="0"/>
                <a:ea typeface="Inter" pitchFamily="34" charset="-122"/>
                <a:cs typeface="Inter" pitchFamily="34" charset="-120"/>
              </a:rPr>
              <a:t>DataStore preserves auth tokens across app restarts with encrypted storage.</a:t>
            </a:r>
            <a:endParaRPr lang="en-US" sz="750" dirty="0"/>
          </a:p>
        </p:txBody>
      </p:sp>
      <p:sp>
        <p:nvSpPr>
          <p:cNvPr id="23" name="Shape 19"/>
          <p:cNvSpPr/>
          <p:nvPr/>
        </p:nvSpPr>
        <p:spPr>
          <a:xfrm>
            <a:off x="5737399" y="4012778"/>
            <a:ext cx="2197001" cy="810890"/>
          </a:xfrm>
          <a:prstGeom prst="roundRect">
            <a:avLst>
              <a:gd name="adj" fmla="val 8457"/>
            </a:avLst>
          </a:prstGeom>
          <a:solidFill>
            <a:srgbClr val="272525"/>
          </a:solidFill>
          <a:ln w="14288">
            <a:solidFill>
              <a:srgbClr val="2A1999"/>
            </a:solidFill>
            <a:prstDash val="solid"/>
          </a:ln>
        </p:spPr>
      </p:sp>
      <p:sp>
        <p:nvSpPr>
          <p:cNvPr id="24" name="Shape 20"/>
          <p:cNvSpPr/>
          <p:nvPr/>
        </p:nvSpPr>
        <p:spPr>
          <a:xfrm>
            <a:off x="5737399" y="3998491"/>
            <a:ext cx="2197001" cy="57150"/>
          </a:xfrm>
          <a:prstGeom prst="roundRect">
            <a:avLst>
              <a:gd name="adj" fmla="val 71628"/>
            </a:avLst>
          </a:prstGeom>
          <a:solidFill>
            <a:srgbClr val="2B0AFF"/>
          </a:solidFill>
          <a:ln/>
        </p:spPr>
      </p:sp>
      <p:sp>
        <p:nvSpPr>
          <p:cNvPr id="25" name="Shape 21"/>
          <p:cNvSpPr/>
          <p:nvPr/>
        </p:nvSpPr>
        <p:spPr>
          <a:xfrm>
            <a:off x="6689713" y="3866629"/>
            <a:ext cx="292373" cy="292373"/>
          </a:xfrm>
          <a:prstGeom prst="roundRect">
            <a:avLst>
              <a:gd name="adj" fmla="val 195469"/>
            </a:avLst>
          </a:prstGeom>
          <a:solidFill>
            <a:srgbClr val="2B0AFF"/>
          </a:solidFill>
          <a:ln/>
        </p:spPr>
      </p:sp>
      <p:sp>
        <p:nvSpPr>
          <p:cNvPr id="26" name="Text 22"/>
          <p:cNvSpPr/>
          <p:nvPr/>
        </p:nvSpPr>
        <p:spPr>
          <a:xfrm>
            <a:off x="6548847" y="3939704"/>
            <a:ext cx="345504" cy="146149"/>
          </a:xfrm>
          <a:prstGeom prst="rect">
            <a:avLst/>
          </a:prstGeom>
          <a:noFill/>
          <a:ln/>
        </p:spPr>
        <p:txBody>
          <a:bodyPr wrap="none" lIns="0" tIns="0" rIns="0" bIns="0" rtlCol="0" anchor="ctr"/>
          <a:lstStyle/>
          <a:p>
            <a:pPr marL="0" indent="0" algn="ctr">
              <a:lnSpc>
                <a:spcPct val="100000"/>
              </a:lnSpc>
              <a:buNone/>
            </a:pPr>
            <a:r>
              <a:rPr lang="en-US" sz="900" b="1" dirty="0">
                <a:solidFill>
                  <a:srgbClr val="FFFFFF"/>
                </a:solidFill>
                <a:latin typeface="Inter Bold" pitchFamily="34" charset="0"/>
                <a:ea typeface="Inter Bold" pitchFamily="34" charset="-122"/>
                <a:cs typeface="Inter Bold" pitchFamily="34" charset="-120"/>
              </a:rPr>
              <a:t>3</a:t>
            </a:r>
            <a:endParaRPr lang="en-US" sz="900" dirty="0"/>
          </a:p>
        </p:txBody>
      </p:sp>
      <p:sp>
        <p:nvSpPr>
          <p:cNvPr id="27" name="Text 23"/>
          <p:cNvSpPr/>
          <p:nvPr/>
        </p:nvSpPr>
        <p:spPr>
          <a:xfrm>
            <a:off x="5849094" y="4256410"/>
            <a:ext cx="1675507" cy="152251"/>
          </a:xfrm>
          <a:prstGeom prst="rect">
            <a:avLst/>
          </a:prstGeom>
          <a:noFill/>
          <a:ln/>
        </p:spPr>
        <p:txBody>
          <a:bodyPr wrap="none" lIns="0" tIns="0" rIns="0" bIns="0" rtlCol="0" anchor="t"/>
          <a:lstStyle/>
          <a:p>
            <a:pPr marL="0" indent="0" algn="l">
              <a:lnSpc>
                <a:spcPct val="104000"/>
              </a:lnSpc>
              <a:buNone/>
            </a:pPr>
            <a:r>
              <a:rPr lang="en-US" sz="950" b="1" dirty="0">
                <a:solidFill>
                  <a:srgbClr val="E5E0DF"/>
                </a:solidFill>
                <a:latin typeface="Inter Bold" pitchFamily="34" charset="0"/>
                <a:ea typeface="Inter Bold" pitchFamily="34" charset="-122"/>
                <a:cs typeface="Inter Bold" pitchFamily="34" charset="-120"/>
              </a:rPr>
              <a:t>Reactive Auth State</a:t>
            </a:r>
            <a:endParaRPr lang="en-US" sz="950" dirty="0"/>
          </a:p>
        </p:txBody>
      </p:sp>
      <p:sp>
        <p:nvSpPr>
          <p:cNvPr id="28" name="Text 24"/>
          <p:cNvSpPr/>
          <p:nvPr/>
        </p:nvSpPr>
        <p:spPr>
          <a:xfrm>
            <a:off x="5849094" y="4448845"/>
            <a:ext cx="1973610" cy="263128"/>
          </a:xfrm>
          <a:prstGeom prst="rect">
            <a:avLst/>
          </a:prstGeom>
          <a:noFill/>
          <a:ln/>
        </p:spPr>
        <p:txBody>
          <a:bodyPr wrap="square" lIns="0" tIns="0" rIns="0" bIns="0" rtlCol="0" anchor="t">
            <a:normAutofit/>
          </a:bodyPr>
          <a:lstStyle/>
          <a:p>
            <a:pPr marL="0" indent="0" algn="l">
              <a:lnSpc>
                <a:spcPct val="113000"/>
              </a:lnSpc>
              <a:buNone/>
            </a:pPr>
            <a:r>
              <a:rPr lang="en-US" sz="750" dirty="0">
                <a:solidFill>
                  <a:srgbClr val="E5E0DF"/>
                </a:solidFill>
                <a:latin typeface="Inter" pitchFamily="34" charset="0"/>
                <a:ea typeface="Inter" pitchFamily="34" charset="-122"/>
                <a:cs typeface="Inter" pitchFamily="34" charset="-120"/>
              </a:rPr>
              <a:t>StateFlow emits auth changes — UI reacts instantly without polling.</a:t>
            </a:r>
            <a:endParaRPr lang="en-US" sz="750" dirty="0"/>
          </a:p>
        </p:txBody>
      </p:sp>
      <p:pic>
        <p:nvPicPr>
          <p:cNvPr id="29" name="Picture 28"/>
          <p:cNvPicPr>
            <a:picLocks noChangeAspect="1"/>
          </p:cNvPicPr>
          <p:nvPr/>
        </p:nvPicPr>
        <p:blipFill>
          <a:blip r:embed="rId6"/>
          <a:stretch>
            <a:fillRect/>
          </a:stretch>
        </p:blipFill>
        <p:spPr>
          <a:xfrm>
            <a:off x="7749817" y="4863852"/>
            <a:ext cx="1338411" cy="26049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827336" y="555427"/>
            <a:ext cx="4234979" cy="339179"/>
          </a:xfrm>
          <a:prstGeom prst="rect">
            <a:avLst/>
          </a:prstGeom>
          <a:noFill/>
          <a:ln/>
        </p:spPr>
        <p:txBody>
          <a:bodyPr wrap="none" lIns="0" tIns="0" rIns="0" bIns="0" rtlCol="0" anchor="t"/>
          <a:lstStyle/>
          <a:p>
            <a:pPr marL="0" indent="0" algn="l">
              <a:lnSpc>
                <a:spcPct val="104000"/>
              </a:lnSpc>
              <a:buNone/>
            </a:pPr>
            <a:r>
              <a:rPr lang="en-US" sz="2100" b="1" dirty="0">
                <a:solidFill>
                  <a:srgbClr val="FFFFFF"/>
                </a:solidFill>
                <a:latin typeface="Inter Bold" pitchFamily="34" charset="0"/>
                <a:ea typeface="Inter Bold" pitchFamily="34" charset="-122"/>
                <a:cs typeface="Inter Bold" pitchFamily="34" charset="-120"/>
              </a:rPr>
              <a:t>Firebase Database Structure</a:t>
            </a:r>
            <a:endParaRPr lang="en-US" sz="2100" dirty="0"/>
          </a:p>
        </p:txBody>
      </p:sp>
      <p:pic>
        <p:nvPicPr>
          <p:cNvPr id="6" name="Image 1" descr="preencoded.png"/>
          <p:cNvPicPr>
            <a:picLocks noChangeAspect="1"/>
          </p:cNvPicPr>
          <p:nvPr/>
        </p:nvPicPr>
        <p:blipFill>
          <a:blip r:embed="rId3"/>
          <a:stretch>
            <a:fillRect/>
          </a:stretch>
        </p:blipFill>
        <p:spPr>
          <a:xfrm>
            <a:off x="827336" y="1112713"/>
            <a:ext cx="3612207" cy="3612207"/>
          </a:xfrm>
          <a:prstGeom prst="rect">
            <a:avLst/>
          </a:prstGeom>
        </p:spPr>
      </p:pic>
      <p:pic>
        <p:nvPicPr>
          <p:cNvPr id="7" name="Image 2" descr="preencoded.png"/>
          <p:cNvPicPr>
            <a:picLocks noChangeAspect="1"/>
          </p:cNvPicPr>
          <p:nvPr/>
        </p:nvPicPr>
        <p:blipFill>
          <a:blip r:embed="rId4"/>
          <a:stretch>
            <a:fillRect/>
          </a:stretch>
        </p:blipFill>
        <p:spPr>
          <a:xfrm>
            <a:off x="827336" y="1112713"/>
            <a:ext cx="3612207" cy="3612207"/>
          </a:xfrm>
          <a:prstGeom prst="rect">
            <a:avLst/>
          </a:prstGeom>
        </p:spPr>
      </p:pic>
      <p:sp>
        <p:nvSpPr>
          <p:cNvPr id="8" name="Shape 3"/>
          <p:cNvSpPr/>
          <p:nvPr/>
        </p:nvSpPr>
        <p:spPr>
          <a:xfrm>
            <a:off x="4709071" y="1542083"/>
            <a:ext cx="1764581" cy="1245543"/>
          </a:xfrm>
          <a:prstGeom prst="roundRect">
            <a:avLst>
              <a:gd name="adj" fmla="val 3660"/>
            </a:avLst>
          </a:prstGeom>
          <a:solidFill>
            <a:srgbClr val="110080"/>
          </a:solidFill>
          <a:ln w="4763">
            <a:solidFill>
              <a:srgbClr val="2A1999"/>
            </a:solidFill>
            <a:prstDash val="solid"/>
          </a:ln>
        </p:spPr>
      </p:sp>
      <p:sp>
        <p:nvSpPr>
          <p:cNvPr id="9" name="Text 4"/>
          <p:cNvSpPr/>
          <p:nvPr/>
        </p:nvSpPr>
        <p:spPr>
          <a:xfrm>
            <a:off x="4822329" y="1655341"/>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users</a:t>
            </a:r>
            <a:endParaRPr lang="en-US" sz="1050" dirty="0"/>
          </a:p>
        </p:txBody>
      </p:sp>
      <p:sp>
        <p:nvSpPr>
          <p:cNvPr id="10" name="Text 5"/>
          <p:cNvSpPr/>
          <p:nvPr/>
        </p:nvSpPr>
        <p:spPr>
          <a:xfrm>
            <a:off x="4822329" y="1907902"/>
            <a:ext cx="1538064" cy="613172"/>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E0DF"/>
                </a:solidFill>
                <a:latin typeface="Inter" pitchFamily="34" charset="0"/>
                <a:ea typeface="Inter" pitchFamily="34" charset="-122"/>
                <a:cs typeface="Inter" pitchFamily="34" charset="-120"/>
              </a:rPr>
              <a:t>Root user document. Holds profile metadata and serves as the parent for all user-scoped subcollections.</a:t>
            </a:r>
            <a:endParaRPr lang="en-US" sz="850" dirty="0"/>
          </a:p>
        </p:txBody>
      </p:sp>
      <p:sp>
        <p:nvSpPr>
          <p:cNvPr id="11" name="Shape 6"/>
          <p:cNvSpPr/>
          <p:nvPr/>
        </p:nvSpPr>
        <p:spPr>
          <a:xfrm>
            <a:off x="6556697" y="1542083"/>
            <a:ext cx="1764581" cy="1245543"/>
          </a:xfrm>
          <a:prstGeom prst="roundRect">
            <a:avLst>
              <a:gd name="adj" fmla="val 3660"/>
            </a:avLst>
          </a:prstGeom>
          <a:solidFill>
            <a:srgbClr val="110080"/>
          </a:solidFill>
          <a:ln w="4763">
            <a:solidFill>
              <a:srgbClr val="2A1999"/>
            </a:solidFill>
            <a:prstDash val="solid"/>
          </a:ln>
        </p:spPr>
      </p:sp>
      <p:sp>
        <p:nvSpPr>
          <p:cNvPr id="12" name="Text 7"/>
          <p:cNvSpPr/>
          <p:nvPr/>
        </p:nvSpPr>
        <p:spPr>
          <a:xfrm>
            <a:off x="6669956" y="1655341"/>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skills</a:t>
            </a:r>
            <a:endParaRPr lang="en-US" sz="1050" dirty="0"/>
          </a:p>
        </p:txBody>
      </p:sp>
      <p:sp>
        <p:nvSpPr>
          <p:cNvPr id="13" name="Text 8"/>
          <p:cNvSpPr/>
          <p:nvPr/>
        </p:nvSpPr>
        <p:spPr>
          <a:xfrm>
            <a:off x="6669956" y="1907902"/>
            <a:ext cx="1538064" cy="766465"/>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E0DF"/>
                </a:solidFill>
                <a:latin typeface="Inter" pitchFamily="34" charset="0"/>
                <a:ea typeface="Inter" pitchFamily="34" charset="-122"/>
                <a:cs typeface="Inter" pitchFamily="34" charset="-120"/>
              </a:rPr>
              <a:t>Subcollection under each user. Documents represent individual skills with proficiency and category fields.</a:t>
            </a:r>
            <a:endParaRPr lang="en-US" sz="850" dirty="0"/>
          </a:p>
        </p:txBody>
      </p:sp>
      <p:sp>
        <p:nvSpPr>
          <p:cNvPr id="14" name="Shape 9"/>
          <p:cNvSpPr/>
          <p:nvPr/>
        </p:nvSpPr>
        <p:spPr>
          <a:xfrm>
            <a:off x="4709071" y="2870671"/>
            <a:ext cx="3612207" cy="785664"/>
          </a:xfrm>
          <a:prstGeom prst="roundRect">
            <a:avLst>
              <a:gd name="adj" fmla="val 5802"/>
            </a:avLst>
          </a:prstGeom>
          <a:solidFill>
            <a:srgbClr val="110080"/>
          </a:solidFill>
          <a:ln w="4763">
            <a:solidFill>
              <a:srgbClr val="2A1999"/>
            </a:solidFill>
            <a:prstDash val="solid"/>
          </a:ln>
        </p:spPr>
      </p:sp>
      <p:sp>
        <p:nvSpPr>
          <p:cNvPr id="15" name="Text 10"/>
          <p:cNvSpPr/>
          <p:nvPr/>
        </p:nvSpPr>
        <p:spPr>
          <a:xfrm>
            <a:off x="4822329" y="2983929"/>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E5E0DF"/>
                </a:solidFill>
                <a:latin typeface="Inter Bold" pitchFamily="34" charset="0"/>
                <a:ea typeface="Inter Bold" pitchFamily="34" charset="-122"/>
                <a:cs typeface="Inter Bold" pitchFamily="34" charset="-120"/>
              </a:rPr>
              <a:t>quizResults</a:t>
            </a:r>
            <a:endParaRPr lang="en-US" sz="1050" dirty="0"/>
          </a:p>
        </p:txBody>
      </p:sp>
      <p:sp>
        <p:nvSpPr>
          <p:cNvPr id="16" name="Text 11"/>
          <p:cNvSpPr/>
          <p:nvPr/>
        </p:nvSpPr>
        <p:spPr>
          <a:xfrm>
            <a:off x="4822329" y="3236491"/>
            <a:ext cx="3385691"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E5E0DF"/>
                </a:solidFill>
                <a:latin typeface="Inter" pitchFamily="34" charset="0"/>
                <a:ea typeface="Inter" pitchFamily="34" charset="-122"/>
                <a:cs typeface="Inter" pitchFamily="34" charset="-120"/>
              </a:rPr>
              <a:t>Top-level collection storing timestamped quiz attempts. Indexed by </a:t>
            </a:r>
            <a:r>
              <a:rPr lang="en-US" sz="850" dirty="0">
                <a:solidFill>
                  <a:srgbClr val="E5E0DF"/>
                </a:solidFill>
                <a:highlight>
                  <a:srgbClr val="343232"/>
                </a:highlight>
                <a:latin typeface="Consolas" pitchFamily="34" charset="0"/>
                <a:ea typeface="Consolas" pitchFamily="34" charset="-122"/>
                <a:cs typeface="Consolas" pitchFamily="34" charset="-120"/>
              </a:rPr>
              <a:t>userId</a:t>
            </a:r>
            <a:r>
              <a:rPr lang="en-US" sz="850" dirty="0">
                <a:solidFill>
                  <a:srgbClr val="E5E0DF"/>
                </a:solidFill>
                <a:latin typeface="Inter" pitchFamily="34" charset="0"/>
                <a:ea typeface="Inter" pitchFamily="34" charset="-122"/>
                <a:cs typeface="Inter" pitchFamily="34" charset="-120"/>
              </a:rPr>
              <a:t> for efficient per-user queries.</a:t>
            </a:r>
            <a:endParaRPr lang="en-US" sz="850" dirty="0"/>
          </a:p>
        </p:txBody>
      </p:sp>
      <p:sp>
        <p:nvSpPr>
          <p:cNvPr id="17" name="Shape 12"/>
          <p:cNvSpPr/>
          <p:nvPr/>
        </p:nvSpPr>
        <p:spPr>
          <a:xfrm>
            <a:off x="4709071" y="3749799"/>
            <a:ext cx="3612207" cy="545753"/>
          </a:xfrm>
          <a:prstGeom prst="roundRect">
            <a:avLst>
              <a:gd name="adj" fmla="val 8353"/>
            </a:avLst>
          </a:prstGeom>
          <a:solidFill>
            <a:srgbClr val="0A004D"/>
          </a:solidFill>
          <a:ln/>
        </p:spPr>
      </p:sp>
      <p:pic>
        <p:nvPicPr>
          <p:cNvPr id="18" name="Image 3" descr="preencoded.png"/>
          <p:cNvPicPr>
            <a:picLocks noChangeAspect="1"/>
          </p:cNvPicPr>
          <p:nvPr/>
        </p:nvPicPr>
        <p:blipFill>
          <a:blip r:embed="rId5"/>
          <a:stretch>
            <a:fillRect/>
          </a:stretch>
        </p:blipFill>
        <p:spPr>
          <a:xfrm>
            <a:off x="4817566" y="3904729"/>
            <a:ext cx="135657" cy="108496"/>
          </a:xfrm>
          <a:prstGeom prst="rect">
            <a:avLst/>
          </a:prstGeom>
        </p:spPr>
      </p:pic>
      <p:sp>
        <p:nvSpPr>
          <p:cNvPr id="19" name="Text 13"/>
          <p:cNvSpPr/>
          <p:nvPr/>
        </p:nvSpPr>
        <p:spPr>
          <a:xfrm>
            <a:off x="5061719" y="3859932"/>
            <a:ext cx="3151063" cy="306586"/>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FFFFFF"/>
                </a:solidFill>
                <a:latin typeface="Inter" pitchFamily="34" charset="0"/>
                <a:ea typeface="Inter" pitchFamily="34" charset="-122"/>
                <a:cs typeface="Inter" pitchFamily="34" charset="-120"/>
              </a:rPr>
              <a:t>Security Rules enforce that each user can only read and write documents where </a:t>
            </a:r>
            <a:r>
              <a:rPr lang="en-US" sz="850" dirty="0">
                <a:solidFill>
                  <a:srgbClr val="FFFFFF"/>
                </a:solidFill>
                <a:highlight>
                  <a:srgbClr val="343232"/>
                </a:highlight>
                <a:latin typeface="Consolas" pitchFamily="34" charset="0"/>
                <a:ea typeface="Consolas" pitchFamily="34" charset="-122"/>
                <a:cs typeface="Consolas" pitchFamily="34" charset="-120"/>
              </a:rPr>
              <a:t>userId == request.auth.uid</a:t>
            </a:r>
            <a:r>
              <a:rPr lang="en-US" sz="850" dirty="0">
                <a:solidFill>
                  <a:srgbClr val="FFFFFF"/>
                </a:solidFill>
                <a:latin typeface="Inter" pitchFamily="34" charset="0"/>
                <a:ea typeface="Inter" pitchFamily="34" charset="-122"/>
                <a:cs typeface="Inter" pitchFamily="34" charset="-120"/>
              </a:rPr>
              <a:t>.</a:t>
            </a:r>
            <a:endParaRPr lang="en-US" sz="850" dirty="0"/>
          </a:p>
        </p:txBody>
      </p:sp>
      <p:pic>
        <p:nvPicPr>
          <p:cNvPr id="20" name="Picture 19"/>
          <p:cNvPicPr>
            <a:picLocks noChangeAspect="1"/>
          </p:cNvPicPr>
          <p:nvPr/>
        </p:nvPicPr>
        <p:blipFill>
          <a:blip r:embed="rId6"/>
          <a:stretch>
            <a:fillRect/>
          </a:stretch>
        </p:blipFill>
        <p:spPr>
          <a:xfrm>
            <a:off x="7805588" y="4704522"/>
            <a:ext cx="1338411" cy="372191"/>
          </a:xfrm>
          <a:prstGeom prst="rect">
            <a:avLst/>
          </a:prstGeom>
        </p:spPr>
      </p:pic>
    </p:spTree>
    <p:extLst>
      <p:ext uri="{BB962C8B-B14F-4D97-AF65-F5344CB8AC3E}">
        <p14:creationId xmlns:p14="http://schemas.microsoft.com/office/powerpoint/2010/main" val="21142429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056605" y="495895"/>
            <a:ext cx="3004542" cy="318343"/>
          </a:xfrm>
          <a:prstGeom prst="rect">
            <a:avLst/>
          </a:prstGeom>
          <a:noFill/>
          <a:ln/>
        </p:spPr>
        <p:txBody>
          <a:bodyPr wrap="none" lIns="0" tIns="0" rIns="0" bIns="0" rtlCol="0" anchor="t"/>
          <a:lstStyle/>
          <a:p>
            <a:pPr marL="0" indent="0" algn="l">
              <a:lnSpc>
                <a:spcPct val="104000"/>
              </a:lnSpc>
              <a:buNone/>
            </a:pPr>
            <a:r>
              <a:rPr lang="en-US" sz="2000" b="1" dirty="0">
                <a:solidFill>
                  <a:srgbClr val="FFFFFF"/>
                </a:solidFill>
                <a:latin typeface="Inter Bold" pitchFamily="34" charset="0"/>
                <a:ea typeface="Inter Bold" pitchFamily="34" charset="-122"/>
                <a:cs typeface="Inter Bold" pitchFamily="34" charset="-120"/>
              </a:rPr>
              <a:t>Real-Time Data Flow</a:t>
            </a:r>
            <a:endParaRPr lang="en-US" sz="2000" dirty="0"/>
          </a:p>
        </p:txBody>
      </p:sp>
      <p:pic>
        <p:nvPicPr>
          <p:cNvPr id="6" name="Image 1" descr="preencoded.png"/>
          <p:cNvPicPr>
            <a:picLocks noChangeAspect="1"/>
          </p:cNvPicPr>
          <p:nvPr/>
        </p:nvPicPr>
        <p:blipFill>
          <a:blip r:embed="rId3"/>
          <a:stretch>
            <a:fillRect/>
          </a:stretch>
        </p:blipFill>
        <p:spPr>
          <a:xfrm>
            <a:off x="1838251" y="924074"/>
            <a:ext cx="5467424" cy="2502247"/>
          </a:xfrm>
          <a:prstGeom prst="rect">
            <a:avLst/>
          </a:prstGeom>
        </p:spPr>
      </p:pic>
      <p:pic>
        <p:nvPicPr>
          <p:cNvPr id="7" name="Image 2" descr="preencoded.png"/>
          <p:cNvPicPr>
            <a:picLocks noChangeAspect="1"/>
          </p:cNvPicPr>
          <p:nvPr/>
        </p:nvPicPr>
        <p:blipFill>
          <a:blip r:embed="rId4">
            <a:extLst>
              <a:ext uri="{96DAC541-7B7A-43D3-8B79-37D633B846F1}">
                <asvg:svgBlip xmlns:asvg="http://schemas.microsoft.com/office/drawing/2016/SVG/main" xmlns="" r:embed="rId5"/>
              </a:ext>
            </a:extLst>
          </a:blip>
          <a:stretch>
            <a:fillRect/>
          </a:stretch>
        </p:blipFill>
        <p:spPr>
          <a:xfrm>
            <a:off x="6337864" y="1548818"/>
            <a:ext cx="351529" cy="351528"/>
          </a:xfrm>
          <a:prstGeom prst="rect">
            <a:avLst/>
          </a:prstGeom>
        </p:spPr>
      </p:pic>
      <p:sp>
        <p:nvSpPr>
          <p:cNvPr id="8" name="Text 3"/>
          <p:cNvSpPr/>
          <p:nvPr/>
        </p:nvSpPr>
        <p:spPr>
          <a:xfrm>
            <a:off x="5796075" y="2832116"/>
            <a:ext cx="1255063" cy="197734"/>
          </a:xfrm>
          <a:prstGeom prst="rect">
            <a:avLst/>
          </a:prstGeom>
          <a:noFill/>
          <a:ln/>
        </p:spPr>
        <p:txBody>
          <a:bodyPr wrap="none" lIns="0" tIns="0" rIns="0" bIns="0" rtlCol="0" anchor="t"/>
          <a:lstStyle/>
          <a:p>
            <a:pPr marL="0" indent="0" algn="ctr">
              <a:lnSpc>
                <a:spcPct val="104000"/>
              </a:lnSpc>
              <a:buNone/>
            </a:pPr>
            <a:r>
              <a:rPr lang="en-US" sz="1200" b="1" dirty="0">
                <a:solidFill>
                  <a:srgbClr val="E5E0DF"/>
                </a:solidFill>
                <a:latin typeface="Inter Bold" pitchFamily="34" charset="0"/>
                <a:ea typeface="Inter Bold" pitchFamily="34" charset="-122"/>
                <a:cs typeface="Inter Bold" pitchFamily="34" charset="-120"/>
              </a:rPr>
              <a:t>Compose UI</a:t>
            </a:r>
            <a:endParaRPr lang="en-US" sz="1200" dirty="0"/>
          </a:p>
        </p:txBody>
      </p:sp>
      <p:pic>
        <p:nvPicPr>
          <p:cNvPr id="9" name="Image 3" descr="preencoded.png"/>
          <p:cNvPicPr>
            <a:picLocks noChangeAspect="1"/>
          </p:cNvPicPr>
          <p:nvPr/>
        </p:nvPicPr>
        <p:blipFill>
          <a:blip r:embed="rId4">
            <a:extLst>
              <a:ext uri="{96DAC541-7B7A-43D3-8B79-37D633B846F1}">
                <asvg:svgBlip xmlns:asvg="http://schemas.microsoft.com/office/drawing/2016/SVG/main" xmlns="" r:embed="rId7"/>
              </a:ext>
            </a:extLst>
          </a:blip>
          <a:stretch>
            <a:fillRect/>
          </a:stretch>
        </p:blipFill>
        <p:spPr>
          <a:xfrm>
            <a:off x="5050942" y="1549477"/>
            <a:ext cx="351528" cy="351528"/>
          </a:xfrm>
          <a:prstGeom prst="rect">
            <a:avLst/>
          </a:prstGeom>
        </p:spPr>
      </p:pic>
      <p:sp>
        <p:nvSpPr>
          <p:cNvPr id="10" name="Text 4"/>
          <p:cNvSpPr/>
          <p:nvPr/>
        </p:nvSpPr>
        <p:spPr>
          <a:xfrm>
            <a:off x="4731050" y="2733249"/>
            <a:ext cx="1026463" cy="395469"/>
          </a:xfrm>
          <a:prstGeom prst="rect">
            <a:avLst/>
          </a:prstGeom>
          <a:noFill/>
          <a:ln/>
        </p:spPr>
        <p:txBody>
          <a:bodyPr wrap="square" lIns="0" tIns="0" rIns="0" bIns="0" rtlCol="0" anchor="t">
            <a:normAutofit/>
          </a:bodyPr>
          <a:lstStyle/>
          <a:p>
            <a:pPr marL="0" indent="0" algn="ctr">
              <a:lnSpc>
                <a:spcPct val="104000"/>
              </a:lnSpc>
              <a:buNone/>
            </a:pPr>
            <a:r>
              <a:rPr lang="en-US" sz="1200" b="1" dirty="0">
                <a:solidFill>
                  <a:srgbClr val="E5E0DF"/>
                </a:solidFill>
                <a:latin typeface="Inter Bold" pitchFamily="34" charset="0"/>
                <a:ea typeface="Inter Bold" pitchFamily="34" charset="-122"/>
                <a:cs typeface="Inter Bold" pitchFamily="34" charset="-120"/>
              </a:rPr>
              <a:t>ViewModel Flow</a:t>
            </a:r>
            <a:endParaRPr lang="en-US" sz="1200" dirty="0"/>
          </a:p>
        </p:txBody>
      </p:sp>
      <p:pic>
        <p:nvPicPr>
          <p:cNvPr id="11" name="Image 4" descr="preencoded.png"/>
          <p:cNvPicPr>
            <a:picLocks noChangeAspect="1"/>
          </p:cNvPicPr>
          <p:nvPr/>
        </p:nvPicPr>
        <p:blipFill>
          <a:blip r:embed="rId4">
            <a:extLst>
              <a:ext uri="{96DAC541-7B7A-43D3-8B79-37D633B846F1}">
                <asvg:svgBlip xmlns:asvg="http://schemas.microsoft.com/office/drawing/2016/SVG/main" xmlns="" r:embed="rId9"/>
              </a:ext>
            </a:extLst>
          </a:blip>
          <a:stretch>
            <a:fillRect/>
          </a:stretch>
        </p:blipFill>
        <p:spPr>
          <a:xfrm>
            <a:off x="3764348" y="1549477"/>
            <a:ext cx="351529" cy="351528"/>
          </a:xfrm>
          <a:prstGeom prst="rect">
            <a:avLst/>
          </a:prstGeom>
        </p:spPr>
      </p:pic>
      <p:sp>
        <p:nvSpPr>
          <p:cNvPr id="12" name="Text 5"/>
          <p:cNvSpPr/>
          <p:nvPr/>
        </p:nvSpPr>
        <p:spPr>
          <a:xfrm>
            <a:off x="3444457" y="2733249"/>
            <a:ext cx="1026463" cy="395469"/>
          </a:xfrm>
          <a:prstGeom prst="rect">
            <a:avLst/>
          </a:prstGeom>
          <a:noFill/>
          <a:ln/>
        </p:spPr>
        <p:txBody>
          <a:bodyPr wrap="square" lIns="0" tIns="0" rIns="0" bIns="0" rtlCol="0" anchor="t">
            <a:normAutofit/>
          </a:bodyPr>
          <a:lstStyle/>
          <a:p>
            <a:pPr marL="0" indent="0" algn="ctr">
              <a:lnSpc>
                <a:spcPct val="104000"/>
              </a:lnSpc>
              <a:buNone/>
            </a:pPr>
            <a:r>
              <a:rPr lang="en-US" sz="1200" b="1" dirty="0">
                <a:solidFill>
                  <a:srgbClr val="E5E0DF"/>
                </a:solidFill>
                <a:latin typeface="Inter Bold" pitchFamily="34" charset="0"/>
                <a:ea typeface="Inter Bold" pitchFamily="34" charset="-122"/>
                <a:cs typeface="Inter Bold" pitchFamily="34" charset="-120"/>
              </a:rPr>
              <a:t>Repository Map</a:t>
            </a:r>
            <a:endParaRPr lang="en-US" sz="1200" dirty="0"/>
          </a:p>
        </p:txBody>
      </p:sp>
      <p:pic>
        <p:nvPicPr>
          <p:cNvPr id="13" name="Image 5" descr="preencoded.png"/>
          <p:cNvPicPr>
            <a:picLocks noChangeAspect="1"/>
          </p:cNvPicPr>
          <p:nvPr/>
        </p:nvPicPr>
        <p:blipFill>
          <a:blip r:embed="rId4">
            <a:extLst>
              <a:ext uri="{96DAC541-7B7A-43D3-8B79-37D633B846F1}">
                <asvg:svgBlip xmlns:asvg="http://schemas.microsoft.com/office/drawing/2016/SVG/main" xmlns="" r:embed="rId11"/>
              </a:ext>
            </a:extLst>
          </a:blip>
          <a:stretch>
            <a:fillRect/>
          </a:stretch>
        </p:blipFill>
        <p:spPr>
          <a:xfrm>
            <a:off x="2470723" y="1549477"/>
            <a:ext cx="351528" cy="351528"/>
          </a:xfrm>
          <a:prstGeom prst="rect">
            <a:avLst/>
          </a:prstGeom>
        </p:spPr>
      </p:pic>
      <p:sp>
        <p:nvSpPr>
          <p:cNvPr id="14" name="Text 6"/>
          <p:cNvSpPr/>
          <p:nvPr/>
        </p:nvSpPr>
        <p:spPr>
          <a:xfrm>
            <a:off x="2129741" y="2733249"/>
            <a:ext cx="1026463" cy="395469"/>
          </a:xfrm>
          <a:prstGeom prst="rect">
            <a:avLst/>
          </a:prstGeom>
          <a:noFill/>
          <a:ln/>
        </p:spPr>
        <p:txBody>
          <a:bodyPr wrap="square" lIns="0" tIns="0" rIns="0" bIns="0" rtlCol="0" anchor="t">
            <a:normAutofit/>
          </a:bodyPr>
          <a:lstStyle/>
          <a:p>
            <a:pPr marL="0" indent="0" algn="ctr">
              <a:lnSpc>
                <a:spcPct val="104000"/>
              </a:lnSpc>
              <a:buNone/>
            </a:pPr>
            <a:r>
              <a:rPr lang="en-US" sz="1200" b="1" dirty="0">
                <a:solidFill>
                  <a:srgbClr val="E5E0DF"/>
                </a:solidFill>
                <a:latin typeface="Inter Bold" pitchFamily="34" charset="0"/>
                <a:ea typeface="Inter Bold" pitchFamily="34" charset="-122"/>
                <a:cs typeface="Inter Bold" pitchFamily="34" charset="-120"/>
              </a:rPr>
              <a:t>Snapshot Listener</a:t>
            </a:r>
            <a:endParaRPr lang="en-US" sz="1200" dirty="0"/>
          </a:p>
        </p:txBody>
      </p:sp>
      <p:pic>
        <p:nvPicPr>
          <p:cNvPr id="15" name="Image 6" descr="preencoded.png"/>
          <p:cNvPicPr>
            <a:picLocks noChangeAspect="1"/>
          </p:cNvPicPr>
          <p:nvPr/>
        </p:nvPicPr>
        <p:blipFill>
          <a:blip r:embed="rId4">
            <a:extLst>
              <a:ext uri="{96DAC541-7B7A-43D3-8B79-37D633B846F1}">
                <asvg:svgBlip xmlns:asvg="http://schemas.microsoft.com/office/drawing/2016/SVG/main" xmlns="" r:embed="rId13"/>
              </a:ext>
            </a:extLst>
          </a:blip>
          <a:stretch>
            <a:fillRect/>
          </a:stretch>
        </p:blipFill>
        <p:spPr>
          <a:xfrm>
            <a:off x="1094780" y="3594199"/>
            <a:ext cx="152772" cy="152772"/>
          </a:xfrm>
          <a:prstGeom prst="rect">
            <a:avLst/>
          </a:prstGeom>
        </p:spPr>
      </p:pic>
      <p:sp>
        <p:nvSpPr>
          <p:cNvPr id="16" name="Text 7"/>
          <p:cNvSpPr/>
          <p:nvPr/>
        </p:nvSpPr>
        <p:spPr>
          <a:xfrm>
            <a:off x="1387673" y="3591074"/>
            <a:ext cx="1730871" cy="159246"/>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Snapshot Listeners</a:t>
            </a:r>
            <a:endParaRPr lang="en-US" sz="1000" dirty="0"/>
          </a:p>
        </p:txBody>
      </p:sp>
      <p:sp>
        <p:nvSpPr>
          <p:cNvPr id="17" name="Text 8"/>
          <p:cNvSpPr/>
          <p:nvPr/>
        </p:nvSpPr>
        <p:spPr>
          <a:xfrm>
            <a:off x="1387673" y="3823543"/>
            <a:ext cx="3059981" cy="284857"/>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Firestore </a:t>
            </a:r>
            <a:r>
              <a:rPr lang="en-US" sz="800" dirty="0">
                <a:solidFill>
                  <a:srgbClr val="E5E0DF"/>
                </a:solidFill>
                <a:highlight>
                  <a:srgbClr val="343232"/>
                </a:highlight>
                <a:latin typeface="Consolas" pitchFamily="34" charset="0"/>
                <a:ea typeface="Consolas" pitchFamily="34" charset="-122"/>
                <a:cs typeface="Consolas" pitchFamily="34" charset="-120"/>
              </a:rPr>
              <a:t>addSnapshotListener</a:t>
            </a:r>
            <a:r>
              <a:rPr lang="en-US" sz="800" dirty="0">
                <a:solidFill>
                  <a:srgbClr val="E5E0DF"/>
                </a:solidFill>
                <a:latin typeface="Inter" pitchFamily="34" charset="0"/>
                <a:ea typeface="Inter" pitchFamily="34" charset="-122"/>
                <a:cs typeface="Inter" pitchFamily="34" charset="-120"/>
              </a:rPr>
              <a:t> streams document changes. No polling — pure push-based architecture.</a:t>
            </a:r>
            <a:endParaRPr lang="en-US" sz="800" dirty="0"/>
          </a:p>
        </p:txBody>
      </p:sp>
      <p:pic>
        <p:nvPicPr>
          <p:cNvPr id="18" name="Image 7" descr="preencoded.png"/>
          <p:cNvPicPr>
            <a:picLocks noChangeAspect="1"/>
          </p:cNvPicPr>
          <p:nvPr/>
        </p:nvPicPr>
        <p:blipFill>
          <a:blip r:embed="rId4">
            <a:extLst>
              <a:ext uri="{96DAC541-7B7A-43D3-8B79-37D633B846F1}">
                <asvg:svgBlip xmlns:asvg="http://schemas.microsoft.com/office/drawing/2016/SVG/main" xmlns="" r:embed="rId15"/>
              </a:ext>
            </a:extLst>
          </a:blip>
          <a:stretch>
            <a:fillRect/>
          </a:stretch>
        </p:blipFill>
        <p:spPr>
          <a:xfrm>
            <a:off x="1094780" y="4257973"/>
            <a:ext cx="152772" cy="152772"/>
          </a:xfrm>
          <a:prstGeom prst="rect">
            <a:avLst/>
          </a:prstGeom>
        </p:spPr>
      </p:pic>
      <p:sp>
        <p:nvSpPr>
          <p:cNvPr id="19" name="Text 9"/>
          <p:cNvSpPr/>
          <p:nvPr/>
        </p:nvSpPr>
        <p:spPr>
          <a:xfrm>
            <a:off x="1387673" y="4254847"/>
            <a:ext cx="1730871" cy="159246"/>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Coroutines + Flow</a:t>
            </a:r>
            <a:endParaRPr lang="en-US" sz="1000" dirty="0"/>
          </a:p>
        </p:txBody>
      </p:sp>
      <p:sp>
        <p:nvSpPr>
          <p:cNvPr id="20" name="Text 10"/>
          <p:cNvSpPr/>
          <p:nvPr/>
        </p:nvSpPr>
        <p:spPr>
          <a:xfrm>
            <a:off x="1387673" y="4487317"/>
            <a:ext cx="3059981" cy="289620"/>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Listeners are wrapped in </a:t>
            </a:r>
            <a:r>
              <a:rPr lang="en-US" sz="800" dirty="0">
                <a:solidFill>
                  <a:srgbClr val="E5E0DF"/>
                </a:solidFill>
                <a:highlight>
                  <a:srgbClr val="343232"/>
                </a:highlight>
                <a:latin typeface="Consolas" pitchFamily="34" charset="0"/>
                <a:ea typeface="Consolas" pitchFamily="34" charset="-122"/>
                <a:cs typeface="Consolas" pitchFamily="34" charset="-120"/>
              </a:rPr>
              <a:t>callbackFlow</a:t>
            </a:r>
            <a:r>
              <a:rPr lang="en-US" sz="800" dirty="0">
                <a:solidFill>
                  <a:srgbClr val="E5E0DF"/>
                </a:solidFill>
                <a:latin typeface="Inter" pitchFamily="34" charset="0"/>
                <a:ea typeface="Inter" pitchFamily="34" charset="-122"/>
                <a:cs typeface="Inter" pitchFamily="34" charset="-120"/>
              </a:rPr>
              <a:t>, converting Firestore callbacks into cold Kotlin </a:t>
            </a:r>
            <a:r>
              <a:rPr lang="en-US" sz="800" dirty="0">
                <a:solidFill>
                  <a:srgbClr val="E5E0DF"/>
                </a:solidFill>
                <a:highlight>
                  <a:srgbClr val="343232"/>
                </a:highlight>
                <a:latin typeface="Consolas" pitchFamily="34" charset="0"/>
                <a:ea typeface="Consolas" pitchFamily="34" charset="-122"/>
                <a:cs typeface="Consolas" pitchFamily="34" charset="-120"/>
              </a:rPr>
              <a:t>Flow</a:t>
            </a:r>
            <a:r>
              <a:rPr lang="en-US" sz="800" dirty="0">
                <a:solidFill>
                  <a:srgbClr val="E5E0DF"/>
                </a:solidFill>
                <a:latin typeface="Inter" pitchFamily="34" charset="0"/>
                <a:ea typeface="Inter" pitchFamily="34" charset="-122"/>
                <a:cs typeface="Inter" pitchFamily="34" charset="-120"/>
              </a:rPr>
              <a:t> streams.</a:t>
            </a:r>
            <a:endParaRPr lang="en-US" sz="800" dirty="0"/>
          </a:p>
        </p:txBody>
      </p:sp>
      <p:pic>
        <p:nvPicPr>
          <p:cNvPr id="21" name="Image 8" descr="preencoded.png"/>
          <p:cNvPicPr>
            <a:picLocks noChangeAspect="1"/>
          </p:cNvPicPr>
          <p:nvPr/>
        </p:nvPicPr>
        <p:blipFill>
          <a:blip r:embed="rId4">
            <a:extLst>
              <a:ext uri="{96DAC541-7B7A-43D3-8B79-37D633B846F1}">
                <asvg:svgBlip xmlns:asvg="http://schemas.microsoft.com/office/drawing/2016/SVG/main" xmlns="" r:embed="rId17"/>
              </a:ext>
            </a:extLst>
          </a:blip>
          <a:stretch>
            <a:fillRect/>
          </a:stretch>
        </p:blipFill>
        <p:spPr>
          <a:xfrm>
            <a:off x="4739134" y="3594199"/>
            <a:ext cx="152772" cy="152772"/>
          </a:xfrm>
          <a:prstGeom prst="rect">
            <a:avLst/>
          </a:prstGeom>
        </p:spPr>
      </p:pic>
      <p:sp>
        <p:nvSpPr>
          <p:cNvPr id="22" name="Text 11"/>
          <p:cNvSpPr/>
          <p:nvPr/>
        </p:nvSpPr>
        <p:spPr>
          <a:xfrm>
            <a:off x="5032028" y="3591074"/>
            <a:ext cx="1950095" cy="159246"/>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StateFlow in ViewModel</a:t>
            </a:r>
            <a:endParaRPr lang="en-US" sz="1000" dirty="0"/>
          </a:p>
        </p:txBody>
      </p:sp>
      <p:sp>
        <p:nvSpPr>
          <p:cNvPr id="23" name="Text 12"/>
          <p:cNvSpPr/>
          <p:nvPr/>
        </p:nvSpPr>
        <p:spPr>
          <a:xfrm>
            <a:off x="5032028" y="3823543"/>
            <a:ext cx="3059981" cy="289620"/>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Repository flows are collected into </a:t>
            </a:r>
            <a:r>
              <a:rPr lang="en-US" sz="800" dirty="0">
                <a:solidFill>
                  <a:srgbClr val="E5E0DF"/>
                </a:solidFill>
                <a:highlight>
                  <a:srgbClr val="343232"/>
                </a:highlight>
                <a:latin typeface="Consolas" pitchFamily="34" charset="0"/>
                <a:ea typeface="Consolas" pitchFamily="34" charset="-122"/>
                <a:cs typeface="Consolas" pitchFamily="34" charset="-120"/>
              </a:rPr>
              <a:t>MutableStateFlow</a:t>
            </a:r>
            <a:r>
              <a:rPr lang="en-US" sz="800" dirty="0">
                <a:solidFill>
                  <a:srgbClr val="E5E0DF"/>
                </a:solidFill>
                <a:latin typeface="Inter" pitchFamily="34" charset="0"/>
                <a:ea typeface="Inter" pitchFamily="34" charset="-122"/>
                <a:cs typeface="Inter" pitchFamily="34" charset="-120"/>
              </a:rPr>
              <a:t>. UI observes via </a:t>
            </a:r>
            <a:r>
              <a:rPr lang="en-US" sz="800" dirty="0">
                <a:solidFill>
                  <a:srgbClr val="E5E0DF"/>
                </a:solidFill>
                <a:highlight>
                  <a:srgbClr val="343232"/>
                </a:highlight>
                <a:latin typeface="Consolas" pitchFamily="34" charset="0"/>
                <a:ea typeface="Consolas" pitchFamily="34" charset="-122"/>
                <a:cs typeface="Consolas" pitchFamily="34" charset="-120"/>
              </a:rPr>
              <a:t>collectAsStateWithLifecycle()</a:t>
            </a:r>
            <a:r>
              <a:rPr lang="en-US" sz="800" dirty="0">
                <a:solidFill>
                  <a:srgbClr val="E5E0DF"/>
                </a:solidFill>
                <a:latin typeface="Inter" pitchFamily="34" charset="0"/>
                <a:ea typeface="Inter" pitchFamily="34" charset="-122"/>
                <a:cs typeface="Inter" pitchFamily="34" charset="-120"/>
              </a:rPr>
              <a:t>.</a:t>
            </a:r>
            <a:endParaRPr lang="en-US" sz="800" dirty="0"/>
          </a:p>
        </p:txBody>
      </p:sp>
      <p:pic>
        <p:nvPicPr>
          <p:cNvPr id="24" name="Image 9" descr="preencoded.png"/>
          <p:cNvPicPr>
            <a:picLocks noChangeAspect="1"/>
          </p:cNvPicPr>
          <p:nvPr/>
        </p:nvPicPr>
        <p:blipFill>
          <a:blip r:embed="rId4">
            <a:extLst>
              <a:ext uri="{96DAC541-7B7A-43D3-8B79-37D633B846F1}">
                <asvg:svgBlip xmlns:asvg="http://schemas.microsoft.com/office/drawing/2016/SVG/main" xmlns="" r:embed="rId19"/>
              </a:ext>
            </a:extLst>
          </a:blip>
          <a:stretch>
            <a:fillRect/>
          </a:stretch>
        </p:blipFill>
        <p:spPr>
          <a:xfrm>
            <a:off x="4739134" y="4262735"/>
            <a:ext cx="152772" cy="152772"/>
          </a:xfrm>
          <a:prstGeom prst="rect">
            <a:avLst/>
          </a:prstGeom>
        </p:spPr>
      </p:pic>
      <p:sp>
        <p:nvSpPr>
          <p:cNvPr id="25" name="Text 13"/>
          <p:cNvSpPr/>
          <p:nvPr/>
        </p:nvSpPr>
        <p:spPr>
          <a:xfrm>
            <a:off x="5032028" y="4259610"/>
            <a:ext cx="1959918" cy="159246"/>
          </a:xfrm>
          <a:prstGeom prst="rect">
            <a:avLst/>
          </a:prstGeom>
          <a:noFill/>
          <a:ln/>
        </p:spPr>
        <p:txBody>
          <a:bodyPr wrap="none" lIns="0" tIns="0" rIns="0" bIns="0" rtlCol="0" anchor="t"/>
          <a:lstStyle/>
          <a:p>
            <a:pPr marL="0" indent="0" algn="l">
              <a:lnSpc>
                <a:spcPct val="104000"/>
              </a:lnSpc>
              <a:buNone/>
            </a:pPr>
            <a:r>
              <a:rPr lang="en-US" sz="1000" b="1" dirty="0">
                <a:solidFill>
                  <a:srgbClr val="E5E0DF"/>
                </a:solidFill>
                <a:latin typeface="Inter Bold" pitchFamily="34" charset="0"/>
                <a:ea typeface="Inter Bold" pitchFamily="34" charset="-122"/>
                <a:cs typeface="Inter Bold" pitchFamily="34" charset="-120"/>
              </a:rPr>
              <a:t>Scoped Lifecycle Safety</a:t>
            </a:r>
            <a:endParaRPr lang="en-US" sz="1000" dirty="0"/>
          </a:p>
        </p:txBody>
      </p:sp>
      <p:sp>
        <p:nvSpPr>
          <p:cNvPr id="26" name="Text 14"/>
          <p:cNvSpPr/>
          <p:nvPr/>
        </p:nvSpPr>
        <p:spPr>
          <a:xfrm>
            <a:off x="5032028" y="4492079"/>
            <a:ext cx="3059981" cy="284857"/>
          </a:xfrm>
          <a:prstGeom prst="rect">
            <a:avLst/>
          </a:prstGeom>
          <a:noFill/>
          <a:ln/>
        </p:spPr>
        <p:txBody>
          <a:bodyPr wrap="square" lIns="0" tIns="0" rIns="0" bIns="0" rtlCol="0" anchor="t">
            <a:normAutofit/>
          </a:bodyPr>
          <a:lstStyle/>
          <a:p>
            <a:pPr marL="0" indent="0" algn="l">
              <a:lnSpc>
                <a:spcPct val="115000"/>
              </a:lnSpc>
              <a:buNone/>
            </a:pPr>
            <a:r>
              <a:rPr lang="en-US" sz="800" dirty="0">
                <a:solidFill>
                  <a:srgbClr val="E5E0DF"/>
                </a:solidFill>
                <a:latin typeface="Inter" pitchFamily="34" charset="0"/>
                <a:ea typeface="Inter" pitchFamily="34" charset="-122"/>
                <a:cs typeface="Inter" pitchFamily="34" charset="-120"/>
              </a:rPr>
              <a:t>Coroutines launched in </a:t>
            </a:r>
            <a:r>
              <a:rPr lang="en-US" sz="800" dirty="0">
                <a:solidFill>
                  <a:srgbClr val="E5E0DF"/>
                </a:solidFill>
                <a:highlight>
                  <a:srgbClr val="343232"/>
                </a:highlight>
                <a:latin typeface="Consolas" pitchFamily="34" charset="0"/>
                <a:ea typeface="Consolas" pitchFamily="34" charset="-122"/>
                <a:cs typeface="Consolas" pitchFamily="34" charset="-120"/>
              </a:rPr>
              <a:t>viewModelScope</a:t>
            </a:r>
            <a:r>
              <a:rPr lang="en-US" sz="800" dirty="0">
                <a:solidFill>
                  <a:srgbClr val="E5E0DF"/>
                </a:solidFill>
                <a:latin typeface="Inter" pitchFamily="34" charset="0"/>
                <a:ea typeface="Inter" pitchFamily="34" charset="-122"/>
                <a:cs typeface="Inter" pitchFamily="34" charset="-120"/>
              </a:rPr>
              <a:t> cancel automatically on ViewModel teardown, preventing memory leaks.</a:t>
            </a:r>
            <a:endParaRPr lang="en-US" sz="800" dirty="0"/>
          </a:p>
        </p:txBody>
      </p:sp>
      <p:pic>
        <p:nvPicPr>
          <p:cNvPr id="27" name="Picture 26"/>
          <p:cNvPicPr>
            <a:picLocks noChangeAspect="1"/>
          </p:cNvPicPr>
          <p:nvPr/>
        </p:nvPicPr>
        <p:blipFill>
          <a:blip r:embed="rId20"/>
          <a:stretch>
            <a:fillRect/>
          </a:stretch>
        </p:blipFill>
        <p:spPr>
          <a:xfrm>
            <a:off x="7805588" y="4704522"/>
            <a:ext cx="1338411" cy="372191"/>
          </a:xfrm>
          <a:prstGeom prst="rect">
            <a:avLst/>
          </a:prstGeom>
        </p:spPr>
      </p:pic>
    </p:spTree>
    <p:extLst>
      <p:ext uri="{BB962C8B-B14F-4D97-AF65-F5344CB8AC3E}">
        <p14:creationId xmlns:p14="http://schemas.microsoft.com/office/powerpoint/2010/main" val="32283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521643" y="592038"/>
            <a:ext cx="3874368" cy="366861"/>
          </a:xfrm>
          <a:prstGeom prst="rect">
            <a:avLst/>
          </a:prstGeom>
          <a:noFill/>
          <a:ln/>
        </p:spPr>
        <p:txBody>
          <a:bodyPr wrap="none" lIns="0" tIns="0" rIns="0" bIns="0" rtlCol="0" anchor="t"/>
          <a:lstStyle/>
          <a:p>
            <a:pPr marL="0" indent="0" algn="l">
              <a:lnSpc>
                <a:spcPct val="104000"/>
              </a:lnSpc>
              <a:buNone/>
            </a:pPr>
            <a:r>
              <a:rPr lang="en-US" sz="2300" b="1" dirty="0">
                <a:solidFill>
                  <a:srgbClr val="FFFFFF"/>
                </a:solidFill>
                <a:latin typeface="Inter Bold" pitchFamily="34" charset="0"/>
                <a:ea typeface="Inter Bold" pitchFamily="34" charset="-122"/>
                <a:cs typeface="Inter Bold" pitchFamily="34" charset="-120"/>
              </a:rPr>
              <a:t>Security &amp; Performance</a:t>
            </a:r>
            <a:endParaRPr lang="en-US" sz="2300" dirty="0"/>
          </a:p>
        </p:txBody>
      </p:sp>
      <p:sp>
        <p:nvSpPr>
          <p:cNvPr id="6" name="Shape 3"/>
          <p:cNvSpPr/>
          <p:nvPr/>
        </p:nvSpPr>
        <p:spPr>
          <a:xfrm>
            <a:off x="437108" y="1104677"/>
            <a:ext cx="4076179" cy="3149278"/>
          </a:xfrm>
          <a:prstGeom prst="roundRect">
            <a:avLst>
              <a:gd name="adj" fmla="val 2684"/>
            </a:avLst>
          </a:prstGeom>
          <a:solidFill>
            <a:srgbClr val="2B0AFF"/>
          </a:solidFill>
          <a:ln/>
        </p:spPr>
      </p:sp>
      <p:sp>
        <p:nvSpPr>
          <p:cNvPr id="7" name="Shape 4"/>
          <p:cNvSpPr/>
          <p:nvPr/>
        </p:nvSpPr>
        <p:spPr>
          <a:xfrm>
            <a:off x="554459" y="1213991"/>
            <a:ext cx="1473250" cy="217215"/>
          </a:xfrm>
          <a:prstGeom prst="roundRect">
            <a:avLst>
              <a:gd name="adj" fmla="val 18160"/>
            </a:avLst>
          </a:prstGeom>
          <a:noFill/>
          <a:ln w="4763">
            <a:solidFill>
              <a:srgbClr val="2B0AFF"/>
            </a:solidFill>
            <a:prstDash val="solid"/>
          </a:ln>
        </p:spPr>
      </p:sp>
      <p:sp>
        <p:nvSpPr>
          <p:cNvPr id="8" name="Text 5"/>
          <p:cNvSpPr/>
          <p:nvPr/>
        </p:nvSpPr>
        <p:spPr>
          <a:xfrm>
            <a:off x="629617" y="1253951"/>
            <a:ext cx="1780133" cy="137294"/>
          </a:xfrm>
          <a:prstGeom prst="rect">
            <a:avLst/>
          </a:prstGeom>
          <a:noFill/>
          <a:ln/>
        </p:spPr>
        <p:txBody>
          <a:bodyPr wrap="none" lIns="0" tIns="0" rIns="0" bIns="0" rtlCol="0" anchor="t"/>
          <a:lstStyle/>
          <a:p>
            <a:pPr marL="0" indent="0" algn="l">
              <a:lnSpc>
                <a:spcPct val="122000"/>
              </a:lnSpc>
              <a:buNone/>
            </a:pPr>
            <a:r>
              <a:rPr lang="en-US" sz="700" dirty="0">
                <a:solidFill>
                  <a:srgbClr val="2B0AFF"/>
                </a:solidFill>
                <a:latin typeface="Inter" pitchFamily="34" charset="0"/>
                <a:ea typeface="Inter" pitchFamily="34" charset="-122"/>
                <a:cs typeface="Inter" pitchFamily="34" charset="-120"/>
              </a:rPr>
              <a:t>SECURITY IMPLEMENTATION</a:t>
            </a:r>
            <a:endParaRPr lang="en-US" sz="700" dirty="0"/>
          </a:p>
        </p:txBody>
      </p:sp>
      <p:sp>
        <p:nvSpPr>
          <p:cNvPr id="9" name="Shape 6"/>
          <p:cNvSpPr/>
          <p:nvPr/>
        </p:nvSpPr>
        <p:spPr>
          <a:xfrm>
            <a:off x="554459" y="1602879"/>
            <a:ext cx="58638" cy="58638"/>
          </a:xfrm>
          <a:prstGeom prst="roundRect">
            <a:avLst>
              <a:gd name="adj" fmla="val 487312"/>
            </a:avLst>
          </a:prstGeom>
          <a:solidFill>
            <a:srgbClr val="2B0AFF"/>
          </a:solidFill>
          <a:ln/>
        </p:spPr>
      </p:sp>
      <p:sp>
        <p:nvSpPr>
          <p:cNvPr id="10" name="Text 7"/>
          <p:cNvSpPr/>
          <p:nvPr/>
        </p:nvSpPr>
        <p:spPr>
          <a:xfrm>
            <a:off x="710282" y="1540520"/>
            <a:ext cx="1924645"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Firebase Auth</a:t>
            </a:r>
            <a:endParaRPr lang="en-US" sz="1150" dirty="0"/>
          </a:p>
        </p:txBody>
      </p:sp>
      <p:sp>
        <p:nvSpPr>
          <p:cNvPr id="11" name="Text 8"/>
          <p:cNvSpPr/>
          <p:nvPr/>
        </p:nvSpPr>
        <p:spPr>
          <a:xfrm>
            <a:off x="710282" y="1821135"/>
            <a:ext cx="368565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Email/password and Google Sign-In via Firebase Authentication. JWT tokens managed transparently by the SDK.</a:t>
            </a:r>
            <a:endParaRPr lang="en-US" sz="900" dirty="0"/>
          </a:p>
        </p:txBody>
      </p:sp>
      <p:sp>
        <p:nvSpPr>
          <p:cNvPr id="12" name="Shape 9"/>
          <p:cNvSpPr/>
          <p:nvPr/>
        </p:nvSpPr>
        <p:spPr>
          <a:xfrm>
            <a:off x="554459" y="2421285"/>
            <a:ext cx="58638" cy="58638"/>
          </a:xfrm>
          <a:prstGeom prst="roundRect">
            <a:avLst>
              <a:gd name="adj" fmla="val 487312"/>
            </a:avLst>
          </a:prstGeom>
          <a:solidFill>
            <a:srgbClr val="2B0AFF"/>
          </a:solidFill>
          <a:ln/>
        </p:spPr>
      </p:sp>
      <p:sp>
        <p:nvSpPr>
          <p:cNvPr id="13" name="Text 10"/>
          <p:cNvSpPr/>
          <p:nvPr/>
        </p:nvSpPr>
        <p:spPr>
          <a:xfrm>
            <a:off x="710282" y="2358926"/>
            <a:ext cx="1924645"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Data Isolation</a:t>
            </a:r>
            <a:endParaRPr lang="en-US" sz="1150" dirty="0"/>
          </a:p>
        </p:txBody>
      </p:sp>
      <p:sp>
        <p:nvSpPr>
          <p:cNvPr id="14" name="Text 11"/>
          <p:cNvSpPr/>
          <p:nvPr/>
        </p:nvSpPr>
        <p:spPr>
          <a:xfrm>
            <a:off x="710282" y="2639541"/>
            <a:ext cx="368565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Firestore Security Rules enforce </a:t>
            </a:r>
            <a:r>
              <a:rPr lang="en-US" sz="900" dirty="0">
                <a:solidFill>
                  <a:srgbClr val="E5E0DF"/>
                </a:solidFill>
                <a:highlight>
                  <a:srgbClr val="3817FF"/>
                </a:highlight>
                <a:latin typeface="Consolas" pitchFamily="34" charset="0"/>
                <a:ea typeface="Consolas" pitchFamily="34" charset="-122"/>
                <a:cs typeface="Consolas" pitchFamily="34" charset="-120"/>
              </a:rPr>
              <a:t>request.auth.uid == userId</a:t>
            </a:r>
            <a:r>
              <a:rPr lang="en-US" sz="900" dirty="0">
                <a:solidFill>
                  <a:srgbClr val="E5E0DF"/>
                </a:solidFill>
                <a:latin typeface="Inter" pitchFamily="34" charset="0"/>
                <a:ea typeface="Inter" pitchFamily="34" charset="-122"/>
                <a:cs typeface="Inter" pitchFamily="34" charset="-120"/>
              </a:rPr>
              <a:t>. No cross-user data access is architecturally possible.</a:t>
            </a:r>
            <a:endParaRPr lang="en-US" sz="900" dirty="0"/>
          </a:p>
        </p:txBody>
      </p:sp>
      <p:sp>
        <p:nvSpPr>
          <p:cNvPr id="15" name="Shape 12"/>
          <p:cNvSpPr/>
          <p:nvPr/>
        </p:nvSpPr>
        <p:spPr>
          <a:xfrm>
            <a:off x="554459" y="3239691"/>
            <a:ext cx="58638" cy="58638"/>
          </a:xfrm>
          <a:prstGeom prst="roundRect">
            <a:avLst>
              <a:gd name="adj" fmla="val 487312"/>
            </a:avLst>
          </a:prstGeom>
          <a:solidFill>
            <a:srgbClr val="2B0AFF"/>
          </a:solidFill>
          <a:ln/>
        </p:spPr>
      </p:sp>
      <p:sp>
        <p:nvSpPr>
          <p:cNvPr id="16" name="Text 13"/>
          <p:cNvSpPr/>
          <p:nvPr/>
        </p:nvSpPr>
        <p:spPr>
          <a:xfrm>
            <a:off x="710282" y="3177332"/>
            <a:ext cx="2005236"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Session Management</a:t>
            </a:r>
            <a:endParaRPr lang="en-US" sz="1150" dirty="0"/>
          </a:p>
        </p:txBody>
      </p:sp>
      <p:sp>
        <p:nvSpPr>
          <p:cNvPr id="17" name="Text 14"/>
          <p:cNvSpPr/>
          <p:nvPr/>
        </p:nvSpPr>
        <p:spPr>
          <a:xfrm>
            <a:off x="710282" y="3457947"/>
            <a:ext cx="3685654"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Auth state persisted via </a:t>
            </a:r>
            <a:r>
              <a:rPr lang="en-US" sz="900" dirty="0">
                <a:solidFill>
                  <a:srgbClr val="E5E0DF"/>
                </a:solidFill>
                <a:highlight>
                  <a:srgbClr val="3817FF"/>
                </a:highlight>
                <a:latin typeface="Consolas" pitchFamily="34" charset="0"/>
                <a:ea typeface="Consolas" pitchFamily="34" charset="-122"/>
                <a:cs typeface="Consolas" pitchFamily="34" charset="-120"/>
              </a:rPr>
              <a:t>DataStore</a:t>
            </a:r>
            <a:r>
              <a:rPr lang="en-US" sz="900" dirty="0">
                <a:solidFill>
                  <a:srgbClr val="E5E0DF"/>
                </a:solidFill>
                <a:latin typeface="Inter" pitchFamily="34" charset="0"/>
                <a:ea typeface="Inter" pitchFamily="34" charset="-122"/>
                <a:cs typeface="Inter" pitchFamily="34" charset="-120"/>
              </a:rPr>
              <a:t>. Session invalidation triggers automatic NavGraph redirect to login screen.</a:t>
            </a:r>
            <a:endParaRPr lang="en-US" sz="900" dirty="0"/>
          </a:p>
        </p:txBody>
      </p:sp>
      <p:sp>
        <p:nvSpPr>
          <p:cNvPr id="18" name="Shape 15"/>
          <p:cNvSpPr/>
          <p:nvPr/>
        </p:nvSpPr>
        <p:spPr>
          <a:xfrm>
            <a:off x="4719861" y="1213991"/>
            <a:ext cx="1558677" cy="217215"/>
          </a:xfrm>
          <a:prstGeom prst="roundRect">
            <a:avLst>
              <a:gd name="adj" fmla="val 18160"/>
            </a:avLst>
          </a:prstGeom>
          <a:noFill/>
          <a:ln w="4763">
            <a:solidFill>
              <a:srgbClr val="2B0AFF"/>
            </a:solidFill>
            <a:prstDash val="solid"/>
          </a:ln>
        </p:spPr>
      </p:sp>
      <p:sp>
        <p:nvSpPr>
          <p:cNvPr id="19" name="Text 16"/>
          <p:cNvSpPr/>
          <p:nvPr/>
        </p:nvSpPr>
        <p:spPr>
          <a:xfrm>
            <a:off x="4795019" y="1253951"/>
            <a:ext cx="1865561" cy="137294"/>
          </a:xfrm>
          <a:prstGeom prst="rect">
            <a:avLst/>
          </a:prstGeom>
          <a:noFill/>
          <a:ln/>
        </p:spPr>
        <p:txBody>
          <a:bodyPr wrap="none" lIns="0" tIns="0" rIns="0" bIns="0" rtlCol="0" anchor="t"/>
          <a:lstStyle/>
          <a:p>
            <a:pPr marL="0" indent="0" algn="l">
              <a:lnSpc>
                <a:spcPct val="122000"/>
              </a:lnSpc>
              <a:buNone/>
            </a:pPr>
            <a:r>
              <a:rPr lang="en-US" sz="700" dirty="0">
                <a:solidFill>
                  <a:srgbClr val="2B0AFF"/>
                </a:solidFill>
                <a:latin typeface="Inter" pitchFamily="34" charset="0"/>
                <a:ea typeface="Inter" pitchFamily="34" charset="-122"/>
                <a:cs typeface="Inter" pitchFamily="34" charset="-120"/>
              </a:rPr>
              <a:t>PERFORMANCE OPTIMIZATION</a:t>
            </a:r>
            <a:endParaRPr lang="en-US" sz="700" dirty="0"/>
          </a:p>
        </p:txBody>
      </p:sp>
      <p:sp>
        <p:nvSpPr>
          <p:cNvPr id="20" name="Shape 17"/>
          <p:cNvSpPr/>
          <p:nvPr/>
        </p:nvSpPr>
        <p:spPr>
          <a:xfrm>
            <a:off x="4719861" y="1602879"/>
            <a:ext cx="58638" cy="58638"/>
          </a:xfrm>
          <a:prstGeom prst="roundRect">
            <a:avLst>
              <a:gd name="adj" fmla="val 487312"/>
            </a:avLst>
          </a:prstGeom>
          <a:solidFill>
            <a:srgbClr val="2B0AFF"/>
          </a:solidFill>
          <a:ln/>
        </p:spPr>
      </p:sp>
      <p:sp>
        <p:nvSpPr>
          <p:cNvPr id="21" name="Text 18"/>
          <p:cNvSpPr/>
          <p:nvPr/>
        </p:nvSpPr>
        <p:spPr>
          <a:xfrm>
            <a:off x="4875684" y="1540520"/>
            <a:ext cx="2082552"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Async with Coroutines</a:t>
            </a:r>
            <a:endParaRPr lang="en-US" sz="1150" dirty="0"/>
          </a:p>
        </p:txBody>
      </p:sp>
      <p:sp>
        <p:nvSpPr>
          <p:cNvPr id="22" name="Text 19"/>
          <p:cNvSpPr/>
          <p:nvPr/>
        </p:nvSpPr>
        <p:spPr>
          <a:xfrm>
            <a:off x="4875684" y="1821135"/>
            <a:ext cx="3751287" cy="343346"/>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All I/O operations run on </a:t>
            </a:r>
            <a:r>
              <a:rPr lang="en-US" sz="900" dirty="0">
                <a:solidFill>
                  <a:srgbClr val="E5E0DF"/>
                </a:solidFill>
                <a:highlight>
                  <a:srgbClr val="343232"/>
                </a:highlight>
                <a:latin typeface="Consolas" pitchFamily="34" charset="0"/>
                <a:ea typeface="Consolas" pitchFamily="34" charset="-122"/>
                <a:cs typeface="Consolas" pitchFamily="34" charset="-120"/>
              </a:rPr>
              <a:t>Dispatchers.IO</a:t>
            </a:r>
            <a:r>
              <a:rPr lang="en-US" sz="900" dirty="0">
                <a:solidFill>
                  <a:srgbClr val="E5E0DF"/>
                </a:solidFill>
                <a:latin typeface="Inter" pitchFamily="34" charset="0"/>
                <a:ea typeface="Inter" pitchFamily="34" charset="-122"/>
                <a:cs typeface="Inter" pitchFamily="34" charset="-120"/>
              </a:rPr>
              <a:t>. UI thread is never blocked. Structured concurrency prevents leaks.</a:t>
            </a:r>
            <a:endParaRPr lang="en-US" sz="900" dirty="0"/>
          </a:p>
        </p:txBody>
      </p:sp>
      <p:sp>
        <p:nvSpPr>
          <p:cNvPr id="23" name="Shape 20"/>
          <p:cNvSpPr/>
          <p:nvPr/>
        </p:nvSpPr>
        <p:spPr>
          <a:xfrm>
            <a:off x="4719861" y="2421285"/>
            <a:ext cx="58638" cy="58638"/>
          </a:xfrm>
          <a:prstGeom prst="roundRect">
            <a:avLst>
              <a:gd name="adj" fmla="val 487312"/>
            </a:avLst>
          </a:prstGeom>
          <a:solidFill>
            <a:srgbClr val="2B0AFF"/>
          </a:solidFill>
          <a:ln/>
        </p:spPr>
      </p:sp>
      <p:sp>
        <p:nvSpPr>
          <p:cNvPr id="24" name="Text 21"/>
          <p:cNvSpPr/>
          <p:nvPr/>
        </p:nvSpPr>
        <p:spPr>
          <a:xfrm>
            <a:off x="4875684" y="2358926"/>
            <a:ext cx="2713286"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Compose Smart Recomposition</a:t>
            </a:r>
            <a:endParaRPr lang="en-US" sz="1150" dirty="0"/>
          </a:p>
        </p:txBody>
      </p:sp>
      <p:sp>
        <p:nvSpPr>
          <p:cNvPr id="25" name="Text 22"/>
          <p:cNvSpPr/>
          <p:nvPr/>
        </p:nvSpPr>
        <p:spPr>
          <a:xfrm>
            <a:off x="4875684" y="2639541"/>
            <a:ext cx="3751287"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highlight>
                  <a:srgbClr val="343232"/>
                </a:highlight>
                <a:latin typeface="Consolas" pitchFamily="34" charset="0"/>
                <a:ea typeface="Consolas" pitchFamily="34" charset="-122"/>
                <a:cs typeface="Consolas" pitchFamily="34" charset="-120"/>
              </a:rPr>
              <a:t>remember</a:t>
            </a:r>
            <a:r>
              <a:rPr lang="en-US" sz="900" dirty="0">
                <a:solidFill>
                  <a:srgbClr val="E5E0DF"/>
                </a:solidFill>
                <a:latin typeface="Inter" pitchFamily="34" charset="0"/>
                <a:ea typeface="Inter" pitchFamily="34" charset="-122"/>
                <a:cs typeface="Inter" pitchFamily="34" charset="-120"/>
              </a:rPr>
              <a:t>, </a:t>
            </a:r>
            <a:r>
              <a:rPr lang="en-US" sz="900" dirty="0">
                <a:solidFill>
                  <a:srgbClr val="E5E0DF"/>
                </a:solidFill>
                <a:highlight>
                  <a:srgbClr val="343232"/>
                </a:highlight>
                <a:latin typeface="Consolas" pitchFamily="34" charset="0"/>
                <a:ea typeface="Consolas" pitchFamily="34" charset="-122"/>
                <a:cs typeface="Consolas" pitchFamily="34" charset="-120"/>
              </a:rPr>
              <a:t>derivedStateOf</a:t>
            </a:r>
            <a:r>
              <a:rPr lang="en-US" sz="900" dirty="0">
                <a:solidFill>
                  <a:srgbClr val="E5E0DF"/>
                </a:solidFill>
                <a:latin typeface="Inter" pitchFamily="34" charset="0"/>
                <a:ea typeface="Inter" pitchFamily="34" charset="-122"/>
                <a:cs typeface="Inter" pitchFamily="34" charset="-120"/>
              </a:rPr>
              <a:t>, and </a:t>
            </a:r>
            <a:r>
              <a:rPr lang="en-US" sz="900" dirty="0">
                <a:solidFill>
                  <a:srgbClr val="E5E0DF"/>
                </a:solidFill>
                <a:highlight>
                  <a:srgbClr val="343232"/>
                </a:highlight>
                <a:latin typeface="Consolas" pitchFamily="34" charset="0"/>
                <a:ea typeface="Consolas" pitchFamily="34" charset="-122"/>
                <a:cs typeface="Consolas" pitchFamily="34" charset="-120"/>
              </a:rPr>
              <a:t>key()</a:t>
            </a:r>
            <a:r>
              <a:rPr lang="en-US" sz="900" dirty="0">
                <a:solidFill>
                  <a:srgbClr val="E5E0DF"/>
                </a:solidFill>
                <a:latin typeface="Inter" pitchFamily="34" charset="0"/>
                <a:ea typeface="Inter" pitchFamily="34" charset="-122"/>
                <a:cs typeface="Inter" pitchFamily="34" charset="-120"/>
              </a:rPr>
              <a:t> minimize unnecessary recompositions. Stable data classes preserve Compose stability contracts.</a:t>
            </a:r>
            <a:endParaRPr lang="en-US" sz="900" dirty="0"/>
          </a:p>
        </p:txBody>
      </p:sp>
      <p:sp>
        <p:nvSpPr>
          <p:cNvPr id="26" name="Shape 23"/>
          <p:cNvSpPr/>
          <p:nvPr/>
        </p:nvSpPr>
        <p:spPr>
          <a:xfrm>
            <a:off x="4719861" y="3411364"/>
            <a:ext cx="58638" cy="58638"/>
          </a:xfrm>
          <a:prstGeom prst="roundRect">
            <a:avLst>
              <a:gd name="adj" fmla="val 487312"/>
            </a:avLst>
          </a:prstGeom>
          <a:solidFill>
            <a:srgbClr val="2B0AFF"/>
          </a:solidFill>
          <a:ln/>
        </p:spPr>
      </p:sp>
      <p:sp>
        <p:nvSpPr>
          <p:cNvPr id="27" name="Text 24"/>
          <p:cNvSpPr/>
          <p:nvPr/>
        </p:nvSpPr>
        <p:spPr>
          <a:xfrm>
            <a:off x="4875684" y="3349005"/>
            <a:ext cx="1924645" cy="183431"/>
          </a:xfrm>
          <a:prstGeom prst="rect">
            <a:avLst/>
          </a:prstGeom>
          <a:noFill/>
          <a:ln/>
        </p:spPr>
        <p:txBody>
          <a:bodyPr wrap="none" lIns="0" tIns="0" rIns="0" bIns="0" rtlCol="0" anchor="t"/>
          <a:lstStyle/>
          <a:p>
            <a:pPr marL="0" indent="0" algn="l">
              <a:lnSpc>
                <a:spcPct val="104000"/>
              </a:lnSpc>
              <a:buNone/>
            </a:pPr>
            <a:r>
              <a:rPr lang="en-US" sz="1150" b="1" dirty="0">
                <a:solidFill>
                  <a:srgbClr val="E5E0DF"/>
                </a:solidFill>
                <a:latin typeface="Inter Bold" pitchFamily="34" charset="0"/>
                <a:ea typeface="Inter Bold" pitchFamily="34" charset="-122"/>
                <a:cs typeface="Inter Bold" pitchFamily="34" charset="-120"/>
              </a:rPr>
              <a:t>Hilt DI Efficiency</a:t>
            </a:r>
            <a:endParaRPr lang="en-US" sz="1150" dirty="0"/>
          </a:p>
        </p:txBody>
      </p:sp>
      <p:sp>
        <p:nvSpPr>
          <p:cNvPr id="28" name="Text 25"/>
          <p:cNvSpPr/>
          <p:nvPr/>
        </p:nvSpPr>
        <p:spPr>
          <a:xfrm>
            <a:off x="4875684" y="3629620"/>
            <a:ext cx="3751287" cy="515020"/>
          </a:xfrm>
          <a:prstGeom prst="rect">
            <a:avLst/>
          </a:prstGeom>
          <a:noFill/>
          <a:ln/>
        </p:spPr>
        <p:txBody>
          <a:bodyPr wrap="square" lIns="0" tIns="0" rIns="0" bIns="0" rtlCol="0" anchor="t">
            <a:normAutofit/>
          </a:bodyPr>
          <a:lstStyle/>
          <a:p>
            <a:pPr marL="0" indent="0" algn="l">
              <a:lnSpc>
                <a:spcPct val="122000"/>
              </a:lnSpc>
              <a:buNone/>
            </a:pPr>
            <a:r>
              <a:rPr lang="en-US" sz="900" dirty="0">
                <a:solidFill>
                  <a:srgbClr val="E5E0DF"/>
                </a:solidFill>
                <a:latin typeface="Inter" pitchFamily="34" charset="0"/>
                <a:ea typeface="Inter" pitchFamily="34" charset="-122"/>
                <a:cs typeface="Inter" pitchFamily="34" charset="-120"/>
              </a:rPr>
              <a:t>Singleton-scoped repositories and ViewModels injected via Hilt eliminate redundant object creation across the component lifecycle.</a:t>
            </a:r>
            <a:endParaRPr lang="en-US" sz="900" dirty="0"/>
          </a:p>
        </p:txBody>
      </p:sp>
      <p:sp>
        <p:nvSpPr>
          <p:cNvPr id="29" name="Shape 26"/>
          <p:cNvSpPr/>
          <p:nvPr/>
        </p:nvSpPr>
        <p:spPr>
          <a:xfrm>
            <a:off x="521643" y="4363269"/>
            <a:ext cx="8100640" cy="444252"/>
          </a:xfrm>
          <a:prstGeom prst="roundRect">
            <a:avLst>
              <a:gd name="adj" fmla="val 11099"/>
            </a:avLst>
          </a:prstGeom>
          <a:solidFill>
            <a:srgbClr val="183A13"/>
          </a:solidFill>
          <a:ln/>
        </p:spPr>
      </p:sp>
      <p:pic>
        <p:nvPicPr>
          <p:cNvPr id="30" name="Image 1" descr="preencoded.png"/>
          <p:cNvPicPr>
            <a:picLocks noChangeAspect="1"/>
          </p:cNvPicPr>
          <p:nvPr/>
        </p:nvPicPr>
        <p:blipFill>
          <a:blip r:embed="rId3"/>
          <a:stretch>
            <a:fillRect/>
          </a:stretch>
        </p:blipFill>
        <p:spPr>
          <a:xfrm>
            <a:off x="638994" y="4535835"/>
            <a:ext cx="146745" cy="117351"/>
          </a:xfrm>
          <a:prstGeom prst="rect">
            <a:avLst/>
          </a:prstGeom>
        </p:spPr>
      </p:pic>
      <p:sp>
        <p:nvSpPr>
          <p:cNvPr id="31" name="Text 27"/>
          <p:cNvSpPr/>
          <p:nvPr/>
        </p:nvSpPr>
        <p:spPr>
          <a:xfrm>
            <a:off x="903089" y="4489772"/>
            <a:ext cx="8059043" cy="171673"/>
          </a:xfrm>
          <a:prstGeom prst="rect">
            <a:avLst/>
          </a:prstGeom>
          <a:noFill/>
          <a:ln/>
        </p:spPr>
        <p:txBody>
          <a:bodyPr wrap="none" lIns="0" tIns="0" rIns="0" bIns="0" rtlCol="0" anchor="t"/>
          <a:lstStyle/>
          <a:p>
            <a:pPr marL="0" indent="0" algn="l">
              <a:lnSpc>
                <a:spcPct val="122000"/>
              </a:lnSpc>
              <a:buNone/>
            </a:pPr>
            <a:r>
              <a:rPr lang="en-US" sz="900" dirty="0">
                <a:solidFill>
                  <a:srgbClr val="FFFFFF"/>
                </a:solidFill>
                <a:latin typeface="Inter" pitchFamily="34" charset="0"/>
                <a:ea typeface="Inter" pitchFamily="34" charset="-122"/>
                <a:cs typeface="Inter" pitchFamily="34" charset="-120"/>
              </a:rPr>
              <a:t>The combined security and performance architecture ensures the app is production-ready — safe, fast, and maintainable at scale.</a:t>
            </a:r>
            <a:endParaRPr lang="en-US" sz="900" dirty="0"/>
          </a:p>
        </p:txBody>
      </p:sp>
      <p:pic>
        <p:nvPicPr>
          <p:cNvPr id="32" name="Picture 31"/>
          <p:cNvPicPr>
            <a:picLocks noChangeAspect="1"/>
          </p:cNvPicPr>
          <p:nvPr/>
        </p:nvPicPr>
        <p:blipFill>
          <a:blip r:embed="rId4"/>
          <a:stretch>
            <a:fillRect/>
          </a:stretch>
        </p:blipFill>
        <p:spPr>
          <a:xfrm>
            <a:off x="7805588" y="4866233"/>
            <a:ext cx="1338411" cy="210480"/>
          </a:xfrm>
          <a:prstGeom prst="rect">
            <a:avLst/>
          </a:prstGeom>
        </p:spPr>
      </p:pic>
    </p:spTree>
    <p:extLst>
      <p:ext uri="{BB962C8B-B14F-4D97-AF65-F5344CB8AC3E}">
        <p14:creationId xmlns:p14="http://schemas.microsoft.com/office/powerpoint/2010/main" val="29671621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349" y="387995"/>
            <a:ext cx="1028626" cy="239018"/>
          </a:xfrm>
          <a:prstGeom prst="roundRect">
            <a:avLst>
              <a:gd name="adj" fmla="val 18372"/>
            </a:avLst>
          </a:prstGeom>
          <a:solidFill>
            <a:srgbClr val="0A004D"/>
          </a:soli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535707" y="455191"/>
            <a:ext cx="104552" cy="104552"/>
          </a:xfrm>
          <a:prstGeom prst="rect">
            <a:avLst/>
          </a:prstGeom>
        </p:spPr>
      </p:pic>
      <p:sp>
        <p:nvSpPr>
          <p:cNvPr id="4" name="Text 1"/>
          <p:cNvSpPr/>
          <p:nvPr/>
        </p:nvSpPr>
        <p:spPr>
          <a:xfrm>
            <a:off x="692497" y="427137"/>
            <a:ext cx="1172319" cy="160734"/>
          </a:xfrm>
          <a:prstGeom prst="rect">
            <a:avLst/>
          </a:prstGeom>
          <a:noFill/>
          <a:ln/>
        </p:spPr>
        <p:txBody>
          <a:bodyPr wrap="none" lIns="0" tIns="0" rIns="0" bIns="0" rtlCol="0" anchor="t"/>
          <a:lstStyle/>
          <a:p>
            <a:pPr marL="0" indent="0" algn="l">
              <a:lnSpc>
                <a:spcPct val="128000"/>
              </a:lnSpc>
              <a:buNone/>
            </a:pPr>
            <a:r>
              <a:rPr lang="en-US" sz="800" dirty="0">
                <a:solidFill>
                  <a:srgbClr val="E5E0DF"/>
                </a:solidFill>
                <a:latin typeface="Inter" pitchFamily="34" charset="0"/>
                <a:ea typeface="Inter" pitchFamily="34" charset="-122"/>
                <a:cs typeface="Inter" pitchFamily="34" charset="-120"/>
              </a:rPr>
              <a:t>WHAT'S NEXT</a:t>
            </a:r>
            <a:endParaRPr lang="en-US" sz="800" dirty="0"/>
          </a:p>
        </p:txBody>
      </p:sp>
      <p:sp>
        <p:nvSpPr>
          <p:cNvPr id="5" name="Text 2"/>
          <p:cNvSpPr/>
          <p:nvPr/>
        </p:nvSpPr>
        <p:spPr>
          <a:xfrm>
            <a:off x="457349" y="675159"/>
            <a:ext cx="3942680" cy="408384"/>
          </a:xfrm>
          <a:prstGeom prst="rect">
            <a:avLst/>
          </a:prstGeom>
          <a:noFill/>
          <a:ln/>
        </p:spPr>
        <p:txBody>
          <a:bodyPr wrap="none" lIns="0" tIns="0" rIns="0" bIns="0" rtlCol="0" anchor="t"/>
          <a:lstStyle/>
          <a:p>
            <a:pPr marL="0" indent="0" algn="l">
              <a:lnSpc>
                <a:spcPct val="104000"/>
              </a:lnSpc>
              <a:buNone/>
            </a:pPr>
            <a:r>
              <a:rPr lang="en-US" sz="2550" b="1" dirty="0">
                <a:solidFill>
                  <a:srgbClr val="FFFFFF"/>
                </a:solidFill>
                <a:latin typeface="Inter Bold" pitchFamily="34" charset="0"/>
                <a:ea typeface="Inter Bold" pitchFamily="34" charset="-122"/>
                <a:cs typeface="Inter Bold" pitchFamily="34" charset="-120"/>
              </a:rPr>
              <a:t>Future Enhancements</a:t>
            </a:r>
            <a:endParaRPr lang="en-US" sz="2550" dirty="0"/>
          </a:p>
        </p:txBody>
      </p:sp>
      <p:sp>
        <p:nvSpPr>
          <p:cNvPr id="6" name="Text 3"/>
          <p:cNvSpPr/>
          <p:nvPr/>
        </p:nvSpPr>
        <p:spPr>
          <a:xfrm>
            <a:off x="457349" y="1264221"/>
            <a:ext cx="8686502" cy="200844"/>
          </a:xfrm>
          <a:prstGeom prst="rect">
            <a:avLst/>
          </a:prstGeom>
          <a:noFill/>
          <a:ln/>
        </p:spPr>
        <p:txBody>
          <a:bodyPr wrap="none" lIns="0" tIns="0" rIns="0" bIns="0" rtlCol="0" anchor="t"/>
          <a:lstStyle/>
          <a:p>
            <a:pPr marL="0" indent="0" algn="l">
              <a:lnSpc>
                <a:spcPct val="128000"/>
              </a:lnSpc>
              <a:buNone/>
            </a:pPr>
            <a:r>
              <a:rPr lang="en-US" sz="1000" dirty="0">
                <a:solidFill>
                  <a:srgbClr val="E5E0DF"/>
                </a:solidFill>
                <a:latin typeface="Inter" pitchFamily="34" charset="0"/>
                <a:ea typeface="Inter" pitchFamily="34" charset="-122"/>
                <a:cs typeface="Inter" pitchFamily="34" charset="-120"/>
              </a:rPr>
              <a:t>The roadmap extends Interview Prep Tracker into an intelligent, full-stack preparation platform.</a:t>
            </a:r>
            <a:endParaRPr lang="en-US" sz="1000" dirty="0"/>
          </a:p>
        </p:txBody>
      </p:sp>
      <p:sp>
        <p:nvSpPr>
          <p:cNvPr id="7" name="Shape 4"/>
          <p:cNvSpPr/>
          <p:nvPr/>
        </p:nvSpPr>
        <p:spPr>
          <a:xfrm>
            <a:off x="653355" y="1927250"/>
            <a:ext cx="3858295" cy="130671"/>
          </a:xfrm>
          <a:prstGeom prst="roundRect">
            <a:avLst>
              <a:gd name="adj" fmla="val 42007"/>
            </a:avLst>
          </a:prstGeom>
          <a:solidFill>
            <a:srgbClr val="110080"/>
          </a:solidFill>
          <a:ln w="4763">
            <a:solidFill>
              <a:srgbClr val="2A1999"/>
            </a:solidFill>
            <a:prstDash val="solid"/>
          </a:ln>
        </p:spPr>
      </p:sp>
      <p:sp>
        <p:nvSpPr>
          <p:cNvPr id="8" name="Shape 5"/>
          <p:cNvSpPr/>
          <p:nvPr/>
        </p:nvSpPr>
        <p:spPr>
          <a:xfrm>
            <a:off x="457349" y="1796579"/>
            <a:ext cx="392013" cy="392013"/>
          </a:xfrm>
          <a:prstGeom prst="roundRect">
            <a:avLst>
              <a:gd name="adj" fmla="val 72893"/>
            </a:avLst>
          </a:prstGeom>
          <a:solidFill>
            <a:srgbClr val="110080"/>
          </a:solidFill>
          <a:ln w="4763">
            <a:solidFill>
              <a:srgbClr val="2A1999"/>
            </a:solidFill>
            <a:prstDash val="solid"/>
          </a:ln>
        </p:spPr>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555352" y="1894582"/>
            <a:ext cx="196007" cy="196007"/>
          </a:xfrm>
          <a:prstGeom prst="rect">
            <a:avLst/>
          </a:prstGeom>
        </p:spPr>
      </p:pic>
      <p:sp>
        <p:nvSpPr>
          <p:cNvPr id="10" name="Text 6"/>
          <p:cNvSpPr/>
          <p:nvPr/>
        </p:nvSpPr>
        <p:spPr>
          <a:xfrm>
            <a:off x="588020" y="2309068"/>
            <a:ext cx="2930426" cy="204118"/>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AI-Powered Recommendations</a:t>
            </a:r>
            <a:endParaRPr lang="en-US" sz="1250" dirty="0"/>
          </a:p>
        </p:txBody>
      </p:sp>
      <p:sp>
        <p:nvSpPr>
          <p:cNvPr id="11" name="Text 7"/>
          <p:cNvSpPr/>
          <p:nvPr/>
        </p:nvSpPr>
        <p:spPr>
          <a:xfrm>
            <a:off x="588020" y="2585442"/>
            <a:ext cx="3793034"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E5E0DF"/>
                </a:solidFill>
                <a:latin typeface="Inter" pitchFamily="34" charset="0"/>
                <a:ea typeface="Inter" pitchFamily="34" charset="-122"/>
                <a:cs typeface="Inter" pitchFamily="34" charset="-120"/>
              </a:rPr>
              <a:t>On-device ML models (TensorFlow Lite) delivering personalized study paths based on performance history.</a:t>
            </a:r>
            <a:endParaRPr lang="en-US" sz="1000" dirty="0"/>
          </a:p>
        </p:txBody>
      </p:sp>
      <p:sp>
        <p:nvSpPr>
          <p:cNvPr id="12" name="Shape 8"/>
          <p:cNvSpPr/>
          <p:nvPr/>
        </p:nvSpPr>
        <p:spPr>
          <a:xfrm>
            <a:off x="4828208" y="1731243"/>
            <a:ext cx="3858369" cy="130671"/>
          </a:xfrm>
          <a:prstGeom prst="roundRect">
            <a:avLst>
              <a:gd name="adj" fmla="val 42007"/>
            </a:avLst>
          </a:prstGeom>
          <a:solidFill>
            <a:srgbClr val="110080"/>
          </a:solidFill>
          <a:ln w="4763">
            <a:solidFill>
              <a:srgbClr val="2A1999"/>
            </a:solidFill>
            <a:prstDash val="solid"/>
          </a:ln>
        </p:spPr>
      </p:sp>
      <p:sp>
        <p:nvSpPr>
          <p:cNvPr id="13" name="Shape 9"/>
          <p:cNvSpPr/>
          <p:nvPr/>
        </p:nvSpPr>
        <p:spPr>
          <a:xfrm>
            <a:off x="4632201" y="1600572"/>
            <a:ext cx="392013" cy="392013"/>
          </a:xfrm>
          <a:prstGeom prst="roundRect">
            <a:avLst>
              <a:gd name="adj" fmla="val 72893"/>
            </a:avLst>
          </a:prstGeom>
          <a:solidFill>
            <a:srgbClr val="110080"/>
          </a:solidFill>
          <a:ln w="4763">
            <a:solidFill>
              <a:srgbClr val="2A1999"/>
            </a:solidFill>
            <a:prstDash val="solid"/>
          </a:ln>
        </p:spPr>
      </p:sp>
      <p:pic>
        <p:nvPicPr>
          <p:cNvPr id="14"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4730204" y="1698575"/>
            <a:ext cx="196007" cy="196007"/>
          </a:xfrm>
          <a:prstGeom prst="rect">
            <a:avLst/>
          </a:prstGeom>
        </p:spPr>
      </p:pic>
      <p:sp>
        <p:nvSpPr>
          <p:cNvPr id="15" name="Text 10"/>
          <p:cNvSpPr/>
          <p:nvPr/>
        </p:nvSpPr>
        <p:spPr>
          <a:xfrm>
            <a:off x="4762872" y="2113062"/>
            <a:ext cx="2921422" cy="204118"/>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Resume Parser &amp; Gap Analyzer</a:t>
            </a:r>
            <a:endParaRPr lang="en-US" sz="1250" dirty="0"/>
          </a:p>
        </p:txBody>
      </p:sp>
      <p:sp>
        <p:nvSpPr>
          <p:cNvPr id="16" name="Text 11"/>
          <p:cNvSpPr/>
          <p:nvPr/>
        </p:nvSpPr>
        <p:spPr>
          <a:xfrm>
            <a:off x="4762872" y="2389436"/>
            <a:ext cx="3793108"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E5E0DF"/>
                </a:solidFill>
                <a:latin typeface="Inter" pitchFamily="34" charset="0"/>
                <a:ea typeface="Inter" pitchFamily="34" charset="-122"/>
                <a:cs typeface="Inter" pitchFamily="34" charset="-120"/>
              </a:rPr>
              <a:t>Upload a resume and receive role-fit scoring, missing skill identification, and targeted roadmap generation.</a:t>
            </a:r>
            <a:endParaRPr lang="en-US" sz="1000" dirty="0"/>
          </a:p>
        </p:txBody>
      </p:sp>
      <p:sp>
        <p:nvSpPr>
          <p:cNvPr id="17" name="Shape 12"/>
          <p:cNvSpPr/>
          <p:nvPr/>
        </p:nvSpPr>
        <p:spPr>
          <a:xfrm>
            <a:off x="653355" y="3564954"/>
            <a:ext cx="3858295" cy="130671"/>
          </a:xfrm>
          <a:prstGeom prst="roundRect">
            <a:avLst>
              <a:gd name="adj" fmla="val 42007"/>
            </a:avLst>
          </a:prstGeom>
          <a:solidFill>
            <a:srgbClr val="110080"/>
          </a:solidFill>
          <a:ln w="4763">
            <a:solidFill>
              <a:srgbClr val="2A1999"/>
            </a:solidFill>
            <a:prstDash val="solid"/>
          </a:ln>
        </p:spPr>
      </p:sp>
      <p:sp>
        <p:nvSpPr>
          <p:cNvPr id="18" name="Shape 13"/>
          <p:cNvSpPr/>
          <p:nvPr/>
        </p:nvSpPr>
        <p:spPr>
          <a:xfrm>
            <a:off x="457349" y="3434283"/>
            <a:ext cx="392013" cy="392013"/>
          </a:xfrm>
          <a:prstGeom prst="roundRect">
            <a:avLst>
              <a:gd name="adj" fmla="val 72893"/>
            </a:avLst>
          </a:prstGeom>
          <a:solidFill>
            <a:srgbClr val="110080"/>
          </a:solidFill>
          <a:ln w="4763">
            <a:solidFill>
              <a:srgbClr val="2A1999"/>
            </a:solidFill>
            <a:prstDash val="solid"/>
          </a:ln>
        </p:spPr>
      </p:sp>
      <p:pic>
        <p:nvPicPr>
          <p:cNvPr id="19"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555352" y="3532287"/>
            <a:ext cx="196007" cy="196007"/>
          </a:xfrm>
          <a:prstGeom prst="rect">
            <a:avLst/>
          </a:prstGeom>
        </p:spPr>
      </p:pic>
      <p:sp>
        <p:nvSpPr>
          <p:cNvPr id="20" name="Text 14"/>
          <p:cNvSpPr/>
          <p:nvPr/>
        </p:nvSpPr>
        <p:spPr>
          <a:xfrm>
            <a:off x="588020" y="3946773"/>
            <a:ext cx="2770361" cy="204118"/>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Interview Simulation Chatbot</a:t>
            </a:r>
            <a:endParaRPr lang="en-US" sz="1250" dirty="0"/>
          </a:p>
        </p:txBody>
      </p:sp>
      <p:sp>
        <p:nvSpPr>
          <p:cNvPr id="21" name="Text 15"/>
          <p:cNvSpPr/>
          <p:nvPr/>
        </p:nvSpPr>
        <p:spPr>
          <a:xfrm>
            <a:off x="588020" y="4223147"/>
            <a:ext cx="3793034"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E5E0DF"/>
                </a:solidFill>
                <a:latin typeface="Inter" pitchFamily="34" charset="0"/>
                <a:ea typeface="Inter" pitchFamily="34" charset="-122"/>
                <a:cs typeface="Inter" pitchFamily="34" charset="-120"/>
              </a:rPr>
              <a:t>Conversational AI conducts mock technical interviews, evaluates answers, and delivers structured feedback.</a:t>
            </a:r>
            <a:endParaRPr lang="en-US" sz="1000" dirty="0"/>
          </a:p>
        </p:txBody>
      </p:sp>
      <p:sp>
        <p:nvSpPr>
          <p:cNvPr id="22" name="Shape 16"/>
          <p:cNvSpPr/>
          <p:nvPr/>
        </p:nvSpPr>
        <p:spPr>
          <a:xfrm>
            <a:off x="4828208" y="3368948"/>
            <a:ext cx="3858369" cy="130671"/>
          </a:xfrm>
          <a:prstGeom prst="roundRect">
            <a:avLst>
              <a:gd name="adj" fmla="val 42007"/>
            </a:avLst>
          </a:prstGeom>
          <a:solidFill>
            <a:srgbClr val="110080"/>
          </a:solidFill>
          <a:ln w="4763">
            <a:solidFill>
              <a:srgbClr val="2A1999"/>
            </a:solidFill>
            <a:prstDash val="solid"/>
          </a:ln>
        </p:spPr>
      </p:sp>
      <p:sp>
        <p:nvSpPr>
          <p:cNvPr id="23" name="Shape 17"/>
          <p:cNvSpPr/>
          <p:nvPr/>
        </p:nvSpPr>
        <p:spPr>
          <a:xfrm>
            <a:off x="4632201" y="3238277"/>
            <a:ext cx="392013" cy="392013"/>
          </a:xfrm>
          <a:prstGeom prst="roundRect">
            <a:avLst>
              <a:gd name="adj" fmla="val 72893"/>
            </a:avLst>
          </a:prstGeom>
          <a:solidFill>
            <a:srgbClr val="110080"/>
          </a:solidFill>
          <a:ln w="4763">
            <a:solidFill>
              <a:srgbClr val="2A1999"/>
            </a:solidFill>
            <a:prstDash val="solid"/>
          </a:ln>
        </p:spPr>
      </p:sp>
      <p:pic>
        <p:nvPicPr>
          <p:cNvPr id="24" name="Image 4" descr="preencoded.png"/>
          <p:cNvPicPr>
            <a:picLocks noChangeAspect="1"/>
          </p:cNvPicPr>
          <p:nvPr/>
        </p:nvPicPr>
        <p:blipFill>
          <a:blip r:embed="rId3">
            <a:extLst>
              <a:ext uri="{96DAC541-7B7A-43D3-8B79-37D633B846F1}">
                <asvg:svgBlip xmlns:asvg="http://schemas.microsoft.com/office/drawing/2016/SVG/main" xmlns="" r:embed="rId10"/>
              </a:ext>
            </a:extLst>
          </a:blip>
          <a:stretch>
            <a:fillRect/>
          </a:stretch>
        </p:blipFill>
        <p:spPr>
          <a:xfrm>
            <a:off x="4730204" y="3336280"/>
            <a:ext cx="196007" cy="196007"/>
          </a:xfrm>
          <a:prstGeom prst="rect">
            <a:avLst/>
          </a:prstGeom>
        </p:spPr>
      </p:pic>
      <p:sp>
        <p:nvSpPr>
          <p:cNvPr id="25" name="Text 18"/>
          <p:cNvSpPr/>
          <p:nvPr/>
        </p:nvSpPr>
        <p:spPr>
          <a:xfrm>
            <a:off x="4762872" y="3750766"/>
            <a:ext cx="2762324" cy="204118"/>
          </a:xfrm>
          <a:prstGeom prst="rect">
            <a:avLst/>
          </a:prstGeom>
          <a:noFill/>
          <a:ln/>
        </p:spPr>
        <p:txBody>
          <a:bodyPr wrap="none" lIns="0" tIns="0" rIns="0" bIns="0" rtlCol="0" anchor="t"/>
          <a:lstStyle/>
          <a:p>
            <a:pPr marL="0" indent="0" algn="l">
              <a:lnSpc>
                <a:spcPct val="104000"/>
              </a:lnSpc>
              <a:buNone/>
            </a:pPr>
            <a:r>
              <a:rPr lang="en-US" sz="1250" b="1" dirty="0">
                <a:solidFill>
                  <a:srgbClr val="E5E0DF"/>
                </a:solidFill>
                <a:latin typeface="Inter Bold" pitchFamily="34" charset="0"/>
                <a:ea typeface="Inter Bold" pitchFamily="34" charset="-122"/>
                <a:cs typeface="Inter Bold" pitchFamily="34" charset="-120"/>
              </a:rPr>
              <a:t>Gamification &amp; ML Prediction</a:t>
            </a:r>
            <a:endParaRPr lang="en-US" sz="1250" dirty="0"/>
          </a:p>
        </p:txBody>
      </p:sp>
      <p:sp>
        <p:nvSpPr>
          <p:cNvPr id="26" name="Text 19"/>
          <p:cNvSpPr/>
          <p:nvPr/>
        </p:nvSpPr>
        <p:spPr>
          <a:xfrm>
            <a:off x="4762872" y="4027140"/>
            <a:ext cx="3793108" cy="401687"/>
          </a:xfrm>
          <a:prstGeom prst="rect">
            <a:avLst/>
          </a:prstGeom>
          <a:noFill/>
          <a:ln/>
        </p:spPr>
        <p:txBody>
          <a:bodyPr wrap="square" lIns="0" tIns="0" rIns="0" bIns="0" rtlCol="0" anchor="t">
            <a:normAutofit/>
          </a:bodyPr>
          <a:lstStyle/>
          <a:p>
            <a:pPr marL="0" indent="0" algn="l">
              <a:lnSpc>
                <a:spcPct val="128000"/>
              </a:lnSpc>
              <a:buNone/>
            </a:pPr>
            <a:r>
              <a:rPr lang="en-US" sz="1000" dirty="0">
                <a:solidFill>
                  <a:srgbClr val="E5E0DF"/>
                </a:solidFill>
                <a:latin typeface="Inter" pitchFamily="34" charset="0"/>
                <a:ea typeface="Inter" pitchFamily="34" charset="-122"/>
                <a:cs typeface="Inter" pitchFamily="34" charset="-120"/>
              </a:rPr>
              <a:t>Streaks, badges, and leaderboards — paired with ML-based interview readiness score prediction per company target.</a:t>
            </a:r>
            <a:endParaRPr lang="en-US" sz="1000" dirty="0"/>
          </a:p>
        </p:txBody>
      </p:sp>
      <p:pic>
        <p:nvPicPr>
          <p:cNvPr id="27" name="Picture 26"/>
          <p:cNvPicPr>
            <a:picLocks noChangeAspect="1"/>
          </p:cNvPicPr>
          <p:nvPr/>
        </p:nvPicPr>
        <p:blipFill>
          <a:blip r:embed="rId11"/>
          <a:stretch>
            <a:fillRect/>
          </a:stretch>
        </p:blipFill>
        <p:spPr>
          <a:xfrm>
            <a:off x="7805588" y="4704522"/>
            <a:ext cx="1338411" cy="372191"/>
          </a:xfrm>
          <a:prstGeom prst="rect">
            <a:avLst/>
          </a:prstGeom>
        </p:spPr>
      </p:pic>
    </p:spTree>
    <p:extLst>
      <p:ext uri="{BB962C8B-B14F-4D97-AF65-F5344CB8AC3E}">
        <p14:creationId xmlns:p14="http://schemas.microsoft.com/office/powerpoint/2010/main" val="123188413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2571304" y="757386"/>
            <a:ext cx="3772719" cy="442987"/>
          </a:xfrm>
          <a:prstGeom prst="rect">
            <a:avLst/>
          </a:prstGeom>
          <a:noFill/>
          <a:ln/>
        </p:spPr>
        <p:txBody>
          <a:bodyPr wrap="none" lIns="0" tIns="0" rIns="0" bIns="0" rtlCol="0" anchor="t"/>
          <a:lstStyle/>
          <a:p>
            <a:pPr marL="0" indent="0" algn="ctr">
              <a:lnSpc>
                <a:spcPct val="104000"/>
              </a:lnSpc>
              <a:buNone/>
            </a:pPr>
            <a:r>
              <a:rPr lang="en-US" sz="2750" b="1" dirty="0">
                <a:solidFill>
                  <a:srgbClr val="FFFFFF"/>
                </a:solidFill>
                <a:latin typeface="Inter Bold" pitchFamily="34" charset="0"/>
                <a:ea typeface="Inter Bold" pitchFamily="34" charset="-122"/>
                <a:cs typeface="Inter Bold" pitchFamily="34" charset="-120"/>
              </a:rPr>
              <a:t>Thank You</a:t>
            </a:r>
            <a:endParaRPr lang="en-US" sz="2750" dirty="0"/>
          </a:p>
        </p:txBody>
      </p:sp>
      <p:sp>
        <p:nvSpPr>
          <p:cNvPr id="3" name="Text 1"/>
          <p:cNvSpPr/>
          <p:nvPr/>
        </p:nvSpPr>
        <p:spPr>
          <a:xfrm>
            <a:off x="1642467" y="1412974"/>
            <a:ext cx="5630391" cy="611386"/>
          </a:xfrm>
          <a:prstGeom prst="rect">
            <a:avLst/>
          </a:prstGeom>
          <a:noFill/>
          <a:ln/>
        </p:spPr>
        <p:txBody>
          <a:bodyPr wrap="none" lIns="0" tIns="0" rIns="0" bIns="0" rtlCol="0" anchor="t"/>
          <a:lstStyle/>
          <a:p>
            <a:pPr marL="0" indent="0" algn="ctr">
              <a:lnSpc>
                <a:spcPct val="104000"/>
              </a:lnSpc>
              <a:buNone/>
            </a:pPr>
            <a:r>
              <a:rPr lang="en-US" sz="3850" b="1" dirty="0">
                <a:solidFill>
                  <a:srgbClr val="FFFFFF"/>
                </a:solidFill>
                <a:latin typeface="Inter Bold" pitchFamily="34" charset="0"/>
                <a:ea typeface="Inter Bold" pitchFamily="34" charset="-122"/>
                <a:cs typeface="Inter Bold" pitchFamily="34" charset="-120"/>
              </a:rPr>
              <a:t>Interview Prep Tracker</a:t>
            </a:r>
            <a:endParaRPr lang="en-US" sz="3850" dirty="0"/>
          </a:p>
        </p:txBody>
      </p:sp>
      <p:sp>
        <p:nvSpPr>
          <p:cNvPr id="4" name="Text 2"/>
          <p:cNvSpPr/>
          <p:nvPr/>
        </p:nvSpPr>
        <p:spPr>
          <a:xfrm>
            <a:off x="267519" y="2236961"/>
            <a:ext cx="8380363" cy="226814"/>
          </a:xfrm>
          <a:prstGeom prst="rect">
            <a:avLst/>
          </a:prstGeom>
          <a:noFill/>
          <a:ln/>
        </p:spPr>
        <p:txBody>
          <a:bodyPr wrap="none" lIns="0" tIns="0" rIns="0" bIns="0" rtlCol="0" anchor="t"/>
          <a:lstStyle/>
          <a:p>
            <a:pPr marL="0" indent="0" algn="ctr">
              <a:lnSpc>
                <a:spcPct val="133000"/>
              </a:lnSpc>
              <a:buNone/>
            </a:pPr>
            <a:r>
              <a:rPr lang="en-US" sz="1100" dirty="0">
                <a:solidFill>
                  <a:srgbClr val="E5E0DF"/>
                </a:solidFill>
                <a:latin typeface="Inter" pitchFamily="34" charset="0"/>
                <a:ea typeface="Inter" pitchFamily="34" charset="-122"/>
                <a:cs typeface="Inter" pitchFamily="34" charset="-120"/>
              </a:rPr>
              <a:t>A modern Android engineering project — built with precision, designed for scale, and crafted for real-world impact.</a:t>
            </a:r>
            <a:endParaRPr lang="en-US" sz="1100" dirty="0"/>
          </a:p>
        </p:txBody>
      </p:sp>
      <p:sp>
        <p:nvSpPr>
          <p:cNvPr id="5" name="Shape 3"/>
          <p:cNvSpPr/>
          <p:nvPr/>
        </p:nvSpPr>
        <p:spPr>
          <a:xfrm>
            <a:off x="496119" y="2658666"/>
            <a:ext cx="8151763" cy="10567"/>
          </a:xfrm>
          <a:prstGeom prst="rect">
            <a:avLst/>
          </a:prstGeom>
          <a:solidFill>
            <a:srgbClr val="E5E0DF">
              <a:alpha val="50000"/>
            </a:srgbClr>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496119" y="2864123"/>
            <a:ext cx="354360" cy="354360"/>
          </a:xfrm>
          <a:prstGeom prst="rect">
            <a:avLst/>
          </a:prstGeom>
        </p:spPr>
      </p:pic>
      <p:sp>
        <p:nvSpPr>
          <p:cNvPr id="7" name="Text 4"/>
          <p:cNvSpPr/>
          <p:nvPr/>
        </p:nvSpPr>
        <p:spPr>
          <a:xfrm>
            <a:off x="1027658" y="2864123"/>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Source Code</a:t>
            </a:r>
            <a:endParaRPr lang="en-US" sz="1350" dirty="0"/>
          </a:p>
        </p:txBody>
      </p:sp>
      <p:sp>
        <p:nvSpPr>
          <p:cNvPr id="8" name="Text 5"/>
          <p:cNvSpPr/>
          <p:nvPr/>
        </p:nvSpPr>
        <p:spPr>
          <a:xfrm>
            <a:off x="1027658" y="3170634"/>
            <a:ext cx="3577472" cy="453628"/>
          </a:xfrm>
          <a:prstGeom prst="rect">
            <a:avLst/>
          </a:prstGeom>
          <a:noFill/>
          <a:ln/>
        </p:spPr>
        <p:txBody>
          <a:bodyPr wrap="square" lIns="0" tIns="0" rIns="0" bIns="0" rtlCol="0" anchor="t">
            <a:normAutofit/>
          </a:bodyPr>
          <a:lstStyle/>
          <a:p>
            <a:pPr>
              <a:lnSpc>
                <a:spcPct val="133000"/>
              </a:lnSpc>
            </a:pPr>
            <a:r>
              <a:rPr lang="en-US" sz="1100" dirty="0" smtClean="0">
                <a:solidFill>
                  <a:srgbClr val="E5E0DF"/>
                </a:solidFill>
                <a:latin typeface="Inter" pitchFamily="34" charset="0"/>
                <a:ea typeface="Inter" pitchFamily="34" charset="-122"/>
                <a:cs typeface="Inter" pitchFamily="34" charset="-120"/>
              </a:rPr>
              <a:t>https://github.com/230701257/InterviewPrepTracker1</a:t>
            </a:r>
            <a:endParaRPr lang="en-US" sz="1100"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5908460" y="2828703"/>
            <a:ext cx="354360" cy="354360"/>
          </a:xfrm>
          <a:prstGeom prst="rect">
            <a:avLst/>
          </a:prstGeom>
        </p:spPr>
      </p:pic>
      <p:sp>
        <p:nvSpPr>
          <p:cNvPr id="10" name="Text 6"/>
          <p:cNvSpPr/>
          <p:nvPr/>
        </p:nvSpPr>
        <p:spPr>
          <a:xfrm>
            <a:off x="6418660" y="2880160"/>
            <a:ext cx="2229222" cy="221456"/>
          </a:xfrm>
          <a:prstGeom prst="rect">
            <a:avLst/>
          </a:prstGeom>
          <a:noFill/>
          <a:ln/>
        </p:spPr>
        <p:txBody>
          <a:bodyPr wrap="none" lIns="0" tIns="0" rIns="0" bIns="0" rtlCol="0" anchor="t"/>
          <a:lstStyle/>
          <a:p>
            <a:pPr marL="0" indent="0" algn="l">
              <a:lnSpc>
                <a:spcPct val="104000"/>
              </a:lnSpc>
              <a:buNone/>
            </a:pPr>
            <a:r>
              <a:rPr lang="en-US" sz="1350" b="1" dirty="0">
                <a:solidFill>
                  <a:srgbClr val="E5E0DF"/>
                </a:solidFill>
                <a:latin typeface="Inter Bold" pitchFamily="34" charset="0"/>
                <a:ea typeface="Inter Bold" pitchFamily="34" charset="-122"/>
                <a:cs typeface="Inter Bold" pitchFamily="34" charset="-120"/>
              </a:rPr>
              <a:t>Contact</a:t>
            </a:r>
            <a:endParaRPr lang="en-US" sz="1350" dirty="0"/>
          </a:p>
        </p:txBody>
      </p:sp>
      <p:sp>
        <p:nvSpPr>
          <p:cNvPr id="11" name="Text 7"/>
          <p:cNvSpPr/>
          <p:nvPr/>
        </p:nvSpPr>
        <p:spPr>
          <a:xfrm>
            <a:off x="6418660" y="3156495"/>
            <a:ext cx="2524795" cy="226814"/>
          </a:xfrm>
          <a:prstGeom prst="rect">
            <a:avLst/>
          </a:prstGeom>
          <a:noFill/>
          <a:ln/>
        </p:spPr>
        <p:txBody>
          <a:bodyPr wrap="none" lIns="0" tIns="0" rIns="0" bIns="0" rtlCol="0" anchor="t"/>
          <a:lstStyle/>
          <a:p>
            <a:pPr marL="0" indent="0" algn="l">
              <a:lnSpc>
                <a:spcPct val="133000"/>
              </a:lnSpc>
              <a:buNone/>
            </a:pPr>
            <a:r>
              <a:rPr lang="en-US" sz="1100" dirty="0" smtClean="0">
                <a:solidFill>
                  <a:srgbClr val="E5E0DF"/>
                </a:solidFill>
                <a:latin typeface="Inter" pitchFamily="34" charset="0"/>
                <a:ea typeface="Inter" pitchFamily="34" charset="-122"/>
                <a:cs typeface="Inter" pitchFamily="34" charset="-120"/>
              </a:rPr>
              <a:t>230701257@rajalakshmi.edu.in</a:t>
            </a:r>
            <a:endParaRPr lang="en-US" sz="1100" dirty="0"/>
          </a:p>
        </p:txBody>
      </p:sp>
      <p:sp>
        <p:nvSpPr>
          <p:cNvPr id="15" name="Shape 10"/>
          <p:cNvSpPr/>
          <p:nvPr/>
        </p:nvSpPr>
        <p:spPr>
          <a:xfrm>
            <a:off x="496119" y="3783732"/>
            <a:ext cx="8151763" cy="602382"/>
          </a:xfrm>
          <a:prstGeom prst="roundRect">
            <a:avLst>
              <a:gd name="adj" fmla="val 9884"/>
            </a:avLst>
          </a:prstGeom>
          <a:solidFill>
            <a:srgbClr val="0A004D"/>
          </a:solidFill>
          <a:ln/>
        </p:spPr>
      </p:sp>
      <p:pic>
        <p:nvPicPr>
          <p:cNvPr id="16" name="Image 3" descr="preencoded.png"/>
          <p:cNvPicPr>
            <a:picLocks noChangeAspect="1"/>
          </p:cNvPicPr>
          <p:nvPr/>
        </p:nvPicPr>
        <p:blipFill>
          <a:blip r:embed="rId6"/>
          <a:stretch>
            <a:fillRect/>
          </a:stretch>
        </p:blipFill>
        <p:spPr>
          <a:xfrm>
            <a:off x="637877" y="3998788"/>
            <a:ext cx="177180" cy="141759"/>
          </a:xfrm>
          <a:prstGeom prst="rect">
            <a:avLst/>
          </a:prstGeom>
        </p:spPr>
      </p:pic>
      <p:sp>
        <p:nvSpPr>
          <p:cNvPr id="17" name="Text 11"/>
          <p:cNvSpPr/>
          <p:nvPr/>
        </p:nvSpPr>
        <p:spPr>
          <a:xfrm>
            <a:off x="956816" y="3960912"/>
            <a:ext cx="8006507" cy="226814"/>
          </a:xfrm>
          <a:prstGeom prst="rect">
            <a:avLst/>
          </a:prstGeom>
          <a:noFill/>
          <a:ln/>
        </p:spPr>
        <p:txBody>
          <a:bodyPr wrap="none" lIns="0" tIns="0" rIns="0" bIns="0" rtlCol="0" anchor="t"/>
          <a:lstStyle/>
          <a:p>
            <a:pPr marL="0" indent="0" algn="l">
              <a:lnSpc>
                <a:spcPct val="133000"/>
              </a:lnSpc>
              <a:buNone/>
            </a:pPr>
            <a:r>
              <a:rPr lang="en-US" sz="1100" dirty="0">
                <a:solidFill>
                  <a:srgbClr val="FFFFFF"/>
                </a:solidFill>
                <a:latin typeface="Inter" pitchFamily="34" charset="0"/>
                <a:ea typeface="Inter" pitchFamily="34" charset="-122"/>
                <a:cs typeface="Inter" pitchFamily="34" charset="-120"/>
              </a:rPr>
              <a:t>Built with Kotlin · </a:t>
            </a:r>
            <a:r>
              <a:rPr lang="en-US" sz="1100" dirty="0" err="1" smtClean="0">
                <a:solidFill>
                  <a:srgbClr val="FFFFFF"/>
                </a:solidFill>
                <a:latin typeface="Inter" pitchFamily="34" charset="0"/>
                <a:ea typeface="Inter" pitchFamily="34" charset="-122"/>
                <a:cs typeface="Inter" pitchFamily="34" charset="-120"/>
              </a:rPr>
              <a:t>Kotlin</a:t>
            </a:r>
            <a:r>
              <a:rPr lang="en-US" sz="1100" dirty="0" smtClean="0">
                <a:solidFill>
                  <a:srgbClr val="FFFFFF"/>
                </a:solidFill>
                <a:latin typeface="Inter" pitchFamily="34" charset="0"/>
                <a:ea typeface="Inter" pitchFamily="34" charset="-122"/>
                <a:cs typeface="Inter" pitchFamily="34" charset="-120"/>
              </a:rPr>
              <a:t> · </a:t>
            </a:r>
            <a:r>
              <a:rPr lang="en-US" sz="1100" dirty="0">
                <a:solidFill>
                  <a:srgbClr val="FFFFFF"/>
                </a:solidFill>
                <a:latin typeface="Inter" pitchFamily="34" charset="0"/>
                <a:ea typeface="Inter" pitchFamily="34" charset="-122"/>
                <a:cs typeface="Inter" pitchFamily="34" charset="-120"/>
              </a:rPr>
              <a:t>Firebase · Hilt · Material 3</a:t>
            </a:r>
            <a:endParaRPr lang="en-US" sz="1100" dirty="0"/>
          </a:p>
        </p:txBody>
      </p:sp>
      <p:pic>
        <p:nvPicPr>
          <p:cNvPr id="18" name="Picture 17"/>
          <p:cNvPicPr>
            <a:picLocks noChangeAspect="1"/>
          </p:cNvPicPr>
          <p:nvPr/>
        </p:nvPicPr>
        <p:blipFill>
          <a:blip r:embed="rId7"/>
          <a:stretch>
            <a:fillRect/>
          </a:stretch>
        </p:blipFill>
        <p:spPr>
          <a:xfrm>
            <a:off x="7805588" y="4704522"/>
            <a:ext cx="1338411" cy="372191"/>
          </a:xfrm>
          <a:prstGeom prst="rect">
            <a:avLst/>
          </a:prstGeom>
        </p:spPr>
      </p:pic>
    </p:spTree>
    <p:extLst>
      <p:ext uri="{BB962C8B-B14F-4D97-AF65-F5344CB8AC3E}">
        <p14:creationId xmlns:p14="http://schemas.microsoft.com/office/powerpoint/2010/main" val="32380294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1513</Words>
  <Application>Microsoft Office PowerPoint</Application>
  <PresentationFormat>On-screen Show (16:9)</PresentationFormat>
  <Paragraphs>222</Paragraphs>
  <Slides>20</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Consolas</vt:lpstr>
      <vt:lpstr>Calibri</vt:lpstr>
      <vt:lpstr>Inter</vt:lpstr>
      <vt:lpstr>Inter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DELL</dc:creator>
  <cp:lastModifiedBy>DELL</cp:lastModifiedBy>
  <cp:revision>8</cp:revision>
  <dcterms:created xsi:type="dcterms:W3CDTF">2026-05-18T16:26:13Z</dcterms:created>
  <dcterms:modified xsi:type="dcterms:W3CDTF">2026-05-18T17:56:36Z</dcterms:modified>
</cp:coreProperties>
</file>